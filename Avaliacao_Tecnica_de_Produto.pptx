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12767" r:id="rId4"/>
    <p:sldId id="258" r:id="rId5"/>
    <p:sldId id="12743" r:id="rId6"/>
    <p:sldId id="12712" r:id="rId7"/>
    <p:sldId id="12739" r:id="rId8"/>
    <p:sldId id="12737" r:id="rId9"/>
    <p:sldId id="12738" r:id="rId10"/>
    <p:sldId id="12746" r:id="rId11"/>
    <p:sldId id="12750" r:id="rId12"/>
    <p:sldId id="12751" r:id="rId13"/>
    <p:sldId id="12752" r:id="rId14"/>
    <p:sldId id="12753" r:id="rId15"/>
    <p:sldId id="12754" r:id="rId16"/>
    <p:sldId id="12742" r:id="rId17"/>
    <p:sldId id="271" r:id="rId18"/>
    <p:sldId id="12755" r:id="rId19"/>
    <p:sldId id="12740" r:id="rId20"/>
    <p:sldId id="12759" r:id="rId21"/>
    <p:sldId id="12779" r:id="rId22"/>
    <p:sldId id="12780" r:id="rId23"/>
    <p:sldId id="273" r:id="rId24"/>
    <p:sldId id="12781" r:id="rId25"/>
    <p:sldId id="12769" r:id="rId26"/>
    <p:sldId id="12771" r:id="rId27"/>
    <p:sldId id="12772" r:id="rId28"/>
    <p:sldId id="12773" r:id="rId29"/>
    <p:sldId id="12778" r:id="rId30"/>
    <p:sldId id="262" r:id="rId31"/>
    <p:sldId id="263" r:id="rId32"/>
    <p:sldId id="12774" r:id="rId33"/>
    <p:sldId id="12775" r:id="rId34"/>
    <p:sldId id="12776" r:id="rId35"/>
    <p:sldId id="264" r:id="rId36"/>
    <p:sldId id="268" r:id="rId37"/>
    <p:sldId id="12777" r:id="rId38"/>
    <p:sldId id="276" r:id="rId3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111"/>
    <p:restoredTop sz="94610"/>
  </p:normalViewPr>
  <p:slideViewPr>
    <p:cSldViewPr snapToGrid="0" snapToObjects="1">
      <p:cViewPr varScale="1">
        <p:scale>
          <a:sx n="92" d="100"/>
          <a:sy n="92" d="100"/>
        </p:scale>
        <p:origin x="40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73942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2409659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9196761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6728409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7918833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430837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4604439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5383922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9953089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70E8F-15B9-C602-7A46-722CC2073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3102F-C16B-AF90-4A0C-1A77F0C6B06C}"/>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9BDBF9ED-A750-DEA0-F6CC-3B1A03F08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BA819-D6F7-E1BF-20D7-5848411A2919}"/>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6805474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70E8F-15B9-C602-7A46-722CC2073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3102F-C16B-AF90-4A0C-1A77F0C6B06C}"/>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9BDBF9ED-A750-DEA0-F6CC-3B1A03F08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BA819-D6F7-E1BF-20D7-5848411A2919}"/>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3909571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8945777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FCA1C-F203-4A12-ACA3-7A96A24F83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9B73FF-C280-3102-75A7-A4EA79AD5017}"/>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3BD19699-C677-507D-B820-AE16052505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D9288E-B8DF-5A48-6E6A-A01AE4087925}"/>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4984936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70E8F-15B9-C602-7A46-722CC2073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3102F-C16B-AF90-4A0C-1A77F0C6B06C}"/>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9BDBF9ED-A750-DEA0-F6CC-3B1A03F08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BA819-D6F7-E1BF-20D7-5848411A2919}"/>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1696921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70E8F-15B9-C602-7A46-722CC2073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3102F-C16B-AF90-4A0C-1A77F0C6B06C}"/>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9BDBF9ED-A750-DEA0-F6CC-3B1A03F08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BA819-D6F7-E1BF-20D7-5848411A2919}"/>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41208799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70E8F-15B9-C602-7A46-722CC2073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3102F-C16B-AF90-4A0C-1A77F0C6B06C}"/>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9BDBF9ED-A750-DEA0-F6CC-3B1A03F08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BA819-D6F7-E1BF-20D7-5848411A2919}"/>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21904462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70E8F-15B9-C602-7A46-722CC2073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3102F-C16B-AF90-4A0C-1A77F0C6B06C}"/>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9BDBF9ED-A750-DEA0-F6CC-3B1A03F08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BA819-D6F7-E1BF-20D7-5848411A2919}"/>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1162389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FCA1C-F203-4A12-ACA3-7A96A24F83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9B73FF-C280-3102-75A7-A4EA79AD5017}"/>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3BD19699-C677-507D-B820-AE16052505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D9288E-B8DF-5A48-6E6A-A01AE4087925}"/>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4056325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70E8F-15B9-C602-7A46-722CC2073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3102F-C16B-AF90-4A0C-1A77F0C6B06C}"/>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9BDBF9ED-A750-DEA0-F6CC-3B1A03F08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BA819-D6F7-E1BF-20D7-5848411A2919}"/>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36849136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70E8F-15B9-C602-7A46-722CC2073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3102F-C16B-AF90-4A0C-1A77F0C6B06C}"/>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9BDBF9ED-A750-DEA0-F6CC-3B1A03F08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BA819-D6F7-E1BF-20D7-5848411A2919}"/>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1521587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70E8F-15B9-C602-7A46-722CC2073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3102F-C16B-AF90-4A0C-1A77F0C6B06C}"/>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9BDBF9ED-A750-DEA0-F6CC-3B1A03F08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BA819-D6F7-E1BF-20D7-5848411A2919}"/>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27640504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C773B-CEC2-DDA0-5791-74E225109E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4B0F7B-3F44-EC71-F42D-D472A1C2900D}"/>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D8CA1077-FD61-65DA-3D59-847585AAFA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897B55-B564-63CA-22BF-3F15671074A4}"/>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26305975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FFA77C-1501-51F1-B0E2-B7BA5ACA6A79}"/>
              </a:ext>
            </a:extLst>
          </p:cNvPr>
          <p:cNvSpPr>
            <a:spLocks noGrp="1"/>
          </p:cNvSpPr>
          <p:nvPr>
            <p:ph type="ctrTitle"/>
          </p:nvPr>
        </p:nvSpPr>
        <p:spPr>
          <a:xfrm>
            <a:off x="1143000" y="841772"/>
            <a:ext cx="6858000" cy="1790700"/>
          </a:xfrm>
        </p:spPr>
        <p:txBody>
          <a:bodyPr anchor="b"/>
          <a:lstStyle>
            <a:lvl1pPr algn="ctr">
              <a:defRPr sz="4500"/>
            </a:lvl1pPr>
          </a:lstStyle>
          <a:p>
            <a:r>
              <a:rPr lang="pt-BR"/>
              <a:t>Clique para editar o título Mestre</a:t>
            </a:r>
          </a:p>
        </p:txBody>
      </p:sp>
      <p:sp>
        <p:nvSpPr>
          <p:cNvPr id="3" name="Subtítulo 2">
            <a:extLst>
              <a:ext uri="{FF2B5EF4-FFF2-40B4-BE49-F238E27FC236}">
                <a16:creationId xmlns:a16="http://schemas.microsoft.com/office/drawing/2014/main" id="{67DE4A03-E78C-2FD6-D1FD-FBD8C52A9C08}"/>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13F416D4-DAFB-AEEB-2E0C-0509B3CE7539}"/>
              </a:ext>
            </a:extLst>
          </p:cNvPr>
          <p:cNvSpPr>
            <a:spLocks noGrp="1"/>
          </p:cNvSpPr>
          <p:nvPr>
            <p:ph type="dt" sz="half" idx="10"/>
          </p:nvPr>
        </p:nvSpPr>
        <p:spPr/>
        <p:txBody>
          <a:bodyPr/>
          <a:lstStyle/>
          <a:p>
            <a:fld id="{9FA7F590-91B7-4820-8B1A-6704AE6C3A90}" type="datetimeFigureOut">
              <a:rPr lang="pt-BR" smtClean="0"/>
              <a:t>30/09/2026</a:t>
            </a:fld>
            <a:endParaRPr lang="pt-BR"/>
          </a:p>
        </p:txBody>
      </p:sp>
      <p:sp>
        <p:nvSpPr>
          <p:cNvPr id="5" name="Espaço Reservado para Rodapé 4">
            <a:extLst>
              <a:ext uri="{FF2B5EF4-FFF2-40B4-BE49-F238E27FC236}">
                <a16:creationId xmlns:a16="http://schemas.microsoft.com/office/drawing/2014/main" id="{F12DBB24-8A19-8E61-10DE-AD9CCFDADF9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E00B234E-B5F2-AEB8-37C6-4A9AC3F428DF}"/>
              </a:ext>
            </a:extLst>
          </p:cNvPr>
          <p:cNvSpPr>
            <a:spLocks noGrp="1"/>
          </p:cNvSpPr>
          <p:nvPr>
            <p:ph type="sldNum" sz="quarter" idx="12"/>
          </p:nvPr>
        </p:nvSpPr>
        <p:spPr/>
        <p:txBody>
          <a:bodyPr/>
          <a:lstStyle/>
          <a:p>
            <a:fld id="{B40E4DB5-2ADF-4A89-BA27-62A88F470191}" type="slidenum">
              <a:rPr lang="pt-BR" smtClean="0"/>
              <a:t>‹nº›</a:t>
            </a:fld>
            <a:endParaRPr lang="pt-BR"/>
          </a:p>
        </p:txBody>
      </p:sp>
    </p:spTree>
    <p:extLst>
      <p:ext uri="{BB962C8B-B14F-4D97-AF65-F5344CB8AC3E}">
        <p14:creationId xmlns:p14="http://schemas.microsoft.com/office/powerpoint/2010/main" val="6762835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jp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jpg"/></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8.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8.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8.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8.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8.jpeg"/><Relationship Id="rId5" Type="http://schemas.openxmlformats.org/officeDocument/2006/relationships/image" Target="../media/image8.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8.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8.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8.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8.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3.png"/><Relationship Id="rId7"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22.png"/><Relationship Id="rId7"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8.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50.jp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49.jpeg"/><Relationship Id="rId5" Type="http://schemas.openxmlformats.org/officeDocument/2006/relationships/image" Target="../media/image48.png"/><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8" Type="http://schemas.openxmlformats.org/officeDocument/2006/relationships/image" Target="../media/image53.jpeg"/><Relationship Id="rId3" Type="http://schemas.openxmlformats.org/officeDocument/2006/relationships/image" Target="../media/image22.png"/><Relationship Id="rId7" Type="http://schemas.openxmlformats.org/officeDocument/2006/relationships/image" Target="../media/image5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1.jpeg"/><Relationship Id="rId11" Type="http://schemas.openxmlformats.org/officeDocument/2006/relationships/image" Target="../media/image55.png"/><Relationship Id="rId5" Type="http://schemas.openxmlformats.org/officeDocument/2006/relationships/image" Target="../media/image8.png"/><Relationship Id="rId10" Type="http://schemas.openxmlformats.org/officeDocument/2006/relationships/image" Target="../media/image54.jpeg"/><Relationship Id="rId4" Type="http://schemas.openxmlformats.org/officeDocument/2006/relationships/image" Target="../media/image23.png"/><Relationship Id="rId9" Type="http://schemas.openxmlformats.org/officeDocument/2006/relationships/image" Target="../media/image46.png"/></Relationships>
</file>

<file path=ppt/slides/_rels/slide29.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jpeg"/><Relationship Id="rId7" Type="http://schemas.openxmlformats.org/officeDocument/2006/relationships/image" Target="../media/image6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3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7.jpeg"/><Relationship Id="rId7" Type="http://schemas.openxmlformats.org/officeDocument/2006/relationships/image" Target="../media/image66.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67.png"/><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8.png"/><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69.png"/><Relationship Id="rId5" Type="http://schemas.openxmlformats.org/officeDocument/2006/relationships/image" Target="../media/image8.png"/><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71.png"/></Relationships>
</file>

<file path=ppt/slides/_rels/slide36.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3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76.png"/></Relationships>
</file>

<file path=ppt/slides/_rels/slide3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4572000" cy="5143500"/>
          </a:xfrm>
          <a:prstGeom prst="rect">
            <a:avLst/>
          </a:prstGeom>
          <a:solidFill>
            <a:srgbClr val="004A99"/>
          </a:solidFill>
          <a:ln/>
        </p:spPr>
        <p:txBody>
          <a:bodyPr/>
          <a:lstStyle/>
          <a:p>
            <a:endParaRPr lang="pt-BR"/>
          </a:p>
        </p:txBody>
      </p:sp>
      <p:sp>
        <p:nvSpPr>
          <p:cNvPr id="4" name="Text 1"/>
          <p:cNvSpPr/>
          <p:nvPr/>
        </p:nvSpPr>
        <p:spPr>
          <a:xfrm>
            <a:off x="857250" y="1143000"/>
            <a:ext cx="2857500" cy="2857500"/>
          </a:xfrm>
          <a:prstGeom prst="rect">
            <a:avLst/>
          </a:prstGeom>
          <a:noFill/>
          <a:ln/>
        </p:spPr>
        <p:txBody>
          <a:bodyPr wrap="square" lIns="0" tIns="0" rIns="0" bIns="0" rtlCol="0" anchor="ctr">
            <a:spAutoFit/>
          </a:bodyPr>
          <a:lstStyle/>
          <a:p>
            <a:pPr marL="0" indent="0" algn="ctr">
              <a:lnSpc>
                <a:spcPts val="1100"/>
              </a:lnSpc>
              <a:buNone/>
            </a:pPr>
            <a:endParaRPr lang="en-US" sz="834" dirty="0"/>
          </a:p>
        </p:txBody>
      </p:sp>
      <p:sp>
        <p:nvSpPr>
          <p:cNvPr id="5" name="Shape 2"/>
          <p:cNvSpPr/>
          <p:nvPr/>
        </p:nvSpPr>
        <p:spPr>
          <a:xfrm>
            <a:off x="4564117" y="7878"/>
            <a:ext cx="4572000" cy="5143500"/>
          </a:xfrm>
          <a:prstGeom prst="rect">
            <a:avLst/>
          </a:prstGeom>
          <a:solidFill>
            <a:srgbClr val="FFFFFF"/>
          </a:solidFill>
          <a:ln/>
        </p:spPr>
        <p:txBody>
          <a:bodyPr/>
          <a:lstStyle/>
          <a:p>
            <a:endParaRPr lang="pt-BR"/>
          </a:p>
        </p:txBody>
      </p:sp>
      <p:sp>
        <p:nvSpPr>
          <p:cNvPr id="6" name="Text 3"/>
          <p:cNvSpPr/>
          <p:nvPr/>
        </p:nvSpPr>
        <p:spPr>
          <a:xfrm>
            <a:off x="5000625" y="835847"/>
            <a:ext cx="3714750" cy="151805"/>
          </a:xfrm>
          <a:prstGeom prst="rect">
            <a:avLst/>
          </a:prstGeom>
          <a:noFill/>
          <a:ln/>
        </p:spPr>
        <p:txBody>
          <a:bodyPr wrap="none" lIns="0" tIns="0" rIns="0" bIns="0" rtlCol="0" anchor="t">
            <a:spAutoFit/>
          </a:bodyPr>
          <a:lstStyle/>
          <a:p>
            <a:pPr marL="0" indent="0" algn="l">
              <a:lnSpc>
                <a:spcPts val="1200"/>
              </a:lnSpc>
              <a:buNone/>
            </a:pPr>
            <a:r>
              <a:rPr lang="en-US" sz="942" kern="0" spc="2" dirty="0">
                <a:solidFill>
                  <a:srgbClr val="0066CC"/>
                </a:solidFill>
                <a:latin typeface="Roboto" pitchFamily="34" charset="0"/>
                <a:ea typeface="Roboto" pitchFamily="34" charset="-122"/>
                <a:cs typeface="Roboto" pitchFamily="34" charset="-120"/>
              </a:rPr>
              <a:t>AVALIAÇÃO TÉCNICA DE PRODUTO</a:t>
            </a:r>
            <a:endParaRPr lang="en-US" sz="942" dirty="0"/>
          </a:p>
        </p:txBody>
      </p:sp>
      <p:sp>
        <p:nvSpPr>
          <p:cNvPr id="7" name="Text 4"/>
          <p:cNvSpPr/>
          <p:nvPr/>
        </p:nvSpPr>
        <p:spPr>
          <a:xfrm>
            <a:off x="5000625" y="1059089"/>
            <a:ext cx="3714750" cy="1272983"/>
          </a:xfrm>
          <a:prstGeom prst="rect">
            <a:avLst/>
          </a:prstGeom>
          <a:noFill/>
          <a:ln/>
        </p:spPr>
        <p:txBody>
          <a:bodyPr wrap="square" lIns="0" tIns="0" rIns="0" bIns="0" rtlCol="0" anchor="t">
            <a:spAutoFit/>
          </a:bodyPr>
          <a:lstStyle/>
          <a:p>
            <a:pPr marL="0" indent="0" algn="l">
              <a:lnSpc>
                <a:spcPts val="3300"/>
              </a:lnSpc>
              <a:buNone/>
            </a:pPr>
            <a:r>
              <a:rPr lang="en-US" sz="2755" b="1" dirty="0">
                <a:solidFill>
                  <a:srgbClr val="2C3E50"/>
                </a:solidFill>
                <a:latin typeface="Roboto" pitchFamily="34" charset="0"/>
                <a:ea typeface="Roboto" pitchFamily="34" charset="-122"/>
                <a:cs typeface="Roboto" pitchFamily="34" charset="-120"/>
              </a:rPr>
              <a:t>Integração de
Sistemas de
Automação</a:t>
            </a:r>
            <a:endParaRPr lang="en-US" sz="2755" dirty="0"/>
          </a:p>
        </p:txBody>
      </p:sp>
      <p:sp>
        <p:nvSpPr>
          <p:cNvPr id="8" name="Text 5"/>
          <p:cNvSpPr/>
          <p:nvPr/>
        </p:nvSpPr>
        <p:spPr>
          <a:xfrm>
            <a:off x="5000625" y="2474947"/>
            <a:ext cx="3714750" cy="498534"/>
          </a:xfrm>
          <a:prstGeom prst="rect">
            <a:avLst/>
          </a:prstGeom>
          <a:noFill/>
          <a:ln/>
        </p:spPr>
        <p:txBody>
          <a:bodyPr wrap="square" lIns="0" tIns="0" rIns="0" bIns="0" rtlCol="0" anchor="t">
            <a:spAutoFit/>
          </a:bodyPr>
          <a:lstStyle/>
          <a:p>
            <a:pPr marL="0" indent="0" algn="l">
              <a:lnSpc>
                <a:spcPts val="2000"/>
              </a:lnSpc>
              <a:buNone/>
            </a:pPr>
            <a:r>
              <a:rPr lang="pt-BR" sz="1486" dirty="0">
                <a:solidFill>
                  <a:srgbClr val="34495E"/>
                </a:solidFill>
                <a:latin typeface="Roboto" pitchFamily="34" charset="0"/>
                <a:ea typeface="Roboto" pitchFamily="34" charset="-122"/>
                <a:cs typeface="Roboto" pitchFamily="34" charset="-120"/>
              </a:rPr>
              <a:t>Comunicação entre Campo,
CLP e Supervisório.</a:t>
            </a:r>
            <a:endParaRPr lang="pt-BR" sz="1486" dirty="0"/>
          </a:p>
        </p:txBody>
      </p:sp>
      <p:sp>
        <p:nvSpPr>
          <p:cNvPr id="9" name="Shape 6"/>
          <p:cNvSpPr/>
          <p:nvPr/>
        </p:nvSpPr>
        <p:spPr>
          <a:xfrm>
            <a:off x="5000625" y="3245021"/>
            <a:ext cx="3714750" cy="208955"/>
          </a:xfrm>
          <a:prstGeom prst="rect">
            <a:avLst/>
          </a:prstGeom>
          <a:solidFill>
            <a:srgbClr val="FF6600"/>
          </a:solidFill>
          <a:ln/>
        </p:spPr>
        <p:txBody>
          <a:bodyPr/>
          <a:lstStyle/>
          <a:p>
            <a:endParaRPr lang="pt-BR"/>
          </a:p>
        </p:txBody>
      </p:sp>
      <p:sp>
        <p:nvSpPr>
          <p:cNvPr id="10" name="Text 7"/>
          <p:cNvSpPr/>
          <p:nvPr/>
        </p:nvSpPr>
        <p:spPr>
          <a:xfrm>
            <a:off x="5000625" y="3245021"/>
            <a:ext cx="2244589" cy="213776"/>
          </a:xfrm>
          <a:prstGeom prst="rect">
            <a:avLst/>
          </a:prstGeom>
          <a:noFill/>
          <a:ln/>
        </p:spPr>
        <p:txBody>
          <a:bodyPr wrap="none" lIns="170053" tIns="34036" rIns="170053" bIns="34036" rtlCol="0" anchor="t">
            <a:spAutoFit/>
          </a:bodyPr>
          <a:lstStyle/>
          <a:p>
            <a:pPr marL="0" indent="0" algn="l">
              <a:lnSpc>
                <a:spcPts val="1200"/>
              </a:lnSpc>
              <a:buNone/>
            </a:pPr>
            <a:r>
              <a:rPr lang="en-US" sz="885" b="1" dirty="0">
                <a:solidFill>
                  <a:srgbClr val="FFFFFF"/>
                </a:solidFill>
                <a:latin typeface="Roboto" pitchFamily="34" charset="0"/>
                <a:ea typeface="Roboto" pitchFamily="34" charset="-122"/>
                <a:cs typeface="Roboto" pitchFamily="34" charset="-120"/>
              </a:rPr>
              <a:t>FIRJAN SENAI – RIO DE JANEIRO/RJ</a:t>
            </a:r>
            <a:endParaRPr lang="en-US" sz="885" dirty="0"/>
          </a:p>
        </p:txBody>
      </p:sp>
      <p:sp>
        <p:nvSpPr>
          <p:cNvPr id="11" name="Text 8"/>
          <p:cNvSpPr/>
          <p:nvPr/>
        </p:nvSpPr>
        <p:spPr>
          <a:xfrm>
            <a:off x="5000625" y="3806134"/>
            <a:ext cx="3714750" cy="200025"/>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C3E50"/>
                </a:solidFill>
                <a:latin typeface="Roboto" pitchFamily="34" charset="0"/>
                <a:ea typeface="Roboto" pitchFamily="34" charset="-122"/>
                <a:cs typeface="Roboto" pitchFamily="34" charset="-120"/>
              </a:rPr>
              <a:t>Raphael Medeiros</a:t>
            </a:r>
            <a:endParaRPr lang="en-US" sz="1193" dirty="0"/>
          </a:p>
        </p:txBody>
      </p:sp>
      <p:sp>
        <p:nvSpPr>
          <p:cNvPr id="12" name="Text 9"/>
          <p:cNvSpPr/>
          <p:nvPr/>
        </p:nvSpPr>
        <p:spPr>
          <a:xfrm>
            <a:off x="5000625" y="4041878"/>
            <a:ext cx="3714750" cy="151805"/>
          </a:xfrm>
          <a:prstGeom prst="rect">
            <a:avLst/>
          </a:prstGeom>
          <a:noFill/>
          <a:ln/>
        </p:spPr>
        <p:txBody>
          <a:bodyPr wrap="none" lIns="0" tIns="0" rIns="0" bIns="0" rtlCol="0" anchor="t">
            <a:spAutoFit/>
          </a:bodyPr>
          <a:lstStyle/>
          <a:p>
            <a:pPr marL="0" indent="0" algn="l">
              <a:lnSpc>
                <a:spcPts val="1200"/>
              </a:lnSpc>
              <a:buNone/>
            </a:pPr>
            <a:r>
              <a:rPr lang="en-US" sz="942" dirty="0">
                <a:solidFill>
                  <a:srgbClr val="34495E"/>
                </a:solidFill>
                <a:latin typeface="Roboto" pitchFamily="34" charset="0"/>
                <a:ea typeface="Roboto" pitchFamily="34" charset="-122"/>
                <a:cs typeface="Roboto" pitchFamily="34" charset="-120"/>
              </a:rPr>
              <a:t>Engenheiro Eletrônico</a:t>
            </a:r>
            <a:endParaRPr lang="en-US" sz="942" dirty="0"/>
          </a:p>
        </p:txBody>
      </p:sp>
      <p:sp>
        <p:nvSpPr>
          <p:cNvPr id="13" name="Text 10"/>
          <p:cNvSpPr/>
          <p:nvPr/>
        </p:nvSpPr>
        <p:spPr>
          <a:xfrm>
            <a:off x="5000625" y="4336557"/>
            <a:ext cx="3714750" cy="167878"/>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66CC"/>
                </a:solidFill>
                <a:latin typeface="Roboto" pitchFamily="34" charset="0"/>
                <a:ea typeface="Roboto" pitchFamily="34" charset="-122"/>
                <a:cs typeface="Roboto" pitchFamily="34" charset="-120"/>
              </a:rPr>
              <a:t>Candidato à Docência</a:t>
            </a:r>
            <a:endParaRPr lang="en-US" sz="987" dirty="0"/>
          </a:p>
        </p:txBody>
      </p:sp>
      <p:sp>
        <p:nvSpPr>
          <p:cNvPr id="14" name="Text 11"/>
          <p:cNvSpPr/>
          <p:nvPr/>
        </p:nvSpPr>
        <p:spPr>
          <a:xfrm>
            <a:off x="5000625" y="4575873"/>
            <a:ext cx="1162178" cy="133691"/>
          </a:xfrm>
          <a:prstGeom prst="rect">
            <a:avLst/>
          </a:prstGeom>
          <a:noFill/>
          <a:ln/>
        </p:spPr>
        <p:txBody>
          <a:bodyPr wrap="none" lIns="0" tIns="0" rIns="0" bIns="0" rtlCol="0" anchor="t">
            <a:spAutoFit/>
          </a:bodyPr>
          <a:lstStyle/>
          <a:p>
            <a:pPr marL="0" indent="0" algn="l">
              <a:lnSpc>
                <a:spcPts val="1100"/>
              </a:lnSpc>
              <a:buNone/>
            </a:pPr>
            <a:r>
              <a:rPr lang="en-US" sz="834" dirty="0">
                <a:solidFill>
                  <a:srgbClr val="34495E"/>
                </a:solidFill>
                <a:latin typeface="Roboto" pitchFamily="34" charset="0"/>
                <a:ea typeface="Roboto" pitchFamily="34" charset="-122"/>
                <a:cs typeface="Roboto" pitchFamily="34" charset="-120"/>
              </a:rPr>
              <a:t>30 de Setembro de 2026</a:t>
            </a:r>
            <a:endParaRPr lang="en-US" sz="834" dirty="0"/>
          </a:p>
        </p:txBody>
      </p:sp>
      <p:pic>
        <p:nvPicPr>
          <p:cNvPr id="15" name="Image 1" descr="preencoded.png"/>
          <p:cNvPicPr>
            <a:picLocks noChangeAspect="1"/>
          </p:cNvPicPr>
          <p:nvPr/>
        </p:nvPicPr>
        <p:blipFill rotWithShape="1">
          <a:blip r:embed="rId4"/>
          <a:srcRect l="652" t="11167" r="23671" b="6864"/>
          <a:stretch/>
        </p:blipFill>
        <p:spPr>
          <a:xfrm>
            <a:off x="95693" y="329609"/>
            <a:ext cx="4476308" cy="3232298"/>
          </a:xfrm>
          <a:prstGeom prst="rect">
            <a:avLst/>
          </a:prstGeom>
        </p:spPr>
      </p:pic>
      <p:pic>
        <p:nvPicPr>
          <p:cNvPr id="16" name="Image 2" descr="preencoded.png"/>
          <p:cNvPicPr>
            <a:picLocks noChangeAspect="1"/>
          </p:cNvPicPr>
          <p:nvPr/>
        </p:nvPicPr>
        <p:blipFill>
          <a:blip r:embed="rId5"/>
          <a:stretch>
            <a:fillRect/>
          </a:stretch>
        </p:blipFill>
        <p:spPr>
          <a:xfrm>
            <a:off x="1328738" y="3796846"/>
            <a:ext cx="1914525" cy="8286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Shape 0"/>
          <p:cNvSpPr/>
          <p:nvPr/>
        </p:nvSpPr>
        <p:spPr>
          <a:xfrm>
            <a:off x="0" y="0"/>
            <a:ext cx="9144000" cy="642938"/>
          </a:xfrm>
          <a:prstGeom prst="rect">
            <a:avLst/>
          </a:prstGeom>
          <a:solidFill>
            <a:srgbClr val="004A99"/>
          </a:solidFill>
          <a:ln/>
        </p:spPr>
        <p:txBody>
          <a:bodyPr/>
          <a:lstStyle/>
          <a:p>
            <a:endParaRPr lang="pt-BR"/>
          </a:p>
        </p:txBody>
      </p:sp>
      <p:sp>
        <p:nvSpPr>
          <p:cNvPr id="4" name="Text 1"/>
          <p:cNvSpPr/>
          <p:nvPr/>
        </p:nvSpPr>
        <p:spPr>
          <a:xfrm>
            <a:off x="428625" y="170557"/>
            <a:ext cx="3043238" cy="301823"/>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FFFF"/>
                </a:solidFill>
                <a:latin typeface="Roboto" pitchFamily="34" charset="0"/>
                <a:ea typeface="Roboto" pitchFamily="34" charset="-122"/>
                <a:cs typeface="Roboto" pitchFamily="34" charset="-120"/>
              </a:rPr>
              <a:t>Apresentação do Instrutor</a:t>
            </a:r>
            <a:endParaRPr lang="en-US" sz="1808" dirty="0"/>
          </a:p>
        </p:txBody>
      </p:sp>
      <p:sp>
        <p:nvSpPr>
          <p:cNvPr id="5" name="Shape 2"/>
          <p:cNvSpPr/>
          <p:nvPr/>
        </p:nvSpPr>
        <p:spPr>
          <a:xfrm>
            <a:off x="428625" y="928688"/>
            <a:ext cx="428625" cy="428625"/>
          </a:xfrm>
          <a:prstGeom prst="rect">
            <a:avLst/>
          </a:prstGeom>
          <a:solidFill>
            <a:srgbClr val="F0F8FF"/>
          </a:solidFill>
          <a:ln w="18288">
            <a:solidFill>
              <a:srgbClr val="0066CC"/>
            </a:solidFill>
            <a:prstDash val="solid"/>
          </a:ln>
        </p:spPr>
        <p:txBody>
          <a:bodyPr/>
          <a:lstStyle/>
          <a:p>
            <a:endParaRPr lang="pt-BR"/>
          </a:p>
        </p:txBody>
      </p:sp>
      <p:pic>
        <p:nvPicPr>
          <p:cNvPr id="6" name="Image 1" descr="preencoded.png"/>
          <p:cNvPicPr>
            <a:picLocks noChangeAspect="1"/>
          </p:cNvPicPr>
          <p:nvPr/>
        </p:nvPicPr>
        <p:blipFill>
          <a:blip r:embed="rId3"/>
          <a:stretch>
            <a:fillRect/>
          </a:stretch>
        </p:blipFill>
        <p:spPr>
          <a:xfrm>
            <a:off x="535781" y="1057275"/>
            <a:ext cx="214313" cy="171450"/>
          </a:xfrm>
          <a:prstGeom prst="rect">
            <a:avLst/>
          </a:prstGeom>
        </p:spPr>
      </p:pic>
      <p:sp>
        <p:nvSpPr>
          <p:cNvPr id="7" name="Text 3"/>
          <p:cNvSpPr/>
          <p:nvPr/>
        </p:nvSpPr>
        <p:spPr>
          <a:xfrm>
            <a:off x="1000125" y="928688"/>
            <a:ext cx="1918097" cy="183952"/>
          </a:xfrm>
          <a:prstGeom prst="rect">
            <a:avLst/>
          </a:prstGeom>
          <a:noFill/>
          <a:ln/>
        </p:spPr>
        <p:txBody>
          <a:bodyPr wrap="none" lIns="0" tIns="0" rIns="0" bIns="0" rtlCol="0" anchor="t">
            <a:spAutoFit/>
          </a:bodyPr>
          <a:lstStyle/>
          <a:p>
            <a:pPr marL="0" indent="0" algn="l">
              <a:lnSpc>
                <a:spcPts val="1500"/>
              </a:lnSpc>
              <a:buNone/>
            </a:pPr>
            <a:r>
              <a:rPr lang="en-US" sz="1090" b="1" kern="0" spc="1" dirty="0">
                <a:solidFill>
                  <a:srgbClr val="2C3E50"/>
                </a:solidFill>
                <a:latin typeface="Roboto" pitchFamily="34" charset="0"/>
                <a:ea typeface="Roboto" pitchFamily="34" charset="-122"/>
                <a:cs typeface="Roboto" pitchFamily="34" charset="-120"/>
              </a:rPr>
              <a:t>FORMAÇÃO ACADÊMICA</a:t>
            </a:r>
            <a:endParaRPr lang="en-US" sz="1090" dirty="0"/>
          </a:p>
        </p:txBody>
      </p:sp>
      <p:sp>
        <p:nvSpPr>
          <p:cNvPr id="8" name="Text 4"/>
          <p:cNvSpPr/>
          <p:nvPr/>
        </p:nvSpPr>
        <p:spPr>
          <a:xfrm>
            <a:off x="1000124" y="1135921"/>
            <a:ext cx="3741209" cy="340991"/>
          </a:xfrm>
          <a:prstGeom prst="rect">
            <a:avLst/>
          </a:prstGeom>
          <a:noFill/>
          <a:ln/>
        </p:spPr>
        <p:txBody>
          <a:bodyPr wrap="square" lIns="0" tIns="0" rIns="0" bIns="0" rtlCol="0" anchor="t">
            <a:spAutoFit/>
          </a:bodyPr>
          <a:lstStyle/>
          <a:p>
            <a:pPr marL="0" indent="0" algn="l">
              <a:lnSpc>
                <a:spcPts val="1400"/>
              </a:lnSpc>
              <a:buNone/>
            </a:pPr>
            <a:r>
              <a:rPr lang="pt-BR" sz="800" b="1" dirty="0">
                <a:solidFill>
                  <a:srgbClr val="0066CC"/>
                </a:solidFill>
                <a:latin typeface="Roboto" pitchFamily="34" charset="0"/>
                <a:ea typeface="Roboto" pitchFamily="34" charset="-122"/>
                <a:cs typeface="Roboto" pitchFamily="34" charset="-120"/>
              </a:rPr>
              <a:t>Engenharia Eletrônica - </a:t>
            </a:r>
            <a:r>
              <a:rPr lang="pt-BR" sz="800" dirty="0">
                <a:solidFill>
                  <a:srgbClr val="34495E"/>
                </a:solidFill>
                <a:latin typeface="Roboto" pitchFamily="34" charset="0"/>
                <a:ea typeface="Roboto" pitchFamily="34" charset="-122"/>
                <a:cs typeface="Roboto" pitchFamily="34" charset="-120"/>
              </a:rPr>
              <a:t>CEFET/RJ – Maracanã (2021)</a:t>
            </a:r>
          </a:p>
          <a:p>
            <a:pPr>
              <a:lnSpc>
                <a:spcPts val="1400"/>
              </a:lnSpc>
            </a:pPr>
            <a:r>
              <a:rPr lang="pt-BR" sz="800" b="1" dirty="0">
                <a:solidFill>
                  <a:srgbClr val="0066CC"/>
                </a:solidFill>
                <a:latin typeface="Roboto" pitchFamily="34" charset="0"/>
                <a:ea typeface="Roboto" pitchFamily="34" charset="-122"/>
                <a:cs typeface="Roboto" pitchFamily="34" charset="-120"/>
              </a:rPr>
              <a:t>Técnico Automação Industrial – </a:t>
            </a:r>
            <a:r>
              <a:rPr lang="pt-BR" sz="800" dirty="0">
                <a:solidFill>
                  <a:srgbClr val="34495E"/>
                </a:solidFill>
                <a:latin typeface="Roboto" pitchFamily="34" charset="0"/>
                <a:ea typeface="Roboto" pitchFamily="34" charset="-122"/>
                <a:cs typeface="Roboto" pitchFamily="34" charset="-120"/>
              </a:rPr>
              <a:t>ESTÁCIO DE SÁ – Del Castilho (2015)</a:t>
            </a:r>
            <a:endParaRPr lang="pt-BR" sz="800" dirty="0"/>
          </a:p>
        </p:txBody>
      </p:sp>
      <p:sp>
        <p:nvSpPr>
          <p:cNvPr id="9" name="Shape 5"/>
          <p:cNvSpPr/>
          <p:nvPr/>
        </p:nvSpPr>
        <p:spPr>
          <a:xfrm>
            <a:off x="428625" y="1691283"/>
            <a:ext cx="428625" cy="428625"/>
          </a:xfrm>
          <a:prstGeom prst="rect">
            <a:avLst/>
          </a:prstGeom>
          <a:solidFill>
            <a:srgbClr val="F0F8FF"/>
          </a:solidFill>
          <a:ln w="18288">
            <a:solidFill>
              <a:srgbClr val="0066CC"/>
            </a:solidFill>
            <a:prstDash val="solid"/>
          </a:ln>
        </p:spPr>
        <p:txBody>
          <a:bodyPr/>
          <a:lstStyle/>
          <a:p>
            <a:endParaRPr lang="pt-BR"/>
          </a:p>
        </p:txBody>
      </p:sp>
      <p:pic>
        <p:nvPicPr>
          <p:cNvPr id="10" name="Image 2" descr="preencoded.png"/>
          <p:cNvPicPr>
            <a:picLocks noChangeAspect="1"/>
          </p:cNvPicPr>
          <p:nvPr/>
        </p:nvPicPr>
        <p:blipFill>
          <a:blip r:embed="rId4"/>
          <a:stretch>
            <a:fillRect/>
          </a:stretch>
        </p:blipFill>
        <p:spPr>
          <a:xfrm>
            <a:off x="557213" y="1819870"/>
            <a:ext cx="171450" cy="171450"/>
          </a:xfrm>
          <a:prstGeom prst="rect">
            <a:avLst/>
          </a:prstGeom>
        </p:spPr>
      </p:pic>
      <p:sp>
        <p:nvSpPr>
          <p:cNvPr id="11" name="Text 6"/>
          <p:cNvSpPr/>
          <p:nvPr/>
        </p:nvSpPr>
        <p:spPr>
          <a:xfrm>
            <a:off x="1000125" y="1691283"/>
            <a:ext cx="4229100" cy="183952"/>
          </a:xfrm>
          <a:prstGeom prst="rect">
            <a:avLst/>
          </a:prstGeom>
          <a:noFill/>
          <a:ln/>
        </p:spPr>
        <p:txBody>
          <a:bodyPr wrap="none" lIns="0" tIns="0" rIns="0" bIns="0" rtlCol="0" anchor="t">
            <a:spAutoFit/>
          </a:bodyPr>
          <a:lstStyle/>
          <a:p>
            <a:pPr marL="0" indent="0" algn="l">
              <a:lnSpc>
                <a:spcPts val="1500"/>
              </a:lnSpc>
              <a:buNone/>
            </a:pPr>
            <a:r>
              <a:rPr lang="en-US" sz="1090" b="1" kern="0" spc="1" dirty="0">
                <a:solidFill>
                  <a:srgbClr val="2C3E50"/>
                </a:solidFill>
                <a:latin typeface="Roboto" pitchFamily="34" charset="0"/>
                <a:ea typeface="Roboto" pitchFamily="34" charset="-122"/>
                <a:cs typeface="Roboto" pitchFamily="34" charset="-120"/>
              </a:rPr>
              <a:t>EXPERIÊNCIA PROFISSIONAL</a:t>
            </a:r>
            <a:endParaRPr lang="en-US" sz="1090" dirty="0"/>
          </a:p>
        </p:txBody>
      </p:sp>
      <p:sp>
        <p:nvSpPr>
          <p:cNvPr id="12" name="Text 7"/>
          <p:cNvSpPr/>
          <p:nvPr/>
        </p:nvSpPr>
        <p:spPr>
          <a:xfrm>
            <a:off x="1000125" y="1906983"/>
            <a:ext cx="4229100"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34495E"/>
                </a:solidFill>
                <a:latin typeface="Roboto" pitchFamily="34" charset="0"/>
                <a:ea typeface="Roboto" pitchFamily="34" charset="-122"/>
                <a:cs typeface="Roboto" pitchFamily="34" charset="-120"/>
              </a:rPr>
              <a:t>Atuação em projetos de </a:t>
            </a:r>
            <a:r>
              <a:rPr lang="en-US" sz="784" b="1" dirty="0">
                <a:solidFill>
                  <a:srgbClr val="0066CC"/>
                </a:solidFill>
                <a:latin typeface="Roboto" pitchFamily="34" charset="0"/>
                <a:ea typeface="Roboto" pitchFamily="34" charset="-122"/>
                <a:cs typeface="Roboto" pitchFamily="34" charset="-120"/>
              </a:rPr>
              <a:t>Integração de Sistemas</a:t>
            </a:r>
            <a:r>
              <a:rPr lang="en-US" sz="834" dirty="0">
                <a:solidFill>
                  <a:srgbClr val="34495E"/>
                </a:solidFill>
                <a:latin typeface="Roboto" pitchFamily="34" charset="0"/>
                <a:ea typeface="Roboto" pitchFamily="34" charset="-122"/>
                <a:cs typeface="Roboto" pitchFamily="34" charset="-120"/>
              </a:rPr>
              <a:t>, Redes Industriais e Programação de CLPs Siemens (S7-1200).</a:t>
            </a:r>
            <a:endParaRPr lang="en-US" sz="834" dirty="0"/>
          </a:p>
        </p:txBody>
      </p:sp>
      <p:sp>
        <p:nvSpPr>
          <p:cNvPr id="13" name="Shape 8"/>
          <p:cNvSpPr/>
          <p:nvPr/>
        </p:nvSpPr>
        <p:spPr>
          <a:xfrm>
            <a:off x="428625" y="2453878"/>
            <a:ext cx="428625" cy="428625"/>
          </a:xfrm>
          <a:prstGeom prst="rect">
            <a:avLst/>
          </a:prstGeom>
          <a:solidFill>
            <a:srgbClr val="F0F8FF"/>
          </a:solidFill>
          <a:ln w="18288">
            <a:solidFill>
              <a:srgbClr val="0066CC"/>
            </a:solidFill>
            <a:prstDash val="solid"/>
          </a:ln>
        </p:spPr>
        <p:txBody>
          <a:bodyPr/>
          <a:lstStyle/>
          <a:p>
            <a:endParaRPr lang="pt-BR"/>
          </a:p>
        </p:txBody>
      </p:sp>
      <p:pic>
        <p:nvPicPr>
          <p:cNvPr id="14" name="Image 3" descr="preencoded.png"/>
          <p:cNvPicPr>
            <a:picLocks noChangeAspect="1"/>
          </p:cNvPicPr>
          <p:nvPr/>
        </p:nvPicPr>
        <p:blipFill>
          <a:blip r:embed="rId5"/>
          <a:stretch>
            <a:fillRect/>
          </a:stretch>
        </p:blipFill>
        <p:spPr>
          <a:xfrm>
            <a:off x="557213" y="2582466"/>
            <a:ext cx="171450" cy="171450"/>
          </a:xfrm>
          <a:prstGeom prst="rect">
            <a:avLst/>
          </a:prstGeom>
        </p:spPr>
      </p:pic>
      <p:sp>
        <p:nvSpPr>
          <p:cNvPr id="15" name="Text 9"/>
          <p:cNvSpPr/>
          <p:nvPr/>
        </p:nvSpPr>
        <p:spPr>
          <a:xfrm>
            <a:off x="1000125" y="2453878"/>
            <a:ext cx="4229100" cy="183952"/>
          </a:xfrm>
          <a:prstGeom prst="rect">
            <a:avLst/>
          </a:prstGeom>
          <a:noFill/>
          <a:ln/>
        </p:spPr>
        <p:txBody>
          <a:bodyPr wrap="none" lIns="0" tIns="0" rIns="0" bIns="0" rtlCol="0" anchor="t">
            <a:spAutoFit/>
          </a:bodyPr>
          <a:lstStyle/>
          <a:p>
            <a:pPr marL="0" indent="0" algn="l">
              <a:lnSpc>
                <a:spcPts val="1500"/>
              </a:lnSpc>
              <a:buNone/>
            </a:pPr>
            <a:r>
              <a:rPr lang="en-US" sz="1090" b="1" kern="0" spc="1" dirty="0">
                <a:solidFill>
                  <a:srgbClr val="2C3E50"/>
                </a:solidFill>
                <a:latin typeface="Roboto" pitchFamily="34" charset="0"/>
                <a:ea typeface="Roboto" pitchFamily="34" charset="-122"/>
                <a:cs typeface="Roboto" pitchFamily="34" charset="-120"/>
              </a:rPr>
              <a:t>CERTIFICAÇÕES E HABILIDADES</a:t>
            </a:r>
            <a:endParaRPr lang="en-US" sz="1090" dirty="0"/>
          </a:p>
        </p:txBody>
      </p:sp>
      <p:sp>
        <p:nvSpPr>
          <p:cNvPr id="16" name="Text 10"/>
          <p:cNvSpPr/>
          <p:nvPr/>
        </p:nvSpPr>
        <p:spPr>
          <a:xfrm>
            <a:off x="1000125" y="2678046"/>
            <a:ext cx="4229100"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34495E"/>
                </a:solidFill>
                <a:latin typeface="Roboto" pitchFamily="34" charset="0"/>
                <a:ea typeface="Roboto" pitchFamily="34" charset="-122"/>
                <a:cs typeface="Roboto" pitchFamily="34" charset="-120"/>
              </a:rPr>
              <a:t>Domínio em </a:t>
            </a:r>
            <a:r>
              <a:rPr lang="en-US" sz="784" b="1" dirty="0">
                <a:solidFill>
                  <a:srgbClr val="0066CC"/>
                </a:solidFill>
                <a:latin typeface="Roboto" pitchFamily="34" charset="0"/>
                <a:ea typeface="Roboto" pitchFamily="34" charset="-122"/>
                <a:cs typeface="Roboto" pitchFamily="34" charset="-120"/>
              </a:rPr>
              <a:t>TIA Portal</a:t>
            </a:r>
            <a:r>
              <a:rPr lang="en-US" sz="834" dirty="0">
                <a:solidFill>
                  <a:srgbClr val="34495E"/>
                </a:solidFill>
                <a:latin typeface="Roboto" pitchFamily="34" charset="0"/>
                <a:ea typeface="Roboto" pitchFamily="34" charset="-122"/>
                <a:cs typeface="Roboto" pitchFamily="34" charset="-120"/>
              </a:rPr>
              <a:t>, Protocolos PROFINET/Modbus e Sistemas Supervisórios (SCADA/IHM).</a:t>
            </a:r>
            <a:endParaRPr lang="en-US" sz="834" dirty="0"/>
          </a:p>
        </p:txBody>
      </p:sp>
      <p:sp>
        <p:nvSpPr>
          <p:cNvPr id="17" name="Shape 11"/>
          <p:cNvSpPr/>
          <p:nvPr/>
        </p:nvSpPr>
        <p:spPr>
          <a:xfrm>
            <a:off x="5514975" y="928688"/>
            <a:ext cx="3200400" cy="2607469"/>
          </a:xfrm>
          <a:prstGeom prst="rect">
            <a:avLst/>
          </a:prstGeom>
          <a:solidFill>
            <a:srgbClr val="F8F9FA"/>
          </a:solidFill>
          <a:ln w="18288">
            <a:solidFill>
              <a:srgbClr val="0066CC"/>
            </a:solidFill>
            <a:prstDash val="solid"/>
          </a:ln>
        </p:spPr>
        <p:txBody>
          <a:bodyPr/>
          <a:lstStyle/>
          <a:p>
            <a:endParaRPr lang="pt-BR"/>
          </a:p>
        </p:txBody>
      </p:sp>
      <p:sp>
        <p:nvSpPr>
          <p:cNvPr id="18" name="Shape 12"/>
          <p:cNvSpPr/>
          <p:nvPr/>
        </p:nvSpPr>
        <p:spPr>
          <a:xfrm>
            <a:off x="6400800" y="1214438"/>
            <a:ext cx="1428750" cy="1428750"/>
          </a:xfrm>
          <a:prstGeom prst="ellipse">
            <a:avLst/>
          </a:prstGeom>
          <a:solidFill>
            <a:srgbClr val="DCDCDC"/>
          </a:solidFill>
          <a:ln w="36576">
            <a:solidFill>
              <a:srgbClr val="0066CC"/>
            </a:solidFill>
            <a:prstDash val="solid"/>
          </a:ln>
        </p:spPr>
        <p:txBody>
          <a:bodyPr/>
          <a:lstStyle/>
          <a:p>
            <a:endParaRPr lang="pt-BR"/>
          </a:p>
        </p:txBody>
      </p:sp>
      <p:sp>
        <p:nvSpPr>
          <p:cNvPr id="19" name="Text 13"/>
          <p:cNvSpPr/>
          <p:nvPr/>
        </p:nvSpPr>
        <p:spPr>
          <a:xfrm>
            <a:off x="6400800" y="1214438"/>
            <a:ext cx="1428750" cy="1428750"/>
          </a:xfrm>
          <a:prstGeom prst="rect">
            <a:avLst/>
          </a:prstGeom>
          <a:noFill/>
          <a:ln/>
        </p:spPr>
        <p:txBody>
          <a:bodyPr wrap="square" lIns="0" tIns="0" rIns="0" bIns="0" rtlCol="0" anchor="ctr">
            <a:spAutoFit/>
          </a:bodyPr>
          <a:lstStyle/>
          <a:p>
            <a:pPr marL="0" indent="0" algn="ctr">
              <a:lnSpc>
                <a:spcPts val="5400"/>
              </a:lnSpc>
              <a:buNone/>
            </a:pPr>
            <a:endParaRPr lang="en-US" sz="4410" dirty="0"/>
          </a:p>
        </p:txBody>
      </p:sp>
      <p:sp>
        <p:nvSpPr>
          <p:cNvPr id="20" name="Text 14"/>
          <p:cNvSpPr/>
          <p:nvPr/>
        </p:nvSpPr>
        <p:spPr>
          <a:xfrm>
            <a:off x="6299895" y="2857500"/>
            <a:ext cx="1630561" cy="233958"/>
          </a:xfrm>
          <a:prstGeom prst="rect">
            <a:avLst/>
          </a:prstGeom>
          <a:noFill/>
          <a:ln/>
        </p:spPr>
        <p:txBody>
          <a:bodyPr wrap="none" lIns="0" tIns="0" rIns="0" bIns="0" rtlCol="0" anchor="t">
            <a:spAutoFit/>
          </a:bodyPr>
          <a:lstStyle/>
          <a:p>
            <a:pPr marL="0" indent="0" algn="ctr">
              <a:lnSpc>
                <a:spcPts val="1900"/>
              </a:lnSpc>
              <a:buNone/>
            </a:pPr>
            <a:r>
              <a:rPr lang="en-US" sz="1397" b="1" dirty="0">
                <a:solidFill>
                  <a:srgbClr val="2C3E50"/>
                </a:solidFill>
                <a:latin typeface="Roboto" pitchFamily="34" charset="0"/>
                <a:ea typeface="Roboto" pitchFamily="34" charset="-122"/>
                <a:cs typeface="Roboto" pitchFamily="34" charset="-120"/>
              </a:rPr>
              <a:t>Raphael Medeiros</a:t>
            </a:r>
            <a:endParaRPr lang="en-US" sz="1397" dirty="0"/>
          </a:p>
        </p:txBody>
      </p:sp>
      <p:sp>
        <p:nvSpPr>
          <p:cNvPr id="21" name="Text 15"/>
          <p:cNvSpPr/>
          <p:nvPr/>
        </p:nvSpPr>
        <p:spPr>
          <a:xfrm>
            <a:off x="6111478" y="3162895"/>
            <a:ext cx="2007394" cy="151805"/>
          </a:xfrm>
          <a:prstGeom prst="rect">
            <a:avLst/>
          </a:prstGeom>
          <a:noFill/>
          <a:ln/>
        </p:spPr>
        <p:txBody>
          <a:bodyPr wrap="none" lIns="0" tIns="0" rIns="0" bIns="0" rtlCol="0" anchor="t">
            <a:spAutoFit/>
          </a:bodyPr>
          <a:lstStyle/>
          <a:p>
            <a:pPr marL="0" indent="0" algn="ctr">
              <a:lnSpc>
                <a:spcPts val="1200"/>
              </a:lnSpc>
              <a:buNone/>
            </a:pPr>
            <a:r>
              <a:rPr lang="en-US" sz="942" kern="0" spc="2" dirty="0">
                <a:solidFill>
                  <a:srgbClr val="0066CC"/>
                </a:solidFill>
                <a:latin typeface="Roboto" pitchFamily="34" charset="0"/>
                <a:ea typeface="Roboto" pitchFamily="34" charset="-122"/>
                <a:cs typeface="Roboto" pitchFamily="34" charset="-120"/>
              </a:rPr>
              <a:t>INSTRUTOR DE AUTOMAÇÃO</a:t>
            </a:r>
            <a:endParaRPr lang="en-US" sz="942" dirty="0"/>
          </a:p>
        </p:txBody>
      </p:sp>
      <p:pic>
        <p:nvPicPr>
          <p:cNvPr id="22" name="Image 4" descr="preencoded.png"/>
          <p:cNvPicPr>
            <a:picLocks noChangeAspect="1"/>
          </p:cNvPicPr>
          <p:nvPr/>
        </p:nvPicPr>
        <p:blipFill>
          <a:blip r:embed="rId6"/>
          <a:stretch>
            <a:fillRect/>
          </a:stretch>
        </p:blipFill>
        <p:spPr>
          <a:xfrm>
            <a:off x="6421564" y="1242341"/>
            <a:ext cx="1382567" cy="1382567"/>
          </a:xfrm>
          <a:prstGeom prst="rect">
            <a:avLst/>
          </a:prstGeom>
        </p:spPr>
      </p:pic>
      <p:pic>
        <p:nvPicPr>
          <p:cNvPr id="23" name="Picture 13">
            <a:extLst>
              <a:ext uri="{FF2B5EF4-FFF2-40B4-BE49-F238E27FC236}">
                <a16:creationId xmlns:a16="http://schemas.microsoft.com/office/drawing/2014/main" id="{04726656-2F72-A599-70F7-BD9ECC327CCE}"/>
              </a:ext>
            </a:extLst>
          </p:cNvPr>
          <p:cNvPicPr>
            <a:picLocks noChangeAspect="1"/>
          </p:cNvPicPr>
          <p:nvPr/>
        </p:nvPicPr>
        <p:blipFill>
          <a:blip r:embed="rId7"/>
          <a:stretch>
            <a:fillRect/>
          </a:stretch>
        </p:blipFill>
        <p:spPr>
          <a:xfrm>
            <a:off x="8086948" y="4619618"/>
            <a:ext cx="968262" cy="41496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p:cNvSpPr/>
          <p:nvPr/>
        </p:nvSpPr>
        <p:spPr>
          <a:xfrm>
            <a:off x="0" y="0"/>
            <a:ext cx="9144000" cy="642938"/>
          </a:xfrm>
          <a:prstGeom prst="rect">
            <a:avLst/>
          </a:prstGeom>
          <a:solidFill>
            <a:srgbClr val="004A99"/>
          </a:solidFill>
          <a:ln/>
        </p:spPr>
        <p:txBody>
          <a:bodyPr/>
          <a:lstStyle/>
          <a:p>
            <a:endParaRPr lang="pt-BR"/>
          </a:p>
        </p:txBody>
      </p:sp>
      <p:sp>
        <p:nvSpPr>
          <p:cNvPr id="4" name="Text 1"/>
          <p:cNvSpPr/>
          <p:nvPr/>
        </p:nvSpPr>
        <p:spPr>
          <a:xfrm>
            <a:off x="428625" y="170557"/>
            <a:ext cx="6529031" cy="291362"/>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FFFF"/>
                </a:solidFill>
                <a:latin typeface="Roboto" pitchFamily="34" charset="0"/>
                <a:ea typeface="Roboto" pitchFamily="34" charset="-122"/>
                <a:cs typeface="Roboto" pitchFamily="34" charset="-120"/>
              </a:rPr>
              <a:t>Estrutura do SENAI/RJ: </a:t>
            </a:r>
            <a:r>
              <a:rPr lang="en-US" sz="1808" b="1" dirty="0" err="1">
                <a:solidFill>
                  <a:srgbClr val="FFFFFF"/>
                </a:solidFill>
                <a:latin typeface="Roboto" pitchFamily="34" charset="0"/>
                <a:ea typeface="Roboto" pitchFamily="34" charset="-122"/>
                <a:cs typeface="Roboto" pitchFamily="34" charset="-120"/>
              </a:rPr>
              <a:t>Bancadas</a:t>
            </a:r>
            <a:r>
              <a:rPr lang="en-US" sz="1808" b="1" dirty="0">
                <a:solidFill>
                  <a:srgbClr val="FFFFFF"/>
                </a:solidFill>
                <a:latin typeface="Roboto" pitchFamily="34" charset="0"/>
                <a:ea typeface="Roboto" pitchFamily="34" charset="-122"/>
                <a:cs typeface="Roboto" pitchFamily="34" charset="-120"/>
              </a:rPr>
              <a:t> com CLPs Siemens S7-1200 </a:t>
            </a:r>
            <a:endParaRPr lang="en-US" sz="1808" dirty="0"/>
          </a:p>
        </p:txBody>
      </p:sp>
      <p:pic>
        <p:nvPicPr>
          <p:cNvPr id="23" name="Picture 13">
            <a:extLst>
              <a:ext uri="{FF2B5EF4-FFF2-40B4-BE49-F238E27FC236}">
                <a16:creationId xmlns:a16="http://schemas.microsoft.com/office/drawing/2014/main" id="{04726656-2F72-A599-70F7-BD9ECC327CCE}"/>
              </a:ext>
            </a:extLst>
          </p:cNvPr>
          <p:cNvPicPr>
            <a:picLocks noChangeAspect="1"/>
          </p:cNvPicPr>
          <p:nvPr/>
        </p:nvPicPr>
        <p:blipFill>
          <a:blip r:embed="rId3"/>
          <a:stretch>
            <a:fillRect/>
          </a:stretch>
        </p:blipFill>
        <p:spPr>
          <a:xfrm>
            <a:off x="8086948" y="4619618"/>
            <a:ext cx="968262" cy="414969"/>
          </a:xfrm>
          <a:prstGeom prst="rect">
            <a:avLst/>
          </a:prstGeom>
        </p:spPr>
      </p:pic>
      <p:pic>
        <p:nvPicPr>
          <p:cNvPr id="25" name="Picture 24">
            <a:extLst>
              <a:ext uri="{FF2B5EF4-FFF2-40B4-BE49-F238E27FC236}">
                <a16:creationId xmlns:a16="http://schemas.microsoft.com/office/drawing/2014/main" id="{D34ED75E-2C37-2511-6028-E83D64D41666}"/>
              </a:ext>
            </a:extLst>
          </p:cNvPr>
          <p:cNvPicPr>
            <a:picLocks noChangeAspect="1"/>
          </p:cNvPicPr>
          <p:nvPr/>
        </p:nvPicPr>
        <p:blipFill>
          <a:blip r:embed="rId4"/>
          <a:stretch>
            <a:fillRect/>
          </a:stretch>
        </p:blipFill>
        <p:spPr>
          <a:xfrm>
            <a:off x="818097" y="889899"/>
            <a:ext cx="3352800" cy="1884114"/>
          </a:xfrm>
          <a:prstGeom prst="rect">
            <a:avLst/>
          </a:prstGeom>
        </p:spPr>
      </p:pic>
      <p:pic>
        <p:nvPicPr>
          <p:cNvPr id="27" name="Picture 26">
            <a:extLst>
              <a:ext uri="{FF2B5EF4-FFF2-40B4-BE49-F238E27FC236}">
                <a16:creationId xmlns:a16="http://schemas.microsoft.com/office/drawing/2014/main" id="{BC01528A-1E0D-655F-54D2-46C7D027676D}"/>
              </a:ext>
            </a:extLst>
          </p:cNvPr>
          <p:cNvPicPr>
            <a:picLocks noChangeAspect="1"/>
          </p:cNvPicPr>
          <p:nvPr/>
        </p:nvPicPr>
        <p:blipFill>
          <a:blip r:embed="rId5"/>
          <a:stretch>
            <a:fillRect/>
          </a:stretch>
        </p:blipFill>
        <p:spPr>
          <a:xfrm>
            <a:off x="4233339" y="2821146"/>
            <a:ext cx="3352800" cy="1884114"/>
          </a:xfrm>
          <a:prstGeom prst="rect">
            <a:avLst/>
          </a:prstGeom>
        </p:spPr>
      </p:pic>
      <p:pic>
        <p:nvPicPr>
          <p:cNvPr id="29" name="Picture 28">
            <a:extLst>
              <a:ext uri="{FF2B5EF4-FFF2-40B4-BE49-F238E27FC236}">
                <a16:creationId xmlns:a16="http://schemas.microsoft.com/office/drawing/2014/main" id="{FE90AB0B-84F9-98E2-24DD-AC01C5492C38}"/>
              </a:ext>
            </a:extLst>
          </p:cNvPr>
          <p:cNvPicPr>
            <a:picLocks noChangeAspect="1"/>
          </p:cNvPicPr>
          <p:nvPr/>
        </p:nvPicPr>
        <p:blipFill>
          <a:blip r:embed="rId6"/>
          <a:stretch>
            <a:fillRect/>
          </a:stretch>
        </p:blipFill>
        <p:spPr>
          <a:xfrm>
            <a:off x="818097" y="2821146"/>
            <a:ext cx="3352800" cy="1884114"/>
          </a:xfrm>
          <a:prstGeom prst="rect">
            <a:avLst/>
          </a:prstGeom>
        </p:spPr>
      </p:pic>
      <p:pic>
        <p:nvPicPr>
          <p:cNvPr id="31" name="Picture 30">
            <a:extLst>
              <a:ext uri="{FF2B5EF4-FFF2-40B4-BE49-F238E27FC236}">
                <a16:creationId xmlns:a16="http://schemas.microsoft.com/office/drawing/2014/main" id="{E5AECD78-F0B5-2093-702D-28F26C7498E5}"/>
              </a:ext>
            </a:extLst>
          </p:cNvPr>
          <p:cNvPicPr>
            <a:picLocks noChangeAspect="1"/>
          </p:cNvPicPr>
          <p:nvPr/>
        </p:nvPicPr>
        <p:blipFill>
          <a:blip r:embed="rId7"/>
          <a:stretch>
            <a:fillRect/>
          </a:stretch>
        </p:blipFill>
        <p:spPr>
          <a:xfrm>
            <a:off x="4233339" y="889899"/>
            <a:ext cx="3352800" cy="1884114"/>
          </a:xfrm>
          <a:prstGeom prst="rect">
            <a:avLst/>
          </a:prstGeom>
        </p:spPr>
      </p:pic>
    </p:spTree>
    <p:extLst>
      <p:ext uri="{BB962C8B-B14F-4D97-AF65-F5344CB8AC3E}">
        <p14:creationId xmlns:p14="http://schemas.microsoft.com/office/powerpoint/2010/main" val="3203034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714375"/>
          </a:xfrm>
          <a:prstGeom prst="rect">
            <a:avLst/>
          </a:prstGeom>
          <a:solidFill>
            <a:srgbClr val="004A99"/>
          </a:solidFill>
          <a:ln/>
        </p:spPr>
        <p:txBody>
          <a:bodyPr/>
          <a:lstStyle/>
          <a:p>
            <a:endParaRPr lang="pt-BR" dirty="0"/>
          </a:p>
        </p:txBody>
      </p:sp>
      <p:sp>
        <p:nvSpPr>
          <p:cNvPr id="4" name="Text 1"/>
          <p:cNvSpPr/>
          <p:nvPr/>
        </p:nvSpPr>
        <p:spPr>
          <a:xfrm>
            <a:off x="428625" y="198239"/>
            <a:ext cx="4328108" cy="314060"/>
          </a:xfrm>
          <a:prstGeom prst="rect">
            <a:avLst/>
          </a:prstGeom>
          <a:noFill/>
          <a:ln/>
        </p:spPr>
        <p:txBody>
          <a:bodyPr wrap="none" lIns="0" tIns="0" rIns="0" bIns="0" rtlCol="0" anchor="t">
            <a:spAutoFit/>
          </a:bodyPr>
          <a:lstStyle/>
          <a:p>
            <a:pPr marL="0" indent="0" algn="l">
              <a:lnSpc>
                <a:spcPts val="2600"/>
              </a:lnSpc>
              <a:buNone/>
            </a:pPr>
            <a:r>
              <a:rPr lang="pt-BR" sz="1912" b="1" dirty="0">
                <a:solidFill>
                  <a:srgbClr val="FFFFFF"/>
                </a:solidFill>
                <a:latin typeface="Roboto" pitchFamily="34" charset="0"/>
                <a:ea typeface="Roboto" pitchFamily="34" charset="-122"/>
                <a:cs typeface="Roboto" pitchFamily="34" charset="-120"/>
              </a:rPr>
              <a:t>Conteúdo e objetivos de Aprendizagem</a:t>
            </a:r>
            <a:endParaRPr lang="pt-BR" sz="1912" dirty="0"/>
          </a:p>
        </p:txBody>
      </p:sp>
      <p:sp>
        <p:nvSpPr>
          <p:cNvPr id="5" name="Shape 2"/>
          <p:cNvSpPr/>
          <p:nvPr/>
        </p:nvSpPr>
        <p:spPr>
          <a:xfrm>
            <a:off x="428625" y="928688"/>
            <a:ext cx="4071938" cy="571500"/>
          </a:xfrm>
          <a:prstGeom prst="rect">
            <a:avLst/>
          </a:prstGeom>
          <a:solidFill>
            <a:srgbClr val="F8F9FA"/>
          </a:solidFill>
          <a:ln/>
        </p:spPr>
        <p:txBody>
          <a:bodyPr/>
          <a:lstStyle/>
          <a:p>
            <a:endParaRPr lang="pt-BR" dirty="0"/>
          </a:p>
        </p:txBody>
      </p:sp>
      <p:sp>
        <p:nvSpPr>
          <p:cNvPr id="6" name="Shape 3"/>
          <p:cNvSpPr/>
          <p:nvPr/>
        </p:nvSpPr>
        <p:spPr>
          <a:xfrm>
            <a:off x="428625" y="928688"/>
            <a:ext cx="35719" cy="571500"/>
          </a:xfrm>
          <a:prstGeom prst="rect">
            <a:avLst/>
          </a:prstGeom>
          <a:solidFill>
            <a:srgbClr val="0066CC"/>
          </a:solidFill>
          <a:ln/>
        </p:spPr>
        <p:txBody>
          <a:bodyPr/>
          <a:lstStyle/>
          <a:p>
            <a:endParaRPr lang="pt-BR"/>
          </a:p>
        </p:txBody>
      </p:sp>
      <p:sp>
        <p:nvSpPr>
          <p:cNvPr id="7" name="Shape 4"/>
          <p:cNvSpPr/>
          <p:nvPr/>
        </p:nvSpPr>
        <p:spPr>
          <a:xfrm>
            <a:off x="571500" y="1000125"/>
            <a:ext cx="285750" cy="285750"/>
          </a:xfrm>
          <a:prstGeom prst="rect">
            <a:avLst/>
          </a:prstGeom>
          <a:solidFill>
            <a:srgbClr val="0066CC"/>
          </a:solidFill>
          <a:ln/>
        </p:spPr>
        <p:txBody>
          <a:bodyPr/>
          <a:lstStyle/>
          <a:p>
            <a:endParaRPr lang="pt-BR"/>
          </a:p>
        </p:txBody>
      </p:sp>
      <p:sp>
        <p:nvSpPr>
          <p:cNvPr id="8" name="Text 5"/>
          <p:cNvSpPr/>
          <p:nvPr/>
        </p:nvSpPr>
        <p:spPr>
          <a:xfrm>
            <a:off x="571500" y="1000125"/>
            <a:ext cx="285750" cy="285750"/>
          </a:xfrm>
          <a:prstGeom prst="rect">
            <a:avLst/>
          </a:prstGeom>
          <a:noFill/>
          <a:ln/>
        </p:spPr>
        <p:txBody>
          <a:bodyPr wrap="square" lIns="0" tIns="0" rIns="0" bIns="0" rtlCol="0" anchor="ctr">
            <a:spAutoFit/>
          </a:bodyPr>
          <a:lstStyle/>
          <a:p>
            <a:pPr marL="0" indent="0" algn="ctr">
              <a:lnSpc>
                <a:spcPts val="1400"/>
              </a:lnSpc>
              <a:buNone/>
            </a:pPr>
            <a:r>
              <a:rPr lang="en-US" sz="987" b="1" dirty="0">
                <a:solidFill>
                  <a:srgbClr val="FFFFFF"/>
                </a:solidFill>
                <a:latin typeface="Roboto" pitchFamily="34" charset="0"/>
                <a:ea typeface="Roboto" pitchFamily="34" charset="-122"/>
                <a:cs typeface="Roboto" pitchFamily="34" charset="-120"/>
              </a:rPr>
              <a:t>1</a:t>
            </a:r>
            <a:endParaRPr lang="en-US" sz="987" dirty="0"/>
          </a:p>
        </p:txBody>
      </p:sp>
      <p:sp>
        <p:nvSpPr>
          <p:cNvPr id="9" name="Text 6"/>
          <p:cNvSpPr/>
          <p:nvPr/>
        </p:nvSpPr>
        <p:spPr>
          <a:xfrm>
            <a:off x="964406" y="1000125"/>
            <a:ext cx="3536156" cy="160734"/>
          </a:xfrm>
          <a:prstGeom prst="rect">
            <a:avLst/>
          </a:prstGeom>
          <a:noFill/>
          <a:ln/>
        </p:spPr>
        <p:txBody>
          <a:bodyPr wrap="none" lIns="0" tIns="0" rIns="0" bIns="0" rtlCol="0" anchor="t">
            <a:spAutoFit/>
          </a:bodyPr>
          <a:lstStyle/>
          <a:p>
            <a:pPr marL="0" indent="0" algn="l">
              <a:lnSpc>
                <a:spcPts val="1300"/>
              </a:lnSpc>
              <a:buNone/>
            </a:pPr>
            <a:r>
              <a:rPr lang="en-US" sz="780" dirty="0">
                <a:solidFill>
                  <a:srgbClr val="2C3E50"/>
                </a:solidFill>
                <a:latin typeface="Roboto" pitchFamily="34" charset="0"/>
                <a:ea typeface="Roboto" pitchFamily="34" charset="-122"/>
                <a:cs typeface="Roboto" pitchFamily="34" charset="-120"/>
              </a:rPr>
              <a:t>Compreender a </a:t>
            </a:r>
            <a:r>
              <a:rPr lang="en-US" sz="734" b="1" dirty="0">
                <a:solidFill>
                  <a:srgbClr val="0066CC"/>
                </a:solidFill>
                <a:latin typeface="Roboto" pitchFamily="34" charset="0"/>
                <a:ea typeface="Roboto" pitchFamily="34" charset="-122"/>
                <a:cs typeface="Roboto" pitchFamily="34" charset="-120"/>
              </a:rPr>
              <a:t>Pirâmide da Automação</a:t>
            </a:r>
            <a:r>
              <a:rPr lang="en-US" sz="780" dirty="0">
                <a:solidFill>
                  <a:srgbClr val="2C3E50"/>
                </a:solidFill>
                <a:latin typeface="Roboto" pitchFamily="34" charset="0"/>
                <a:ea typeface="Roboto" pitchFamily="34" charset="-122"/>
                <a:cs typeface="Roboto" pitchFamily="34" charset="-120"/>
              </a:rPr>
              <a:t> e a integração entre seus níveis.</a:t>
            </a:r>
            <a:endParaRPr lang="en-US" sz="780" dirty="0"/>
          </a:p>
        </p:txBody>
      </p:sp>
      <p:sp>
        <p:nvSpPr>
          <p:cNvPr id="10" name="Shape 7"/>
          <p:cNvSpPr/>
          <p:nvPr/>
        </p:nvSpPr>
        <p:spPr>
          <a:xfrm>
            <a:off x="4643438" y="928688"/>
            <a:ext cx="4071938" cy="571500"/>
          </a:xfrm>
          <a:prstGeom prst="rect">
            <a:avLst/>
          </a:prstGeom>
          <a:solidFill>
            <a:srgbClr val="F8F9FA"/>
          </a:solidFill>
          <a:ln/>
        </p:spPr>
        <p:txBody>
          <a:bodyPr/>
          <a:lstStyle/>
          <a:p>
            <a:endParaRPr lang="pt-BR"/>
          </a:p>
        </p:txBody>
      </p:sp>
      <p:sp>
        <p:nvSpPr>
          <p:cNvPr id="11" name="Shape 8"/>
          <p:cNvSpPr/>
          <p:nvPr/>
        </p:nvSpPr>
        <p:spPr>
          <a:xfrm>
            <a:off x="4643438" y="928688"/>
            <a:ext cx="35719" cy="571500"/>
          </a:xfrm>
          <a:prstGeom prst="rect">
            <a:avLst/>
          </a:prstGeom>
          <a:solidFill>
            <a:srgbClr val="0066CC"/>
          </a:solidFill>
          <a:ln/>
        </p:spPr>
        <p:txBody>
          <a:bodyPr/>
          <a:lstStyle/>
          <a:p>
            <a:endParaRPr lang="pt-BR"/>
          </a:p>
        </p:txBody>
      </p:sp>
      <p:sp>
        <p:nvSpPr>
          <p:cNvPr id="12" name="Shape 9"/>
          <p:cNvSpPr/>
          <p:nvPr/>
        </p:nvSpPr>
        <p:spPr>
          <a:xfrm>
            <a:off x="4786313" y="1000125"/>
            <a:ext cx="285750" cy="285750"/>
          </a:xfrm>
          <a:prstGeom prst="rect">
            <a:avLst/>
          </a:prstGeom>
          <a:solidFill>
            <a:srgbClr val="0066CC"/>
          </a:solidFill>
          <a:ln/>
        </p:spPr>
        <p:txBody>
          <a:bodyPr/>
          <a:lstStyle/>
          <a:p>
            <a:endParaRPr lang="pt-BR"/>
          </a:p>
        </p:txBody>
      </p:sp>
      <p:sp>
        <p:nvSpPr>
          <p:cNvPr id="13" name="Text 10"/>
          <p:cNvSpPr/>
          <p:nvPr/>
        </p:nvSpPr>
        <p:spPr>
          <a:xfrm>
            <a:off x="4786313" y="1000125"/>
            <a:ext cx="285750" cy="285750"/>
          </a:xfrm>
          <a:prstGeom prst="rect">
            <a:avLst/>
          </a:prstGeom>
          <a:noFill/>
          <a:ln/>
        </p:spPr>
        <p:txBody>
          <a:bodyPr wrap="square" lIns="0" tIns="0" rIns="0" bIns="0" rtlCol="0" anchor="ctr">
            <a:spAutoFit/>
          </a:bodyPr>
          <a:lstStyle/>
          <a:p>
            <a:pPr marL="0" indent="0" algn="ctr">
              <a:lnSpc>
                <a:spcPts val="1400"/>
              </a:lnSpc>
              <a:buNone/>
            </a:pPr>
            <a:r>
              <a:rPr lang="en-US" sz="987" b="1" dirty="0">
                <a:solidFill>
                  <a:srgbClr val="FFFFFF"/>
                </a:solidFill>
                <a:latin typeface="Roboto" pitchFamily="34" charset="0"/>
                <a:ea typeface="Roboto" pitchFamily="34" charset="-122"/>
                <a:cs typeface="Roboto" pitchFamily="34" charset="-120"/>
              </a:rPr>
              <a:t>2</a:t>
            </a:r>
            <a:endParaRPr lang="en-US" sz="987" dirty="0"/>
          </a:p>
        </p:txBody>
      </p:sp>
      <p:sp>
        <p:nvSpPr>
          <p:cNvPr id="14" name="Text 11"/>
          <p:cNvSpPr/>
          <p:nvPr/>
        </p:nvSpPr>
        <p:spPr>
          <a:xfrm>
            <a:off x="5179219" y="1000125"/>
            <a:ext cx="3536156"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2C3E50"/>
                </a:solidFill>
                <a:latin typeface="Roboto" pitchFamily="34" charset="0"/>
                <a:ea typeface="Roboto" pitchFamily="34" charset="-122"/>
                <a:cs typeface="Roboto" pitchFamily="34" charset="-120"/>
              </a:rPr>
              <a:t>Identificar </a:t>
            </a:r>
            <a:r>
              <a:rPr lang="en-US" sz="734" b="1" dirty="0">
                <a:solidFill>
                  <a:srgbClr val="0066CC"/>
                </a:solidFill>
                <a:latin typeface="Roboto" pitchFamily="34" charset="0"/>
                <a:ea typeface="Roboto" pitchFamily="34" charset="-122"/>
                <a:cs typeface="Roboto" pitchFamily="34" charset="-120"/>
              </a:rPr>
              <a:t>sensores e tipos de sinais</a:t>
            </a:r>
            <a:r>
              <a:rPr lang="en-US" sz="780" dirty="0">
                <a:solidFill>
                  <a:srgbClr val="2C3E50"/>
                </a:solidFill>
                <a:latin typeface="Roboto" pitchFamily="34" charset="0"/>
                <a:ea typeface="Roboto" pitchFamily="34" charset="-122"/>
                <a:cs typeface="Roboto" pitchFamily="34" charset="-120"/>
              </a:rPr>
              <a:t> (analógicos e digitais) para aquisição de dados.</a:t>
            </a:r>
            <a:endParaRPr lang="en-US" sz="780" dirty="0"/>
          </a:p>
        </p:txBody>
      </p:sp>
      <p:sp>
        <p:nvSpPr>
          <p:cNvPr id="15" name="Shape 12"/>
          <p:cNvSpPr/>
          <p:nvPr/>
        </p:nvSpPr>
        <p:spPr>
          <a:xfrm>
            <a:off x="428625" y="1643063"/>
            <a:ext cx="4071938" cy="571500"/>
          </a:xfrm>
          <a:prstGeom prst="rect">
            <a:avLst/>
          </a:prstGeom>
          <a:solidFill>
            <a:srgbClr val="F8F9FA"/>
          </a:solidFill>
          <a:ln/>
        </p:spPr>
        <p:txBody>
          <a:bodyPr/>
          <a:lstStyle/>
          <a:p>
            <a:endParaRPr lang="pt-BR"/>
          </a:p>
        </p:txBody>
      </p:sp>
      <p:sp>
        <p:nvSpPr>
          <p:cNvPr id="16" name="Shape 13"/>
          <p:cNvSpPr/>
          <p:nvPr/>
        </p:nvSpPr>
        <p:spPr>
          <a:xfrm>
            <a:off x="428625" y="1643063"/>
            <a:ext cx="35719" cy="571500"/>
          </a:xfrm>
          <a:prstGeom prst="rect">
            <a:avLst/>
          </a:prstGeom>
          <a:solidFill>
            <a:srgbClr val="0066CC"/>
          </a:solidFill>
          <a:ln/>
        </p:spPr>
        <p:txBody>
          <a:bodyPr/>
          <a:lstStyle/>
          <a:p>
            <a:endParaRPr lang="pt-BR"/>
          </a:p>
        </p:txBody>
      </p:sp>
      <p:sp>
        <p:nvSpPr>
          <p:cNvPr id="17" name="Shape 14"/>
          <p:cNvSpPr/>
          <p:nvPr/>
        </p:nvSpPr>
        <p:spPr>
          <a:xfrm>
            <a:off x="571500" y="1714500"/>
            <a:ext cx="285750" cy="285750"/>
          </a:xfrm>
          <a:prstGeom prst="rect">
            <a:avLst/>
          </a:prstGeom>
          <a:solidFill>
            <a:srgbClr val="0066CC"/>
          </a:solidFill>
          <a:ln/>
        </p:spPr>
        <p:txBody>
          <a:bodyPr/>
          <a:lstStyle/>
          <a:p>
            <a:endParaRPr lang="pt-BR"/>
          </a:p>
        </p:txBody>
      </p:sp>
      <p:sp>
        <p:nvSpPr>
          <p:cNvPr id="18" name="Text 15"/>
          <p:cNvSpPr/>
          <p:nvPr/>
        </p:nvSpPr>
        <p:spPr>
          <a:xfrm>
            <a:off x="571500" y="1714500"/>
            <a:ext cx="285750" cy="285750"/>
          </a:xfrm>
          <a:prstGeom prst="rect">
            <a:avLst/>
          </a:prstGeom>
          <a:noFill/>
          <a:ln/>
        </p:spPr>
        <p:txBody>
          <a:bodyPr wrap="square" lIns="0" tIns="0" rIns="0" bIns="0" rtlCol="0" anchor="ctr">
            <a:spAutoFit/>
          </a:bodyPr>
          <a:lstStyle/>
          <a:p>
            <a:pPr marL="0" indent="0" algn="ctr">
              <a:lnSpc>
                <a:spcPts val="1400"/>
              </a:lnSpc>
              <a:buNone/>
            </a:pPr>
            <a:r>
              <a:rPr lang="en-US" sz="987" b="1" dirty="0">
                <a:solidFill>
                  <a:srgbClr val="FFFFFF"/>
                </a:solidFill>
                <a:latin typeface="Roboto" pitchFamily="34" charset="0"/>
                <a:ea typeface="Roboto" pitchFamily="34" charset="-122"/>
                <a:cs typeface="Roboto" pitchFamily="34" charset="-120"/>
              </a:rPr>
              <a:t>3</a:t>
            </a:r>
            <a:endParaRPr lang="en-US" sz="987" dirty="0"/>
          </a:p>
        </p:txBody>
      </p:sp>
      <p:sp>
        <p:nvSpPr>
          <p:cNvPr id="19" name="Text 16"/>
          <p:cNvSpPr/>
          <p:nvPr/>
        </p:nvSpPr>
        <p:spPr>
          <a:xfrm>
            <a:off x="964406" y="1714500"/>
            <a:ext cx="3536156" cy="160734"/>
          </a:xfrm>
          <a:prstGeom prst="rect">
            <a:avLst/>
          </a:prstGeom>
          <a:noFill/>
          <a:ln/>
        </p:spPr>
        <p:txBody>
          <a:bodyPr wrap="none" lIns="0" tIns="0" rIns="0" bIns="0" rtlCol="0" anchor="t">
            <a:spAutoFit/>
          </a:bodyPr>
          <a:lstStyle/>
          <a:p>
            <a:pPr marL="0" indent="0" algn="l">
              <a:lnSpc>
                <a:spcPts val="1300"/>
              </a:lnSpc>
              <a:buNone/>
            </a:pPr>
            <a:r>
              <a:rPr lang="en-US" sz="780" dirty="0">
                <a:solidFill>
                  <a:srgbClr val="2C3E50"/>
                </a:solidFill>
                <a:latin typeface="Roboto" pitchFamily="34" charset="0"/>
                <a:ea typeface="Roboto" pitchFamily="34" charset="-122"/>
                <a:cs typeface="Roboto" pitchFamily="34" charset="-120"/>
              </a:rPr>
              <a:t>Aplicar conceitos de </a:t>
            </a:r>
            <a:r>
              <a:rPr lang="en-US" sz="734" b="1" dirty="0">
                <a:solidFill>
                  <a:srgbClr val="0066CC"/>
                </a:solidFill>
                <a:latin typeface="Roboto" pitchFamily="34" charset="0"/>
                <a:ea typeface="Roboto" pitchFamily="34" charset="-122"/>
                <a:cs typeface="Roboto" pitchFamily="34" charset="-120"/>
              </a:rPr>
              <a:t>controle com CLP</a:t>
            </a:r>
            <a:r>
              <a:rPr lang="en-US" sz="780" dirty="0">
                <a:solidFill>
                  <a:srgbClr val="2C3E50"/>
                </a:solidFill>
                <a:latin typeface="Roboto" pitchFamily="34" charset="0"/>
                <a:ea typeface="Roboto" pitchFamily="34" charset="-122"/>
                <a:cs typeface="Roboto" pitchFamily="34" charset="-120"/>
              </a:rPr>
              <a:t> (Entradas/Saídas e Lógica).</a:t>
            </a:r>
            <a:endParaRPr lang="en-US" sz="780" dirty="0"/>
          </a:p>
        </p:txBody>
      </p:sp>
      <p:sp>
        <p:nvSpPr>
          <p:cNvPr id="20" name="Shape 17"/>
          <p:cNvSpPr/>
          <p:nvPr/>
        </p:nvSpPr>
        <p:spPr>
          <a:xfrm>
            <a:off x="4643438" y="1643063"/>
            <a:ext cx="4071938" cy="571500"/>
          </a:xfrm>
          <a:prstGeom prst="rect">
            <a:avLst/>
          </a:prstGeom>
          <a:solidFill>
            <a:srgbClr val="F8F9FA"/>
          </a:solidFill>
          <a:ln/>
        </p:spPr>
        <p:txBody>
          <a:bodyPr/>
          <a:lstStyle/>
          <a:p>
            <a:endParaRPr lang="pt-BR"/>
          </a:p>
        </p:txBody>
      </p:sp>
      <p:sp>
        <p:nvSpPr>
          <p:cNvPr id="21" name="Shape 18"/>
          <p:cNvSpPr/>
          <p:nvPr/>
        </p:nvSpPr>
        <p:spPr>
          <a:xfrm>
            <a:off x="4643438" y="1643063"/>
            <a:ext cx="35719" cy="571500"/>
          </a:xfrm>
          <a:prstGeom prst="rect">
            <a:avLst/>
          </a:prstGeom>
          <a:solidFill>
            <a:srgbClr val="0066CC"/>
          </a:solidFill>
          <a:ln/>
        </p:spPr>
        <p:txBody>
          <a:bodyPr/>
          <a:lstStyle/>
          <a:p>
            <a:endParaRPr lang="pt-BR"/>
          </a:p>
        </p:txBody>
      </p:sp>
      <p:sp>
        <p:nvSpPr>
          <p:cNvPr id="22" name="Shape 19"/>
          <p:cNvSpPr/>
          <p:nvPr/>
        </p:nvSpPr>
        <p:spPr>
          <a:xfrm>
            <a:off x="4786313" y="1714500"/>
            <a:ext cx="285750" cy="285750"/>
          </a:xfrm>
          <a:prstGeom prst="rect">
            <a:avLst/>
          </a:prstGeom>
          <a:solidFill>
            <a:srgbClr val="0066CC"/>
          </a:solidFill>
          <a:ln/>
        </p:spPr>
        <p:txBody>
          <a:bodyPr/>
          <a:lstStyle/>
          <a:p>
            <a:endParaRPr lang="pt-BR"/>
          </a:p>
        </p:txBody>
      </p:sp>
      <p:sp>
        <p:nvSpPr>
          <p:cNvPr id="23" name="Text 20"/>
          <p:cNvSpPr/>
          <p:nvPr/>
        </p:nvSpPr>
        <p:spPr>
          <a:xfrm>
            <a:off x="4786313" y="1714500"/>
            <a:ext cx="285750" cy="285750"/>
          </a:xfrm>
          <a:prstGeom prst="rect">
            <a:avLst/>
          </a:prstGeom>
          <a:noFill/>
          <a:ln/>
        </p:spPr>
        <p:txBody>
          <a:bodyPr wrap="square" lIns="0" tIns="0" rIns="0" bIns="0" rtlCol="0" anchor="ctr">
            <a:spAutoFit/>
          </a:bodyPr>
          <a:lstStyle/>
          <a:p>
            <a:pPr marL="0" indent="0" algn="ctr">
              <a:lnSpc>
                <a:spcPts val="1400"/>
              </a:lnSpc>
              <a:buNone/>
            </a:pPr>
            <a:r>
              <a:rPr lang="en-US" sz="987" b="1" dirty="0">
                <a:solidFill>
                  <a:srgbClr val="FFFFFF"/>
                </a:solidFill>
                <a:latin typeface="Roboto" pitchFamily="34" charset="0"/>
                <a:ea typeface="Roboto" pitchFamily="34" charset="-122"/>
                <a:cs typeface="Roboto" pitchFamily="34" charset="-120"/>
              </a:rPr>
              <a:t>4</a:t>
            </a:r>
            <a:endParaRPr lang="en-US" sz="987" dirty="0"/>
          </a:p>
        </p:txBody>
      </p:sp>
      <p:sp>
        <p:nvSpPr>
          <p:cNvPr id="24" name="Text 21"/>
          <p:cNvSpPr/>
          <p:nvPr/>
        </p:nvSpPr>
        <p:spPr>
          <a:xfrm>
            <a:off x="5179219" y="1714500"/>
            <a:ext cx="3536156" cy="160734"/>
          </a:xfrm>
          <a:prstGeom prst="rect">
            <a:avLst/>
          </a:prstGeom>
          <a:noFill/>
          <a:ln/>
        </p:spPr>
        <p:txBody>
          <a:bodyPr wrap="none" lIns="0" tIns="0" rIns="0" bIns="0" rtlCol="0" anchor="t">
            <a:spAutoFit/>
          </a:bodyPr>
          <a:lstStyle/>
          <a:p>
            <a:pPr marL="0" indent="0" algn="l">
              <a:lnSpc>
                <a:spcPts val="1300"/>
              </a:lnSpc>
              <a:buNone/>
            </a:pPr>
            <a:r>
              <a:rPr lang="en-US" sz="780" dirty="0">
                <a:solidFill>
                  <a:srgbClr val="2C3E50"/>
                </a:solidFill>
                <a:latin typeface="Roboto" pitchFamily="34" charset="0"/>
                <a:ea typeface="Roboto" pitchFamily="34" charset="-122"/>
                <a:cs typeface="Roboto" pitchFamily="34" charset="-120"/>
              </a:rPr>
              <a:t>Conhecer </a:t>
            </a:r>
            <a:r>
              <a:rPr lang="en-US" sz="734" b="1" dirty="0">
                <a:solidFill>
                  <a:srgbClr val="0066CC"/>
                </a:solidFill>
                <a:latin typeface="Roboto" pitchFamily="34" charset="0"/>
                <a:ea typeface="Roboto" pitchFamily="34" charset="-122"/>
                <a:cs typeface="Roboto" pitchFamily="34" charset="-120"/>
              </a:rPr>
              <a:t>topologias de rede</a:t>
            </a:r>
            <a:r>
              <a:rPr lang="en-US" sz="780" dirty="0">
                <a:solidFill>
                  <a:srgbClr val="2C3E50"/>
                </a:solidFill>
                <a:latin typeface="Roboto" pitchFamily="34" charset="0"/>
                <a:ea typeface="Roboto" pitchFamily="34" charset="-122"/>
                <a:cs typeface="Roboto" pitchFamily="34" charset="-120"/>
              </a:rPr>
              <a:t> e modelos de comunicação industrial.</a:t>
            </a:r>
            <a:endParaRPr lang="en-US" sz="780" dirty="0"/>
          </a:p>
        </p:txBody>
      </p:sp>
      <p:sp>
        <p:nvSpPr>
          <p:cNvPr id="25" name="Shape 22"/>
          <p:cNvSpPr/>
          <p:nvPr/>
        </p:nvSpPr>
        <p:spPr>
          <a:xfrm>
            <a:off x="428625" y="2357438"/>
            <a:ext cx="4071938" cy="571500"/>
          </a:xfrm>
          <a:prstGeom prst="rect">
            <a:avLst/>
          </a:prstGeom>
          <a:solidFill>
            <a:srgbClr val="F8F9FA"/>
          </a:solidFill>
          <a:ln/>
        </p:spPr>
        <p:txBody>
          <a:bodyPr/>
          <a:lstStyle/>
          <a:p>
            <a:endParaRPr lang="pt-BR"/>
          </a:p>
        </p:txBody>
      </p:sp>
      <p:sp>
        <p:nvSpPr>
          <p:cNvPr id="26" name="Shape 23"/>
          <p:cNvSpPr/>
          <p:nvPr/>
        </p:nvSpPr>
        <p:spPr>
          <a:xfrm>
            <a:off x="428625" y="2357438"/>
            <a:ext cx="35719" cy="571500"/>
          </a:xfrm>
          <a:prstGeom prst="rect">
            <a:avLst/>
          </a:prstGeom>
          <a:solidFill>
            <a:srgbClr val="0066CC"/>
          </a:solidFill>
          <a:ln/>
        </p:spPr>
        <p:txBody>
          <a:bodyPr/>
          <a:lstStyle/>
          <a:p>
            <a:endParaRPr lang="pt-BR"/>
          </a:p>
        </p:txBody>
      </p:sp>
      <p:sp>
        <p:nvSpPr>
          <p:cNvPr id="27" name="Shape 24"/>
          <p:cNvSpPr/>
          <p:nvPr/>
        </p:nvSpPr>
        <p:spPr>
          <a:xfrm>
            <a:off x="571500" y="2428875"/>
            <a:ext cx="285750" cy="285750"/>
          </a:xfrm>
          <a:prstGeom prst="rect">
            <a:avLst/>
          </a:prstGeom>
          <a:solidFill>
            <a:srgbClr val="0066CC"/>
          </a:solidFill>
          <a:ln/>
        </p:spPr>
        <p:txBody>
          <a:bodyPr/>
          <a:lstStyle/>
          <a:p>
            <a:endParaRPr lang="pt-BR"/>
          </a:p>
        </p:txBody>
      </p:sp>
      <p:sp>
        <p:nvSpPr>
          <p:cNvPr id="28" name="Text 25"/>
          <p:cNvSpPr/>
          <p:nvPr/>
        </p:nvSpPr>
        <p:spPr>
          <a:xfrm>
            <a:off x="571500" y="2428875"/>
            <a:ext cx="285750" cy="285750"/>
          </a:xfrm>
          <a:prstGeom prst="rect">
            <a:avLst/>
          </a:prstGeom>
          <a:noFill/>
          <a:ln/>
        </p:spPr>
        <p:txBody>
          <a:bodyPr wrap="square" lIns="0" tIns="0" rIns="0" bIns="0" rtlCol="0" anchor="ctr">
            <a:spAutoFit/>
          </a:bodyPr>
          <a:lstStyle/>
          <a:p>
            <a:pPr marL="0" indent="0" algn="ctr">
              <a:lnSpc>
                <a:spcPts val="1400"/>
              </a:lnSpc>
              <a:buNone/>
            </a:pPr>
            <a:r>
              <a:rPr lang="en-US" sz="987" b="1" dirty="0">
                <a:solidFill>
                  <a:srgbClr val="FFFFFF"/>
                </a:solidFill>
                <a:latin typeface="Roboto" pitchFamily="34" charset="0"/>
                <a:ea typeface="Roboto" pitchFamily="34" charset="-122"/>
                <a:cs typeface="Roboto" pitchFamily="34" charset="-120"/>
              </a:rPr>
              <a:t>5</a:t>
            </a:r>
            <a:endParaRPr lang="en-US" sz="987" dirty="0"/>
          </a:p>
        </p:txBody>
      </p:sp>
      <p:sp>
        <p:nvSpPr>
          <p:cNvPr id="29" name="Text 26"/>
          <p:cNvSpPr/>
          <p:nvPr/>
        </p:nvSpPr>
        <p:spPr>
          <a:xfrm>
            <a:off x="964406" y="2428875"/>
            <a:ext cx="3536156" cy="160734"/>
          </a:xfrm>
          <a:prstGeom prst="rect">
            <a:avLst/>
          </a:prstGeom>
          <a:noFill/>
          <a:ln/>
        </p:spPr>
        <p:txBody>
          <a:bodyPr wrap="none" lIns="0" tIns="0" rIns="0" bIns="0" rtlCol="0" anchor="t">
            <a:spAutoFit/>
          </a:bodyPr>
          <a:lstStyle/>
          <a:p>
            <a:pPr marL="0" indent="0" algn="l">
              <a:lnSpc>
                <a:spcPts val="1300"/>
              </a:lnSpc>
              <a:buNone/>
            </a:pPr>
            <a:r>
              <a:rPr lang="en-US" sz="780" dirty="0">
                <a:solidFill>
                  <a:srgbClr val="2C3E50"/>
                </a:solidFill>
                <a:latin typeface="Roboto" pitchFamily="34" charset="0"/>
                <a:ea typeface="Roboto" pitchFamily="34" charset="-122"/>
                <a:cs typeface="Roboto" pitchFamily="34" charset="-120"/>
              </a:rPr>
              <a:t>Explicar o funcionamento do protocolo </a:t>
            </a:r>
            <a:r>
              <a:rPr lang="en-US" sz="734" b="1" dirty="0">
                <a:solidFill>
                  <a:srgbClr val="0066CC"/>
                </a:solidFill>
                <a:latin typeface="Roboto" pitchFamily="34" charset="0"/>
                <a:ea typeface="Roboto" pitchFamily="34" charset="-122"/>
                <a:cs typeface="Roboto" pitchFamily="34" charset="-120"/>
              </a:rPr>
              <a:t>PROFINET</a:t>
            </a:r>
            <a:r>
              <a:rPr lang="en-US" sz="780" dirty="0">
                <a:solidFill>
                  <a:srgbClr val="2C3E50"/>
                </a:solidFill>
                <a:latin typeface="Roboto" pitchFamily="34" charset="0"/>
                <a:ea typeface="Roboto" pitchFamily="34" charset="-122"/>
                <a:cs typeface="Roboto" pitchFamily="34" charset="-120"/>
              </a:rPr>
              <a:t>.</a:t>
            </a:r>
            <a:endParaRPr lang="en-US" sz="780" dirty="0"/>
          </a:p>
        </p:txBody>
      </p:sp>
      <p:sp>
        <p:nvSpPr>
          <p:cNvPr id="30" name="Shape 27"/>
          <p:cNvSpPr/>
          <p:nvPr/>
        </p:nvSpPr>
        <p:spPr>
          <a:xfrm>
            <a:off x="4643438" y="2357438"/>
            <a:ext cx="4071938" cy="571500"/>
          </a:xfrm>
          <a:prstGeom prst="rect">
            <a:avLst/>
          </a:prstGeom>
          <a:solidFill>
            <a:srgbClr val="F8F9FA"/>
          </a:solidFill>
          <a:ln/>
        </p:spPr>
        <p:txBody>
          <a:bodyPr/>
          <a:lstStyle/>
          <a:p>
            <a:endParaRPr lang="pt-BR"/>
          </a:p>
        </p:txBody>
      </p:sp>
      <p:sp>
        <p:nvSpPr>
          <p:cNvPr id="31" name="Shape 28"/>
          <p:cNvSpPr/>
          <p:nvPr/>
        </p:nvSpPr>
        <p:spPr>
          <a:xfrm>
            <a:off x="4643438" y="2357438"/>
            <a:ext cx="35719" cy="571500"/>
          </a:xfrm>
          <a:prstGeom prst="rect">
            <a:avLst/>
          </a:prstGeom>
          <a:solidFill>
            <a:srgbClr val="0066CC"/>
          </a:solidFill>
          <a:ln/>
        </p:spPr>
        <p:txBody>
          <a:bodyPr/>
          <a:lstStyle/>
          <a:p>
            <a:endParaRPr lang="pt-BR"/>
          </a:p>
        </p:txBody>
      </p:sp>
      <p:sp>
        <p:nvSpPr>
          <p:cNvPr id="32" name="Shape 29"/>
          <p:cNvSpPr/>
          <p:nvPr/>
        </p:nvSpPr>
        <p:spPr>
          <a:xfrm>
            <a:off x="4786313" y="2428875"/>
            <a:ext cx="285750" cy="285750"/>
          </a:xfrm>
          <a:prstGeom prst="rect">
            <a:avLst/>
          </a:prstGeom>
          <a:solidFill>
            <a:srgbClr val="0066CC"/>
          </a:solidFill>
          <a:ln/>
        </p:spPr>
        <p:txBody>
          <a:bodyPr/>
          <a:lstStyle/>
          <a:p>
            <a:endParaRPr lang="pt-BR"/>
          </a:p>
        </p:txBody>
      </p:sp>
      <p:sp>
        <p:nvSpPr>
          <p:cNvPr id="33" name="Text 30"/>
          <p:cNvSpPr/>
          <p:nvPr/>
        </p:nvSpPr>
        <p:spPr>
          <a:xfrm>
            <a:off x="4786313" y="2428875"/>
            <a:ext cx="285750" cy="285750"/>
          </a:xfrm>
          <a:prstGeom prst="rect">
            <a:avLst/>
          </a:prstGeom>
          <a:noFill/>
          <a:ln/>
        </p:spPr>
        <p:txBody>
          <a:bodyPr wrap="square" lIns="0" tIns="0" rIns="0" bIns="0" rtlCol="0" anchor="ctr">
            <a:spAutoFit/>
          </a:bodyPr>
          <a:lstStyle/>
          <a:p>
            <a:pPr marL="0" indent="0" algn="ctr">
              <a:lnSpc>
                <a:spcPts val="1400"/>
              </a:lnSpc>
              <a:buNone/>
            </a:pPr>
            <a:r>
              <a:rPr lang="en-US" sz="987" b="1" dirty="0">
                <a:solidFill>
                  <a:srgbClr val="FFFFFF"/>
                </a:solidFill>
                <a:latin typeface="Roboto" pitchFamily="34" charset="0"/>
                <a:ea typeface="Roboto" pitchFamily="34" charset="-122"/>
                <a:cs typeface="Roboto" pitchFamily="34" charset="-120"/>
              </a:rPr>
              <a:t>6</a:t>
            </a:r>
            <a:endParaRPr lang="en-US" sz="987" dirty="0"/>
          </a:p>
        </p:txBody>
      </p:sp>
      <p:sp>
        <p:nvSpPr>
          <p:cNvPr id="34" name="Text 31"/>
          <p:cNvSpPr/>
          <p:nvPr/>
        </p:nvSpPr>
        <p:spPr>
          <a:xfrm>
            <a:off x="5179219" y="2428875"/>
            <a:ext cx="3536156"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2C3E50"/>
                </a:solidFill>
                <a:latin typeface="Roboto" pitchFamily="34" charset="0"/>
                <a:ea typeface="Roboto" pitchFamily="34" charset="-122"/>
                <a:cs typeface="Roboto" pitchFamily="34" charset="-120"/>
              </a:rPr>
              <a:t>Demonstrar a </a:t>
            </a:r>
            <a:r>
              <a:rPr lang="en-US" sz="734" b="1" dirty="0">
                <a:solidFill>
                  <a:srgbClr val="0066CC"/>
                </a:solidFill>
                <a:latin typeface="Roboto" pitchFamily="34" charset="0"/>
                <a:ea typeface="Roboto" pitchFamily="34" charset="-122"/>
                <a:cs typeface="Roboto" pitchFamily="34" charset="-120"/>
              </a:rPr>
              <a:t>interoperabilidade</a:t>
            </a:r>
            <a:r>
              <a:rPr lang="en-US" sz="780" dirty="0">
                <a:solidFill>
                  <a:srgbClr val="2C3E50"/>
                </a:solidFill>
                <a:latin typeface="Roboto" pitchFamily="34" charset="0"/>
                <a:ea typeface="Roboto" pitchFamily="34" charset="-122"/>
                <a:cs typeface="Roboto" pitchFamily="34" charset="-120"/>
              </a:rPr>
              <a:t> entre campo, controle e supervisão (IHM/SCADA).</a:t>
            </a:r>
            <a:endParaRPr lang="en-US" sz="780" dirty="0"/>
          </a:p>
        </p:txBody>
      </p:sp>
      <p:pic>
        <p:nvPicPr>
          <p:cNvPr id="35" name="Picture 13">
            <a:extLst>
              <a:ext uri="{FF2B5EF4-FFF2-40B4-BE49-F238E27FC236}">
                <a16:creationId xmlns:a16="http://schemas.microsoft.com/office/drawing/2014/main" id="{CD278784-B8CE-5846-55AD-F58F98E1C4F9}"/>
              </a:ext>
            </a:extLst>
          </p:cNvPr>
          <p:cNvPicPr>
            <a:picLocks noChangeAspect="1"/>
          </p:cNvPicPr>
          <p:nvPr/>
        </p:nvPicPr>
        <p:blipFill>
          <a:blip r:embed="rId4"/>
          <a:stretch>
            <a:fillRect/>
          </a:stretch>
        </p:blipFill>
        <p:spPr>
          <a:xfrm>
            <a:off x="8086948" y="4619618"/>
            <a:ext cx="968262" cy="41496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8D1CAE07-12E7-B750-3DF8-AE2EB949EABC}"/>
              </a:ext>
            </a:extLst>
          </p:cNvPr>
          <p:cNvSpPr/>
          <p:nvPr/>
        </p:nvSpPr>
        <p:spPr>
          <a:xfrm>
            <a:off x="0" y="334287"/>
            <a:ext cx="9148566" cy="530915"/>
          </a:xfrm>
          <a:prstGeom prst="rect">
            <a:avLst/>
          </a:prstGeom>
          <a:solidFill>
            <a:srgbClr val="004999"/>
          </a:solidFill>
          <a:ln>
            <a:solidFill>
              <a:srgbClr val="0DA3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solidFill>
                <a:srgbClr val="004999"/>
              </a:solidFill>
            </a:endParaRPr>
          </a:p>
        </p:txBody>
      </p:sp>
      <p:sp>
        <p:nvSpPr>
          <p:cNvPr id="7" name="CaixaDeTexto 6">
            <a:extLst>
              <a:ext uri="{FF2B5EF4-FFF2-40B4-BE49-F238E27FC236}">
                <a16:creationId xmlns:a16="http://schemas.microsoft.com/office/drawing/2014/main" id="{3B55C304-2999-47EB-9CBB-DB2F01229C99}"/>
              </a:ext>
            </a:extLst>
          </p:cNvPr>
          <p:cNvSpPr txBox="1"/>
          <p:nvPr/>
        </p:nvSpPr>
        <p:spPr>
          <a:xfrm>
            <a:off x="205081" y="299974"/>
            <a:ext cx="4479282" cy="553998"/>
          </a:xfrm>
          <a:prstGeom prst="rect">
            <a:avLst/>
          </a:prstGeom>
          <a:noFill/>
        </p:spPr>
        <p:txBody>
          <a:bodyPr wrap="square" rtlCol="0">
            <a:spAutoFit/>
          </a:bodyPr>
          <a:lstStyle/>
          <a:p>
            <a:r>
              <a:rPr lang="pt-BR" sz="3000" b="1" dirty="0">
                <a:solidFill>
                  <a:schemeClr val="bg1"/>
                </a:solidFill>
                <a:effectLst>
                  <a:outerShdw blurRad="38100" dist="38100" dir="2700000" algn="tl">
                    <a:srgbClr val="000000">
                      <a:alpha val="43137"/>
                    </a:srgbClr>
                  </a:outerShdw>
                </a:effectLst>
                <a:latin typeface="Agency FB" panose="020B0503020202020204" pitchFamily="34" charset="0"/>
              </a:rPr>
              <a:t>Automação Industrial </a:t>
            </a:r>
          </a:p>
        </p:txBody>
      </p:sp>
      <p:sp>
        <p:nvSpPr>
          <p:cNvPr id="9" name="CaixaDeTexto 8">
            <a:extLst>
              <a:ext uri="{FF2B5EF4-FFF2-40B4-BE49-F238E27FC236}">
                <a16:creationId xmlns:a16="http://schemas.microsoft.com/office/drawing/2014/main" id="{FBB9ABB0-8F94-020A-C609-DA4E06B156A7}"/>
              </a:ext>
            </a:extLst>
          </p:cNvPr>
          <p:cNvSpPr txBox="1"/>
          <p:nvPr/>
        </p:nvSpPr>
        <p:spPr>
          <a:xfrm>
            <a:off x="203058" y="1003463"/>
            <a:ext cx="7933398" cy="764055"/>
          </a:xfrm>
          <a:prstGeom prst="rect">
            <a:avLst/>
          </a:prstGeom>
          <a:noFill/>
        </p:spPr>
        <p:txBody>
          <a:bodyPr wrap="square" rtlCol="0">
            <a:spAutoFit/>
          </a:bodyPr>
          <a:lstStyle>
            <a:defPPr>
              <a:defRPr lang="pt-BR"/>
            </a:defPPr>
            <a:lvl1pPr algn="just">
              <a:defRPr sz="2800" b="1"/>
            </a:lvl1pPr>
          </a:lstStyle>
          <a:p>
            <a:r>
              <a:rPr lang="pt-BR" altLang="pt-BR" sz="1455" dirty="0"/>
              <a:t>Para uma planta ser controlada ela compor dos seguintes componentes</a:t>
            </a:r>
          </a:p>
          <a:p>
            <a:endParaRPr lang="pt-BR" altLang="pt-BR" sz="1455" b="0" dirty="0"/>
          </a:p>
          <a:p>
            <a:endParaRPr lang="pt-BR" altLang="pt-BR" sz="1455" b="0" dirty="0"/>
          </a:p>
        </p:txBody>
      </p:sp>
      <p:sp>
        <p:nvSpPr>
          <p:cNvPr id="10" name="CustomShape 3">
            <a:extLst>
              <a:ext uri="{FF2B5EF4-FFF2-40B4-BE49-F238E27FC236}">
                <a16:creationId xmlns:a16="http://schemas.microsoft.com/office/drawing/2014/main" id="{6AB6615F-ACD7-BF23-FA7A-E7B6BB52D282}"/>
              </a:ext>
            </a:extLst>
          </p:cNvPr>
          <p:cNvSpPr/>
          <p:nvPr/>
        </p:nvSpPr>
        <p:spPr>
          <a:xfrm>
            <a:off x="838942" y="1325275"/>
            <a:ext cx="1588760" cy="485177"/>
          </a:xfrm>
          <a:prstGeom prst="rect">
            <a:avLst/>
          </a:prstGeom>
          <a:noFill/>
          <a:ln w="0">
            <a:noFill/>
          </a:ln>
        </p:spPr>
        <p:style>
          <a:lnRef idx="0">
            <a:scrgbClr r="0" g="0" b="0"/>
          </a:lnRef>
          <a:fillRef idx="0">
            <a:scrgbClr r="0" g="0" b="0"/>
          </a:fillRef>
          <a:effectRef idx="0">
            <a:scrgbClr r="0" g="0" b="0"/>
          </a:effectRef>
          <a:fontRef idx="minor"/>
        </p:style>
        <p:txBody>
          <a:bodyPr lIns="40932" tIns="20466" rIns="40932" bIns="20466" anchor="t">
            <a:noAutofit/>
          </a:bodyPr>
          <a:lstStyle/>
          <a:p>
            <a:pPr algn="ctr">
              <a:lnSpc>
                <a:spcPct val="100000"/>
              </a:lnSpc>
              <a:buNone/>
            </a:pPr>
            <a:r>
              <a:rPr lang="pt-BR" sz="1820" b="1" spc="-1" dirty="0">
                <a:solidFill>
                  <a:srgbClr val="000000"/>
                </a:solidFill>
                <a:latin typeface="MetaPlusLF-Regular"/>
                <a:ea typeface="DejaVu Sans"/>
              </a:rPr>
              <a:t>Termopar</a:t>
            </a:r>
            <a:endParaRPr lang="pt-BR" sz="1820" spc="-1" dirty="0">
              <a:latin typeface="Arial"/>
            </a:endParaRPr>
          </a:p>
        </p:txBody>
      </p:sp>
      <p:sp>
        <p:nvSpPr>
          <p:cNvPr id="11" name="CustomShape 9">
            <a:extLst>
              <a:ext uri="{FF2B5EF4-FFF2-40B4-BE49-F238E27FC236}">
                <a16:creationId xmlns:a16="http://schemas.microsoft.com/office/drawing/2014/main" id="{3A947DB4-CC19-B278-E7C6-D6FB75453DB8}"/>
              </a:ext>
            </a:extLst>
          </p:cNvPr>
          <p:cNvSpPr/>
          <p:nvPr/>
        </p:nvSpPr>
        <p:spPr>
          <a:xfrm>
            <a:off x="4251731" y="3724633"/>
            <a:ext cx="341056" cy="417570"/>
          </a:xfrm>
          <a:custGeom>
            <a:avLst/>
            <a:gdLst/>
            <a:ahLst/>
            <a:cxnLst/>
            <a:rect l="l" t="t" r="r" b="b"/>
            <a:pathLst>
              <a:path w="21600" h="21600">
                <a:moveTo>
                  <a:pt x="0" y="0"/>
                </a:moveTo>
                <a:lnTo>
                  <a:pt x="21600" y="21600"/>
                </a:lnTo>
              </a:path>
            </a:pathLst>
          </a:custGeom>
          <a:noFill/>
          <a:ln w="57150">
            <a:solidFill>
              <a:srgbClr val="FF0000"/>
            </a:solidFill>
            <a:round/>
            <a:tailEnd type="triangle" w="med" len="med"/>
          </a:ln>
        </p:spPr>
        <p:style>
          <a:lnRef idx="1">
            <a:schemeClr val="accent1"/>
          </a:lnRef>
          <a:fillRef idx="0">
            <a:schemeClr val="accent1"/>
          </a:fillRef>
          <a:effectRef idx="0">
            <a:schemeClr val="accent1"/>
          </a:effectRef>
          <a:fontRef idx="minor"/>
        </p:style>
        <p:txBody>
          <a:bodyPr/>
          <a:lstStyle/>
          <a:p>
            <a:endParaRPr lang="pt-BR" sz="819"/>
          </a:p>
        </p:txBody>
      </p:sp>
      <p:sp>
        <p:nvSpPr>
          <p:cNvPr id="12" name="CustomShape 10">
            <a:extLst>
              <a:ext uri="{FF2B5EF4-FFF2-40B4-BE49-F238E27FC236}">
                <a16:creationId xmlns:a16="http://schemas.microsoft.com/office/drawing/2014/main" id="{D2AC0083-80E7-65BF-E93D-D9529F910D47}"/>
              </a:ext>
            </a:extLst>
          </p:cNvPr>
          <p:cNvSpPr/>
          <p:nvPr/>
        </p:nvSpPr>
        <p:spPr>
          <a:xfrm flipV="1">
            <a:off x="5354979" y="4078156"/>
            <a:ext cx="490229" cy="187323"/>
          </a:xfrm>
          <a:custGeom>
            <a:avLst/>
            <a:gdLst/>
            <a:ahLst/>
            <a:cxnLst/>
            <a:rect l="l" t="t" r="r" b="b"/>
            <a:pathLst>
              <a:path w="21600" h="21600">
                <a:moveTo>
                  <a:pt x="0" y="0"/>
                </a:moveTo>
                <a:lnTo>
                  <a:pt x="21600" y="21600"/>
                </a:lnTo>
              </a:path>
            </a:pathLst>
          </a:custGeom>
          <a:noFill/>
          <a:ln w="57150">
            <a:solidFill>
              <a:srgbClr val="FF0000"/>
            </a:solidFill>
            <a:round/>
            <a:tailEnd type="triangle" w="med" len="med"/>
          </a:ln>
        </p:spPr>
        <p:style>
          <a:lnRef idx="1">
            <a:schemeClr val="accent1"/>
          </a:lnRef>
          <a:fillRef idx="0">
            <a:schemeClr val="accent1"/>
          </a:fillRef>
          <a:effectRef idx="0">
            <a:schemeClr val="accent1"/>
          </a:effectRef>
          <a:fontRef idx="minor"/>
        </p:style>
        <p:txBody>
          <a:bodyPr/>
          <a:lstStyle/>
          <a:p>
            <a:endParaRPr lang="pt-BR" sz="819"/>
          </a:p>
        </p:txBody>
      </p:sp>
      <p:sp>
        <p:nvSpPr>
          <p:cNvPr id="13" name="CustomShape 10">
            <a:extLst>
              <a:ext uri="{FF2B5EF4-FFF2-40B4-BE49-F238E27FC236}">
                <a16:creationId xmlns:a16="http://schemas.microsoft.com/office/drawing/2014/main" id="{CA758A82-F8FF-32A2-67B0-698D7A8780B7}"/>
              </a:ext>
            </a:extLst>
          </p:cNvPr>
          <p:cNvSpPr/>
          <p:nvPr/>
        </p:nvSpPr>
        <p:spPr>
          <a:xfrm flipH="1" flipV="1">
            <a:off x="1907470" y="2423878"/>
            <a:ext cx="608595" cy="376066"/>
          </a:xfrm>
          <a:custGeom>
            <a:avLst/>
            <a:gdLst/>
            <a:ahLst/>
            <a:cxnLst/>
            <a:rect l="l" t="t" r="r" b="b"/>
            <a:pathLst>
              <a:path w="21600" h="21600">
                <a:moveTo>
                  <a:pt x="0" y="0"/>
                </a:moveTo>
                <a:lnTo>
                  <a:pt x="21600" y="21600"/>
                </a:lnTo>
              </a:path>
            </a:pathLst>
          </a:custGeom>
          <a:noFill/>
          <a:ln w="57150">
            <a:solidFill>
              <a:srgbClr val="FF0000"/>
            </a:solidFill>
            <a:round/>
            <a:tailEnd type="triangle" w="med" len="med"/>
          </a:ln>
        </p:spPr>
        <p:style>
          <a:lnRef idx="1">
            <a:schemeClr val="accent1"/>
          </a:lnRef>
          <a:fillRef idx="0">
            <a:schemeClr val="accent1"/>
          </a:fillRef>
          <a:effectRef idx="0">
            <a:schemeClr val="accent1"/>
          </a:effectRef>
          <a:fontRef idx="minor"/>
        </p:style>
        <p:txBody>
          <a:bodyPr/>
          <a:lstStyle/>
          <a:p>
            <a:endParaRPr lang="pt-BR" sz="819"/>
          </a:p>
        </p:txBody>
      </p:sp>
      <p:sp>
        <p:nvSpPr>
          <p:cNvPr id="14" name="CustomShape 10">
            <a:extLst>
              <a:ext uri="{FF2B5EF4-FFF2-40B4-BE49-F238E27FC236}">
                <a16:creationId xmlns:a16="http://schemas.microsoft.com/office/drawing/2014/main" id="{04BCD682-A0DA-C314-F0FB-912EA6B3C67D}"/>
              </a:ext>
            </a:extLst>
          </p:cNvPr>
          <p:cNvSpPr/>
          <p:nvPr/>
        </p:nvSpPr>
        <p:spPr>
          <a:xfrm flipH="1">
            <a:off x="5142997" y="2622398"/>
            <a:ext cx="1424055" cy="793328"/>
          </a:xfrm>
          <a:custGeom>
            <a:avLst/>
            <a:gdLst/>
            <a:ahLst/>
            <a:cxnLst/>
            <a:rect l="l" t="t" r="r" b="b"/>
            <a:pathLst>
              <a:path w="21600" h="21600">
                <a:moveTo>
                  <a:pt x="0" y="0"/>
                </a:moveTo>
                <a:lnTo>
                  <a:pt x="21600" y="21600"/>
                </a:lnTo>
              </a:path>
            </a:pathLst>
          </a:custGeom>
          <a:noFill/>
          <a:ln w="57150">
            <a:solidFill>
              <a:srgbClr val="FF0000"/>
            </a:solidFill>
            <a:round/>
            <a:tailEnd type="triangle" w="med" len="med"/>
          </a:ln>
        </p:spPr>
        <p:style>
          <a:lnRef idx="1">
            <a:schemeClr val="accent1"/>
          </a:lnRef>
          <a:fillRef idx="0">
            <a:schemeClr val="accent1"/>
          </a:fillRef>
          <a:effectRef idx="0">
            <a:schemeClr val="accent1"/>
          </a:effectRef>
          <a:fontRef idx="minor"/>
        </p:style>
        <p:txBody>
          <a:bodyPr/>
          <a:lstStyle/>
          <a:p>
            <a:endParaRPr lang="pt-BR" sz="819"/>
          </a:p>
        </p:txBody>
      </p:sp>
      <p:sp>
        <p:nvSpPr>
          <p:cNvPr id="15" name="CustomShape 10">
            <a:extLst>
              <a:ext uri="{FF2B5EF4-FFF2-40B4-BE49-F238E27FC236}">
                <a16:creationId xmlns:a16="http://schemas.microsoft.com/office/drawing/2014/main" id="{5794C09B-53A5-A3DF-8893-1F405716B61D}"/>
              </a:ext>
            </a:extLst>
          </p:cNvPr>
          <p:cNvSpPr/>
          <p:nvPr/>
        </p:nvSpPr>
        <p:spPr>
          <a:xfrm flipV="1">
            <a:off x="5142998" y="1638063"/>
            <a:ext cx="1254541" cy="706583"/>
          </a:xfrm>
          <a:custGeom>
            <a:avLst/>
            <a:gdLst/>
            <a:ahLst/>
            <a:cxnLst/>
            <a:rect l="l" t="t" r="r" b="b"/>
            <a:pathLst>
              <a:path w="21600" h="21600">
                <a:moveTo>
                  <a:pt x="0" y="0"/>
                </a:moveTo>
                <a:lnTo>
                  <a:pt x="21600" y="21600"/>
                </a:lnTo>
              </a:path>
            </a:pathLst>
          </a:custGeom>
          <a:noFill/>
          <a:ln w="57150">
            <a:solidFill>
              <a:srgbClr val="FF0000"/>
            </a:solidFill>
            <a:round/>
            <a:tailEnd type="triangle" w="med" len="med"/>
          </a:ln>
        </p:spPr>
        <p:style>
          <a:lnRef idx="1">
            <a:schemeClr val="accent1"/>
          </a:lnRef>
          <a:fillRef idx="0">
            <a:schemeClr val="accent1"/>
          </a:fillRef>
          <a:effectRef idx="0">
            <a:schemeClr val="accent1"/>
          </a:effectRef>
          <a:fontRef idx="minor"/>
        </p:style>
        <p:txBody>
          <a:bodyPr/>
          <a:lstStyle/>
          <a:p>
            <a:endParaRPr lang="pt-BR" sz="819"/>
          </a:p>
        </p:txBody>
      </p:sp>
      <p:sp>
        <p:nvSpPr>
          <p:cNvPr id="16" name="CustomShape 3">
            <a:extLst>
              <a:ext uri="{FF2B5EF4-FFF2-40B4-BE49-F238E27FC236}">
                <a16:creationId xmlns:a16="http://schemas.microsoft.com/office/drawing/2014/main" id="{CFBD5186-62F8-EB8E-4E40-6A85FEA143FB}"/>
              </a:ext>
            </a:extLst>
          </p:cNvPr>
          <p:cNvSpPr/>
          <p:nvPr/>
        </p:nvSpPr>
        <p:spPr>
          <a:xfrm>
            <a:off x="6612606" y="2324973"/>
            <a:ext cx="1832825" cy="586617"/>
          </a:xfrm>
          <a:prstGeom prst="rect">
            <a:avLst/>
          </a:prstGeom>
          <a:noFill/>
          <a:ln w="0">
            <a:noFill/>
          </a:ln>
        </p:spPr>
        <p:style>
          <a:lnRef idx="0">
            <a:scrgbClr r="0" g="0" b="0"/>
          </a:lnRef>
          <a:fillRef idx="0">
            <a:scrgbClr r="0" g="0" b="0"/>
          </a:fillRef>
          <a:effectRef idx="0">
            <a:scrgbClr r="0" g="0" b="0"/>
          </a:effectRef>
          <a:fontRef idx="minor"/>
        </p:style>
        <p:txBody>
          <a:bodyPr lIns="40932" tIns="20466" rIns="40932" bIns="20466" anchor="t">
            <a:noAutofit/>
          </a:bodyPr>
          <a:lstStyle/>
          <a:p>
            <a:pPr algn="ctr">
              <a:lnSpc>
                <a:spcPct val="100000"/>
              </a:lnSpc>
              <a:buNone/>
            </a:pPr>
            <a:r>
              <a:rPr lang="pt-BR" sz="1455" b="1" spc="-1" dirty="0">
                <a:solidFill>
                  <a:srgbClr val="000000"/>
                </a:solidFill>
                <a:latin typeface="MetaPlusLF-Regular"/>
                <a:ea typeface="DejaVu Sans"/>
              </a:rPr>
              <a:t>Processa as entradas e  atua no processo</a:t>
            </a:r>
            <a:endParaRPr lang="pt-BR" sz="1455" spc="-1" dirty="0">
              <a:latin typeface="Arial"/>
            </a:endParaRPr>
          </a:p>
        </p:txBody>
      </p:sp>
      <p:sp>
        <p:nvSpPr>
          <p:cNvPr id="17" name="CustomShape 3">
            <a:extLst>
              <a:ext uri="{FF2B5EF4-FFF2-40B4-BE49-F238E27FC236}">
                <a16:creationId xmlns:a16="http://schemas.microsoft.com/office/drawing/2014/main" id="{40359B8E-1E0D-55A8-B574-4EF26CEAFE6B}"/>
              </a:ext>
            </a:extLst>
          </p:cNvPr>
          <p:cNvSpPr/>
          <p:nvPr/>
        </p:nvSpPr>
        <p:spPr>
          <a:xfrm>
            <a:off x="6804451" y="3491540"/>
            <a:ext cx="1832825" cy="586617"/>
          </a:xfrm>
          <a:prstGeom prst="rect">
            <a:avLst/>
          </a:prstGeom>
          <a:noFill/>
          <a:ln w="0">
            <a:noFill/>
          </a:ln>
        </p:spPr>
        <p:style>
          <a:lnRef idx="0">
            <a:scrgbClr r="0" g="0" b="0"/>
          </a:lnRef>
          <a:fillRef idx="0">
            <a:scrgbClr r="0" g="0" b="0"/>
          </a:fillRef>
          <a:effectRef idx="0">
            <a:scrgbClr r="0" g="0" b="0"/>
          </a:effectRef>
          <a:fontRef idx="minor"/>
        </p:style>
        <p:txBody>
          <a:bodyPr lIns="40932" tIns="20466" rIns="40932" bIns="20466" anchor="t">
            <a:noAutofit/>
          </a:bodyPr>
          <a:lstStyle/>
          <a:p>
            <a:pPr algn="ctr">
              <a:lnSpc>
                <a:spcPct val="100000"/>
              </a:lnSpc>
              <a:buNone/>
            </a:pPr>
            <a:r>
              <a:rPr lang="pt-BR" sz="1455" b="1" spc="-1" dirty="0">
                <a:solidFill>
                  <a:srgbClr val="000000"/>
                </a:solidFill>
                <a:latin typeface="MetaPlusLF-Regular"/>
                <a:ea typeface="DejaVu Sans"/>
              </a:rPr>
              <a:t>Ventiladores acionados pelo CLP</a:t>
            </a:r>
            <a:endParaRPr lang="pt-BR" sz="1455" spc="-1" dirty="0">
              <a:latin typeface="Arial"/>
            </a:endParaRPr>
          </a:p>
        </p:txBody>
      </p:sp>
      <p:sp>
        <p:nvSpPr>
          <p:cNvPr id="18" name="Retângulo 17">
            <a:extLst>
              <a:ext uri="{FF2B5EF4-FFF2-40B4-BE49-F238E27FC236}">
                <a16:creationId xmlns:a16="http://schemas.microsoft.com/office/drawing/2014/main" id="{9D26E15F-EB39-B11D-469A-2E964A0BBADD}"/>
              </a:ext>
            </a:extLst>
          </p:cNvPr>
          <p:cNvSpPr/>
          <p:nvPr/>
        </p:nvSpPr>
        <p:spPr>
          <a:xfrm>
            <a:off x="3521031" y="1979462"/>
            <a:ext cx="1287930" cy="306780"/>
          </a:xfrm>
          <a:prstGeom prst="rect">
            <a:avLst/>
          </a:prstGeom>
          <a:ln/>
        </p:spPr>
        <p:style>
          <a:lnRef idx="3">
            <a:schemeClr val="lt1"/>
          </a:lnRef>
          <a:fillRef idx="1">
            <a:schemeClr val="accent6"/>
          </a:fillRef>
          <a:effectRef idx="1">
            <a:schemeClr val="accent6"/>
          </a:effectRef>
          <a:fontRef idx="minor">
            <a:schemeClr val="lt1"/>
          </a:fontRef>
        </p:style>
        <p:txBody>
          <a:bodyPr rtlCol="0" anchor="ctr"/>
          <a:lstStyle/>
          <a:p>
            <a:pPr algn="ctr"/>
            <a:r>
              <a:rPr lang="pt-BR" sz="1455" dirty="0"/>
              <a:t>Controlador</a:t>
            </a:r>
            <a:endParaRPr lang="en-US" sz="1455" dirty="0"/>
          </a:p>
        </p:txBody>
      </p:sp>
      <p:sp>
        <p:nvSpPr>
          <p:cNvPr id="19" name="Retângulo 18">
            <a:extLst>
              <a:ext uri="{FF2B5EF4-FFF2-40B4-BE49-F238E27FC236}">
                <a16:creationId xmlns:a16="http://schemas.microsoft.com/office/drawing/2014/main" id="{3878BD4B-12EA-18CD-D0A2-2C06945DCAD6}"/>
              </a:ext>
            </a:extLst>
          </p:cNvPr>
          <p:cNvSpPr/>
          <p:nvPr/>
        </p:nvSpPr>
        <p:spPr>
          <a:xfrm>
            <a:off x="2551435" y="2607828"/>
            <a:ext cx="1287930" cy="306780"/>
          </a:xfrm>
          <a:prstGeom prst="rect">
            <a:avLst/>
          </a:prstGeom>
          <a:ln/>
        </p:spPr>
        <p:style>
          <a:lnRef idx="3">
            <a:schemeClr val="lt1"/>
          </a:lnRef>
          <a:fillRef idx="1">
            <a:schemeClr val="accent6"/>
          </a:fillRef>
          <a:effectRef idx="1">
            <a:schemeClr val="accent6"/>
          </a:effectRef>
          <a:fontRef idx="minor">
            <a:schemeClr val="lt1"/>
          </a:fontRef>
        </p:style>
        <p:txBody>
          <a:bodyPr rtlCol="0" anchor="ctr"/>
          <a:lstStyle/>
          <a:p>
            <a:pPr algn="ctr"/>
            <a:r>
              <a:rPr lang="pt-BR" sz="1455" dirty="0"/>
              <a:t>Sensores</a:t>
            </a:r>
            <a:endParaRPr lang="en-US" sz="1455" dirty="0"/>
          </a:p>
        </p:txBody>
      </p:sp>
      <p:sp>
        <p:nvSpPr>
          <p:cNvPr id="20" name="Retângulo 19">
            <a:extLst>
              <a:ext uri="{FF2B5EF4-FFF2-40B4-BE49-F238E27FC236}">
                <a16:creationId xmlns:a16="http://schemas.microsoft.com/office/drawing/2014/main" id="{6DD9702F-2616-DB91-ADF1-9D541BDA5DD7}"/>
              </a:ext>
            </a:extLst>
          </p:cNvPr>
          <p:cNvSpPr/>
          <p:nvPr/>
        </p:nvSpPr>
        <p:spPr>
          <a:xfrm>
            <a:off x="3520848" y="3349284"/>
            <a:ext cx="1287930" cy="306780"/>
          </a:xfrm>
          <a:prstGeom prst="rect">
            <a:avLst/>
          </a:prstGeom>
          <a:ln/>
        </p:spPr>
        <p:style>
          <a:lnRef idx="3">
            <a:schemeClr val="lt1"/>
          </a:lnRef>
          <a:fillRef idx="1">
            <a:schemeClr val="accent6"/>
          </a:fillRef>
          <a:effectRef idx="1">
            <a:schemeClr val="accent6"/>
          </a:effectRef>
          <a:fontRef idx="minor">
            <a:schemeClr val="lt1"/>
          </a:fontRef>
        </p:style>
        <p:txBody>
          <a:bodyPr rtlCol="0" anchor="ctr"/>
          <a:lstStyle/>
          <a:p>
            <a:pPr algn="ctr"/>
            <a:r>
              <a:rPr lang="pt-BR" sz="1455" dirty="0"/>
              <a:t>Processo</a:t>
            </a:r>
            <a:endParaRPr lang="en-US" sz="1455" dirty="0"/>
          </a:p>
        </p:txBody>
      </p:sp>
      <p:sp>
        <p:nvSpPr>
          <p:cNvPr id="21" name="Retângulo 20">
            <a:extLst>
              <a:ext uri="{FF2B5EF4-FFF2-40B4-BE49-F238E27FC236}">
                <a16:creationId xmlns:a16="http://schemas.microsoft.com/office/drawing/2014/main" id="{3C023101-5C6C-5C07-C3DB-117C5ACCA88A}"/>
              </a:ext>
            </a:extLst>
          </p:cNvPr>
          <p:cNvSpPr/>
          <p:nvPr/>
        </p:nvSpPr>
        <p:spPr>
          <a:xfrm>
            <a:off x="4474559" y="2622398"/>
            <a:ext cx="1287930" cy="306780"/>
          </a:xfrm>
          <a:prstGeom prst="rect">
            <a:avLst/>
          </a:prstGeom>
          <a:ln/>
        </p:spPr>
        <p:style>
          <a:lnRef idx="3">
            <a:schemeClr val="lt1"/>
          </a:lnRef>
          <a:fillRef idx="1">
            <a:schemeClr val="accent6"/>
          </a:fillRef>
          <a:effectRef idx="1">
            <a:schemeClr val="accent6"/>
          </a:effectRef>
          <a:fontRef idx="minor">
            <a:schemeClr val="lt1"/>
          </a:fontRef>
        </p:style>
        <p:txBody>
          <a:bodyPr rtlCol="0" anchor="ctr"/>
          <a:lstStyle/>
          <a:p>
            <a:pPr algn="ctr"/>
            <a:r>
              <a:rPr lang="pt-BR" sz="1455" dirty="0"/>
              <a:t>Atuadores</a:t>
            </a:r>
            <a:endParaRPr lang="en-US" sz="1455" dirty="0"/>
          </a:p>
        </p:txBody>
      </p:sp>
      <p:cxnSp>
        <p:nvCxnSpPr>
          <p:cNvPr id="22" name="Conector: Angulado 21">
            <a:extLst>
              <a:ext uri="{FF2B5EF4-FFF2-40B4-BE49-F238E27FC236}">
                <a16:creationId xmlns:a16="http://schemas.microsoft.com/office/drawing/2014/main" id="{CC7AA757-085E-0C3F-B1B7-CD6DD312987D}"/>
              </a:ext>
            </a:extLst>
          </p:cNvPr>
          <p:cNvCxnSpPr>
            <a:stCxn id="19" idx="0"/>
            <a:endCxn id="18" idx="1"/>
          </p:cNvCxnSpPr>
          <p:nvPr/>
        </p:nvCxnSpPr>
        <p:spPr>
          <a:xfrm rot="5400000" flipH="1" flipV="1">
            <a:off x="3120727" y="2207526"/>
            <a:ext cx="474977" cy="325630"/>
          </a:xfrm>
          <a:prstGeom prst="bentConnector2">
            <a:avLst/>
          </a:prstGeom>
          <a:ln w="57150">
            <a:solidFill>
              <a:srgbClr val="FFFF00"/>
            </a:solidFill>
            <a:tailEnd type="triangle"/>
          </a:ln>
        </p:spPr>
        <p:style>
          <a:lnRef idx="1">
            <a:schemeClr val="accent2"/>
          </a:lnRef>
          <a:fillRef idx="0">
            <a:schemeClr val="accent2"/>
          </a:fillRef>
          <a:effectRef idx="0">
            <a:schemeClr val="accent2"/>
          </a:effectRef>
          <a:fontRef idx="minor">
            <a:schemeClr val="tx1"/>
          </a:fontRef>
        </p:style>
      </p:cxnSp>
      <p:cxnSp>
        <p:nvCxnSpPr>
          <p:cNvPr id="23" name="Conector: Angulado 22">
            <a:extLst>
              <a:ext uri="{FF2B5EF4-FFF2-40B4-BE49-F238E27FC236}">
                <a16:creationId xmlns:a16="http://schemas.microsoft.com/office/drawing/2014/main" id="{710A2E03-5AFD-D192-9887-929B7FC4ACAE}"/>
              </a:ext>
            </a:extLst>
          </p:cNvPr>
          <p:cNvCxnSpPr>
            <a:stCxn id="20" idx="1"/>
            <a:endCxn id="19" idx="2"/>
          </p:cNvCxnSpPr>
          <p:nvPr/>
        </p:nvCxnSpPr>
        <p:spPr>
          <a:xfrm rot="10800000">
            <a:off x="3195401" y="2914610"/>
            <a:ext cx="325448" cy="588065"/>
          </a:xfrm>
          <a:prstGeom prst="bentConnector2">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ector: Angulado 23">
            <a:extLst>
              <a:ext uri="{FF2B5EF4-FFF2-40B4-BE49-F238E27FC236}">
                <a16:creationId xmlns:a16="http://schemas.microsoft.com/office/drawing/2014/main" id="{91FF23A8-8544-B950-440F-0AE6ADA9924A}"/>
              </a:ext>
            </a:extLst>
          </p:cNvPr>
          <p:cNvCxnSpPr>
            <a:stCxn id="18" idx="3"/>
            <a:endCxn id="21" idx="0"/>
          </p:cNvCxnSpPr>
          <p:nvPr/>
        </p:nvCxnSpPr>
        <p:spPr>
          <a:xfrm>
            <a:off x="4808961" y="2132852"/>
            <a:ext cx="309563" cy="489546"/>
          </a:xfrm>
          <a:prstGeom prst="bentConnector2">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Angulado 24">
            <a:extLst>
              <a:ext uri="{FF2B5EF4-FFF2-40B4-BE49-F238E27FC236}">
                <a16:creationId xmlns:a16="http://schemas.microsoft.com/office/drawing/2014/main" id="{6B9B9E55-DA6D-95E7-F3B9-D19557A19607}"/>
              </a:ext>
            </a:extLst>
          </p:cNvPr>
          <p:cNvCxnSpPr>
            <a:stCxn id="21" idx="2"/>
            <a:endCxn id="20" idx="3"/>
          </p:cNvCxnSpPr>
          <p:nvPr/>
        </p:nvCxnSpPr>
        <p:spPr>
          <a:xfrm rot="5400000">
            <a:off x="4676903" y="3061052"/>
            <a:ext cx="573497" cy="309746"/>
          </a:xfrm>
          <a:prstGeom prst="bentConnector2">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pic>
        <p:nvPicPr>
          <p:cNvPr id="26" name="Picture 4" descr="Contator de Segurança CWBS12-33-30C03 3p 12a 3na+3nf 24vcc">
            <a:extLst>
              <a:ext uri="{FF2B5EF4-FFF2-40B4-BE49-F238E27FC236}">
                <a16:creationId xmlns:a16="http://schemas.microsoft.com/office/drawing/2014/main" id="{76B6D2CF-5108-77A3-035D-2BF73EEC89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7430" y="4004936"/>
            <a:ext cx="744452" cy="842818"/>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TECVENT® - Ventilador Industrial Axial">
            <a:extLst>
              <a:ext uri="{FF2B5EF4-FFF2-40B4-BE49-F238E27FC236}">
                <a16:creationId xmlns:a16="http://schemas.microsoft.com/office/drawing/2014/main" id="{B2E19E9E-0208-C889-2811-8A337867BE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0716" y="3441962"/>
            <a:ext cx="878182" cy="948066"/>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SENSOR TERMOPAR FLEXÍVEL - Zien">
            <a:extLst>
              <a:ext uri="{FF2B5EF4-FFF2-40B4-BE49-F238E27FC236}">
                <a16:creationId xmlns:a16="http://schemas.microsoft.com/office/drawing/2014/main" id="{7FF3FA8A-95DB-0C62-8847-51E1742E41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3686" y="1456100"/>
            <a:ext cx="1287930" cy="1411448"/>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Siemens 6ES73136CG040AB0 S7-300 313-2 Compact Central Processing Unit With  MPI, 16 Digital Input, 16 Digital Output Input/Output, 128 kB Memory, 4  Expansion Racks">
            <a:extLst>
              <a:ext uri="{FF2B5EF4-FFF2-40B4-BE49-F238E27FC236}">
                <a16:creationId xmlns:a16="http://schemas.microsoft.com/office/drawing/2014/main" id="{0C383759-D6F9-E4DB-13B0-2E7F9A7BADC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19806" y="940289"/>
            <a:ext cx="1384685" cy="1384685"/>
          </a:xfrm>
          <a:prstGeom prst="rect">
            <a:avLst/>
          </a:prstGeom>
          <a:noFill/>
          <a:extLst>
            <a:ext uri="{909E8E84-426E-40DD-AFC4-6F175D3DCCD1}">
              <a14:hiddenFill xmlns:a14="http://schemas.microsoft.com/office/drawing/2010/main">
                <a:solidFill>
                  <a:srgbClr val="FFFFFF"/>
                </a:solidFill>
              </a14:hiddenFill>
            </a:ext>
          </a:extLst>
        </p:spPr>
      </p:pic>
      <p:sp>
        <p:nvSpPr>
          <p:cNvPr id="30" name="Retângulo 29">
            <a:extLst>
              <a:ext uri="{FF2B5EF4-FFF2-40B4-BE49-F238E27FC236}">
                <a16:creationId xmlns:a16="http://schemas.microsoft.com/office/drawing/2014/main" id="{B8F8B1BB-5E79-70F4-45A3-E5BC413FD81A}"/>
              </a:ext>
            </a:extLst>
          </p:cNvPr>
          <p:cNvSpPr/>
          <p:nvPr/>
        </p:nvSpPr>
        <p:spPr>
          <a:xfrm>
            <a:off x="-770" y="5089902"/>
            <a:ext cx="9141714" cy="53597"/>
          </a:xfrm>
          <a:prstGeom prst="rect">
            <a:avLst/>
          </a:prstGeom>
          <a:solidFill>
            <a:srgbClr val="004999"/>
          </a:solidFill>
          <a:ln>
            <a:solidFill>
              <a:srgbClr val="0DA3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p>
        </p:txBody>
      </p:sp>
      <p:pic>
        <p:nvPicPr>
          <p:cNvPr id="2" name="Picture 13">
            <a:extLst>
              <a:ext uri="{FF2B5EF4-FFF2-40B4-BE49-F238E27FC236}">
                <a16:creationId xmlns:a16="http://schemas.microsoft.com/office/drawing/2014/main" id="{0FE1B18D-11C1-594C-C639-5A643449CF35}"/>
              </a:ext>
            </a:extLst>
          </p:cNvPr>
          <p:cNvPicPr>
            <a:picLocks noChangeAspect="1"/>
          </p:cNvPicPr>
          <p:nvPr/>
        </p:nvPicPr>
        <p:blipFill>
          <a:blip r:embed="rId6"/>
          <a:stretch>
            <a:fillRect/>
          </a:stretch>
        </p:blipFill>
        <p:spPr>
          <a:xfrm>
            <a:off x="8086948" y="4619618"/>
            <a:ext cx="968262" cy="414969"/>
          </a:xfrm>
          <a:prstGeom prst="rect">
            <a:avLst/>
          </a:prstGeom>
        </p:spPr>
      </p:pic>
    </p:spTree>
    <p:extLst>
      <p:ext uri="{BB962C8B-B14F-4D97-AF65-F5344CB8AC3E}">
        <p14:creationId xmlns:p14="http://schemas.microsoft.com/office/powerpoint/2010/main" val="2079559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6" grpId="0"/>
      <p:bldP spid="17" grpId="0"/>
      <p:bldP spid="18" grpId="0" animBg="1"/>
      <p:bldP spid="19" grpId="0" animBg="1"/>
      <p:bldP spid="20" grpId="0" animBg="1"/>
      <p:bldP spid="2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F683D-A857-A93E-E21F-DF09910BE5D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CD4429F-AE2E-23CA-1B9B-3E72BEFA77E5}"/>
              </a:ext>
            </a:extLst>
          </p:cNvPr>
          <p:cNvSpPr/>
          <p:nvPr/>
        </p:nvSpPr>
        <p:spPr>
          <a:xfrm>
            <a:off x="0" y="0"/>
            <a:ext cx="9144000" cy="714375"/>
          </a:xfrm>
          <a:prstGeom prst="rect">
            <a:avLst/>
          </a:prstGeom>
          <a:solidFill>
            <a:srgbClr val="004A99"/>
          </a:solidFill>
          <a:ln/>
        </p:spPr>
        <p:txBody>
          <a:bodyPr/>
          <a:lstStyle/>
          <a:p>
            <a:endParaRPr lang="pt-BR"/>
          </a:p>
        </p:txBody>
      </p:sp>
      <p:sp>
        <p:nvSpPr>
          <p:cNvPr id="8" name="object 9">
            <a:extLst>
              <a:ext uri="{FF2B5EF4-FFF2-40B4-BE49-F238E27FC236}">
                <a16:creationId xmlns:a16="http://schemas.microsoft.com/office/drawing/2014/main" id="{C88F0237-5645-EDDB-F888-20D65B2575C2}"/>
              </a:ext>
            </a:extLst>
          </p:cNvPr>
          <p:cNvSpPr txBox="1">
            <a:spLocks/>
          </p:cNvSpPr>
          <p:nvPr/>
        </p:nvSpPr>
        <p:spPr>
          <a:xfrm>
            <a:off x="205081" y="114782"/>
            <a:ext cx="5486990" cy="471283"/>
          </a:xfrm>
          <a:prstGeom prst="rect">
            <a:avLst/>
          </a:prstGeom>
        </p:spPr>
        <p:txBody>
          <a:bodyPr vert="horz" wrap="square" lIns="0" tIns="9525"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9525">
              <a:lnSpc>
                <a:spcPct val="100000"/>
              </a:lnSpc>
              <a:spcBef>
                <a:spcPts val="75"/>
              </a:spcBef>
            </a:pPr>
            <a:r>
              <a:rPr lang="pt-BR" sz="3000" b="1" spc="-4" dirty="0">
                <a:solidFill>
                  <a:schemeClr val="bg1"/>
                </a:solidFill>
                <a:effectLst>
                  <a:outerShdw blurRad="38100" dist="38100" dir="2700000" algn="tl">
                    <a:srgbClr val="000000">
                      <a:alpha val="43137"/>
                    </a:srgbClr>
                  </a:outerShdw>
                </a:effectLst>
                <a:latin typeface="Agency FB" panose="020B0503020202020204" pitchFamily="34" charset="0"/>
                <a:cs typeface="Calibri"/>
              </a:rPr>
              <a:t>Sistemas de verticalização</a:t>
            </a:r>
          </a:p>
        </p:txBody>
      </p:sp>
      <p:sp>
        <p:nvSpPr>
          <p:cNvPr id="30" name="Retângulo 29">
            <a:extLst>
              <a:ext uri="{FF2B5EF4-FFF2-40B4-BE49-F238E27FC236}">
                <a16:creationId xmlns:a16="http://schemas.microsoft.com/office/drawing/2014/main" id="{3253A5C8-DE58-044F-D1D2-9ED3467BFF31}"/>
              </a:ext>
            </a:extLst>
          </p:cNvPr>
          <p:cNvSpPr/>
          <p:nvPr/>
        </p:nvSpPr>
        <p:spPr>
          <a:xfrm>
            <a:off x="-770" y="5089902"/>
            <a:ext cx="9141714" cy="53597"/>
          </a:xfrm>
          <a:prstGeom prst="rect">
            <a:avLst/>
          </a:prstGeom>
          <a:solidFill>
            <a:srgbClr val="0DA3B3"/>
          </a:solidFill>
          <a:ln>
            <a:solidFill>
              <a:srgbClr val="0DA3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p>
        </p:txBody>
      </p:sp>
      <p:pic>
        <p:nvPicPr>
          <p:cNvPr id="14" name="Picture 2" descr="Supervisório industrial: conheça o sistema SCADA - Pentanova">
            <a:extLst>
              <a:ext uri="{FF2B5EF4-FFF2-40B4-BE49-F238E27FC236}">
                <a16:creationId xmlns:a16="http://schemas.microsoft.com/office/drawing/2014/main" id="{7D83B988-689D-9235-AD0B-FE62F28B30B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2353" b="38166"/>
          <a:stretch/>
        </p:blipFill>
        <p:spPr bwMode="auto">
          <a:xfrm>
            <a:off x="2151209" y="2392472"/>
            <a:ext cx="6989735" cy="84422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Supervisório industrial: conheça o sistema SCADA - Pentanova">
            <a:extLst>
              <a:ext uri="{FF2B5EF4-FFF2-40B4-BE49-F238E27FC236}">
                <a16:creationId xmlns:a16="http://schemas.microsoft.com/office/drawing/2014/main" id="{751A811A-4535-D6DA-E452-05474663880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3822" b="57323"/>
          <a:stretch/>
        </p:blipFill>
        <p:spPr bwMode="auto">
          <a:xfrm>
            <a:off x="2151209" y="1561380"/>
            <a:ext cx="6989735" cy="81710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Supervisório industrial: conheça o sistema SCADA - Pentanova">
            <a:extLst>
              <a:ext uri="{FF2B5EF4-FFF2-40B4-BE49-F238E27FC236}">
                <a16:creationId xmlns:a16="http://schemas.microsoft.com/office/drawing/2014/main" id="{F82AC852-4E37-E9C3-0F77-ED0FFD80720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1325" b="19195"/>
          <a:stretch/>
        </p:blipFill>
        <p:spPr bwMode="auto">
          <a:xfrm>
            <a:off x="2151209" y="3250684"/>
            <a:ext cx="6989735" cy="84422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Supervisório industrial: conheça o sistema SCADA - Pentanova">
            <a:extLst>
              <a:ext uri="{FF2B5EF4-FFF2-40B4-BE49-F238E27FC236}">
                <a16:creationId xmlns:a16="http://schemas.microsoft.com/office/drawing/2014/main" id="{1F568A34-963A-F3DA-F0CF-9B7D88E8AD4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519"/>
          <a:stretch/>
        </p:blipFill>
        <p:spPr bwMode="auto">
          <a:xfrm>
            <a:off x="2151209" y="4108898"/>
            <a:ext cx="6989735" cy="84422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Supervisório industrial: conheça o sistema SCADA - Pentanova">
            <a:extLst>
              <a:ext uri="{FF2B5EF4-FFF2-40B4-BE49-F238E27FC236}">
                <a16:creationId xmlns:a16="http://schemas.microsoft.com/office/drawing/2014/main" id="{8095FC76-0CC6-2358-9BEB-3EE0644ABD2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5698"/>
          <a:stretch/>
        </p:blipFill>
        <p:spPr bwMode="auto">
          <a:xfrm>
            <a:off x="2151209" y="495115"/>
            <a:ext cx="6989735" cy="1053172"/>
          </a:xfrm>
          <a:prstGeom prst="rect">
            <a:avLst/>
          </a:prstGeom>
          <a:noFill/>
          <a:extLst>
            <a:ext uri="{909E8E84-426E-40DD-AFC4-6F175D3DCCD1}">
              <a14:hiddenFill xmlns:a14="http://schemas.microsoft.com/office/drawing/2010/main">
                <a:solidFill>
                  <a:srgbClr val="FFFFFF"/>
                </a:solidFill>
              </a14:hiddenFill>
            </a:ext>
          </a:extLst>
        </p:spPr>
      </p:pic>
      <p:sp>
        <p:nvSpPr>
          <p:cNvPr id="3" name="CaixaDeTexto 1">
            <a:extLst>
              <a:ext uri="{FF2B5EF4-FFF2-40B4-BE49-F238E27FC236}">
                <a16:creationId xmlns:a16="http://schemas.microsoft.com/office/drawing/2014/main" id="{A83FD079-E696-1980-F00F-7CCF42C13229}"/>
              </a:ext>
            </a:extLst>
          </p:cNvPr>
          <p:cNvSpPr txBox="1"/>
          <p:nvPr/>
        </p:nvSpPr>
        <p:spPr>
          <a:xfrm>
            <a:off x="205081" y="917679"/>
            <a:ext cx="3796619" cy="2677656"/>
          </a:xfrm>
          <a:prstGeom prst="rect">
            <a:avLst/>
          </a:prstGeom>
          <a:noFill/>
        </p:spPr>
        <p:txBody>
          <a:bodyPr wrap="square" rtlCol="0">
            <a:spAutoFit/>
          </a:bodyPr>
          <a:lstStyle>
            <a:defPPr>
              <a:defRPr lang="pt-BR"/>
            </a:defPPr>
            <a:lvl1pPr algn="just">
              <a:defRPr sz="2800" b="1"/>
            </a:lvl1pPr>
          </a:lstStyle>
          <a:p>
            <a:r>
              <a:rPr lang="pt-BR" altLang="pt-BR" sz="1400" b="0" dirty="0">
                <a:latin typeface="Agency FB" panose="020B0503020202020204" pitchFamily="34" charset="0"/>
              </a:rPr>
              <a:t>Para alcançar a integração vertical, existem alguns sistemas que devem ser utilizados pela planta, de modo   a facilitar e permitir a troca de informação vertical, e os principais sistemas serão os sistemas de:</a:t>
            </a:r>
          </a:p>
          <a:p>
            <a:endParaRPr lang="pt-BR" altLang="pt-BR" sz="1400" b="0" dirty="0">
              <a:latin typeface="Agency FB" panose="020B0503020202020204" pitchFamily="34" charset="0"/>
            </a:endParaRPr>
          </a:p>
          <a:p>
            <a:endParaRPr lang="pt-BR" altLang="pt-BR" sz="1400" b="0" dirty="0">
              <a:latin typeface="Agency FB" panose="020B0503020202020204" pitchFamily="34" charset="0"/>
            </a:endParaRPr>
          </a:p>
          <a:p>
            <a:pPr marL="277246" indent="-277246">
              <a:buFont typeface="Arial" panose="020B0604020202020204" pitchFamily="34" charset="0"/>
              <a:buChar char="•"/>
            </a:pPr>
            <a:r>
              <a:rPr lang="pt-BR" altLang="pt-BR" sz="1400" dirty="0">
                <a:latin typeface="Agency FB" panose="020B0503020202020204" pitchFamily="34" charset="0"/>
              </a:rPr>
              <a:t>CLP</a:t>
            </a:r>
            <a:r>
              <a:rPr lang="pt-BR" altLang="pt-BR" sz="1400" b="0" dirty="0">
                <a:latin typeface="Agency FB" panose="020B0503020202020204" pitchFamily="34" charset="0"/>
              </a:rPr>
              <a:t> - Controlador Lógico Programável</a:t>
            </a:r>
          </a:p>
          <a:p>
            <a:pPr marL="277246" indent="-277246">
              <a:buFont typeface="Arial" panose="020B0604020202020204" pitchFamily="34" charset="0"/>
              <a:buChar char="•"/>
            </a:pPr>
            <a:r>
              <a:rPr lang="pt-BR" altLang="pt-BR" sz="1400" dirty="0">
                <a:latin typeface="Agency FB" panose="020B0503020202020204" pitchFamily="34" charset="0"/>
              </a:rPr>
              <a:t>SCADA</a:t>
            </a:r>
            <a:r>
              <a:rPr lang="pt-BR" altLang="pt-BR" sz="1400" b="0" dirty="0">
                <a:latin typeface="Agency FB" panose="020B0503020202020204" pitchFamily="34" charset="0"/>
              </a:rPr>
              <a:t> - Sistemas de Supervisão e Aquisição de Dados</a:t>
            </a:r>
          </a:p>
          <a:p>
            <a:pPr marL="277246" indent="-277246">
              <a:buFont typeface="Arial" panose="020B0604020202020204" pitchFamily="34" charset="0"/>
              <a:buChar char="•"/>
            </a:pPr>
            <a:r>
              <a:rPr lang="pt-BR" altLang="pt-BR" sz="1400" dirty="0">
                <a:latin typeface="Agency FB" panose="020B0503020202020204" pitchFamily="34" charset="0"/>
              </a:rPr>
              <a:t>MES</a:t>
            </a:r>
            <a:r>
              <a:rPr lang="pt-BR" altLang="pt-BR" sz="1400" b="0" dirty="0">
                <a:latin typeface="Agency FB" panose="020B0503020202020204" pitchFamily="34" charset="0"/>
              </a:rPr>
              <a:t> - Manufacturing Execution System</a:t>
            </a:r>
          </a:p>
          <a:p>
            <a:pPr marL="277246" indent="-277246">
              <a:buFont typeface="Arial" panose="020B0604020202020204" pitchFamily="34" charset="0"/>
              <a:buChar char="•"/>
            </a:pPr>
            <a:r>
              <a:rPr lang="pt-BR" altLang="pt-BR" sz="1400" dirty="0">
                <a:latin typeface="Agency FB" panose="020B0503020202020204" pitchFamily="34" charset="0"/>
              </a:rPr>
              <a:t>ERP</a:t>
            </a:r>
            <a:r>
              <a:rPr lang="pt-BR" altLang="pt-BR" sz="1400" b="0" dirty="0">
                <a:latin typeface="Agency FB" panose="020B0503020202020204" pitchFamily="34" charset="0"/>
              </a:rPr>
              <a:t> - Enterprise Resource Planning</a:t>
            </a:r>
          </a:p>
          <a:p>
            <a:endParaRPr lang="pt-BR" altLang="pt-BR" sz="1400" b="0" dirty="0">
              <a:latin typeface="Agency FB" panose="020B0503020202020204" pitchFamily="34" charset="0"/>
            </a:endParaRPr>
          </a:p>
          <a:p>
            <a:endParaRPr lang="pt-BR" altLang="pt-BR" sz="1400" b="0" dirty="0">
              <a:latin typeface="Agency FB" panose="020B0503020202020204" pitchFamily="34" charset="0"/>
            </a:endParaRPr>
          </a:p>
        </p:txBody>
      </p:sp>
    </p:spTree>
    <p:extLst>
      <p:ext uri="{BB962C8B-B14F-4D97-AF65-F5344CB8AC3E}">
        <p14:creationId xmlns:p14="http://schemas.microsoft.com/office/powerpoint/2010/main" val="850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94201-157C-DB1D-ED73-49F042E1AC35}"/>
            </a:ext>
          </a:extLst>
        </p:cNvPr>
        <p:cNvGrpSpPr/>
        <p:nvPr/>
      </p:nvGrpSpPr>
      <p:grpSpPr>
        <a:xfrm>
          <a:off x="0" y="0"/>
          <a:ext cx="0" cy="0"/>
          <a:chOff x="0" y="0"/>
          <a:chExt cx="0" cy="0"/>
        </a:xfrm>
      </p:grpSpPr>
      <p:sp>
        <p:nvSpPr>
          <p:cNvPr id="6" name="Retângulo 5">
            <a:extLst>
              <a:ext uri="{FF2B5EF4-FFF2-40B4-BE49-F238E27FC236}">
                <a16:creationId xmlns:a16="http://schemas.microsoft.com/office/drawing/2014/main" id="{C2EB043E-445F-8139-66D8-15F1BFF021C5}"/>
              </a:ext>
            </a:extLst>
          </p:cNvPr>
          <p:cNvSpPr/>
          <p:nvPr/>
        </p:nvSpPr>
        <p:spPr>
          <a:xfrm>
            <a:off x="0" y="181897"/>
            <a:ext cx="9148566" cy="530915"/>
          </a:xfrm>
          <a:prstGeom prst="rect">
            <a:avLst/>
          </a:prstGeom>
          <a:solidFill>
            <a:srgbClr val="004999"/>
          </a:solidFill>
          <a:ln>
            <a:solidFill>
              <a:srgbClr val="0DA3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solidFill>
                <a:srgbClr val="0DA3B3"/>
              </a:solidFill>
            </a:endParaRPr>
          </a:p>
        </p:txBody>
      </p:sp>
      <p:sp>
        <p:nvSpPr>
          <p:cNvPr id="7" name="CaixaDeTexto 6">
            <a:extLst>
              <a:ext uri="{FF2B5EF4-FFF2-40B4-BE49-F238E27FC236}">
                <a16:creationId xmlns:a16="http://schemas.microsoft.com/office/drawing/2014/main" id="{3371858E-BB54-F6C5-B904-B1C339B06E61}"/>
              </a:ext>
            </a:extLst>
          </p:cNvPr>
          <p:cNvSpPr txBox="1"/>
          <p:nvPr/>
        </p:nvSpPr>
        <p:spPr>
          <a:xfrm>
            <a:off x="209646" y="181897"/>
            <a:ext cx="7197886" cy="553998"/>
          </a:xfrm>
          <a:prstGeom prst="rect">
            <a:avLst/>
          </a:prstGeom>
          <a:noFill/>
        </p:spPr>
        <p:txBody>
          <a:bodyPr wrap="square" rtlCol="0">
            <a:spAutoFit/>
          </a:bodyPr>
          <a:lstStyle/>
          <a:p>
            <a:r>
              <a:rPr lang="pt-BR" sz="3000" b="1" dirty="0">
                <a:solidFill>
                  <a:schemeClr val="bg1"/>
                </a:solidFill>
                <a:effectLst>
                  <a:outerShdw blurRad="38100" dist="38100" dir="2700000" algn="tl">
                    <a:srgbClr val="000000">
                      <a:alpha val="43137"/>
                    </a:srgbClr>
                  </a:outerShdw>
                </a:effectLst>
                <a:latin typeface="Agency FB" panose="020B0503020202020204" pitchFamily="34" charset="0"/>
              </a:rPr>
              <a:t>O que é um sinal?</a:t>
            </a:r>
          </a:p>
        </p:txBody>
      </p:sp>
      <p:sp>
        <p:nvSpPr>
          <p:cNvPr id="30" name="Retângulo 29">
            <a:extLst>
              <a:ext uri="{FF2B5EF4-FFF2-40B4-BE49-F238E27FC236}">
                <a16:creationId xmlns:a16="http://schemas.microsoft.com/office/drawing/2014/main" id="{38D19993-620C-FEA8-854E-C41D277E5F83}"/>
              </a:ext>
            </a:extLst>
          </p:cNvPr>
          <p:cNvSpPr/>
          <p:nvPr/>
        </p:nvSpPr>
        <p:spPr>
          <a:xfrm>
            <a:off x="-770" y="5089902"/>
            <a:ext cx="9141714" cy="53597"/>
          </a:xfrm>
          <a:prstGeom prst="rect">
            <a:avLst/>
          </a:prstGeom>
          <a:solidFill>
            <a:srgbClr val="004999"/>
          </a:solidFill>
          <a:ln>
            <a:solidFill>
              <a:srgbClr val="0DA3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p>
        </p:txBody>
      </p:sp>
      <p:sp>
        <p:nvSpPr>
          <p:cNvPr id="2" name="CaixaDeTexto 1">
            <a:extLst>
              <a:ext uri="{FF2B5EF4-FFF2-40B4-BE49-F238E27FC236}">
                <a16:creationId xmlns:a16="http://schemas.microsoft.com/office/drawing/2014/main" id="{DE5C28E5-3FFC-45A4-10D6-62D1A46D94FD}"/>
              </a:ext>
            </a:extLst>
          </p:cNvPr>
          <p:cNvSpPr txBox="1"/>
          <p:nvPr/>
        </p:nvSpPr>
        <p:spPr>
          <a:xfrm>
            <a:off x="205080" y="1395688"/>
            <a:ext cx="4366920" cy="1200329"/>
          </a:xfrm>
          <a:prstGeom prst="rect">
            <a:avLst/>
          </a:prstGeom>
          <a:noFill/>
        </p:spPr>
        <p:txBody>
          <a:bodyPr wrap="square" rtlCol="0">
            <a:spAutoFit/>
          </a:bodyPr>
          <a:lstStyle>
            <a:defPPr>
              <a:defRPr lang="pt-BR"/>
            </a:defPPr>
            <a:lvl1pPr algn="just">
              <a:defRPr sz="4400" b="0"/>
            </a:lvl1pPr>
          </a:lstStyle>
          <a:p>
            <a:endParaRPr lang="pt-BR" altLang="pt-BR" sz="1800" dirty="0">
              <a:latin typeface="Agency FB" panose="020B0503020202020204" pitchFamily="34" charset="0"/>
            </a:endParaRPr>
          </a:p>
          <a:p>
            <a:r>
              <a:rPr lang="pt-BR" altLang="pt-BR" sz="1800" dirty="0">
                <a:latin typeface="Agency FB" panose="020B0503020202020204" pitchFamily="34" charset="0"/>
              </a:rPr>
              <a:t>Um sinal é a representação de informações em forma de um valor ou de uma curva de valores de uma grandeza física (DIN 19226). </a:t>
            </a:r>
          </a:p>
        </p:txBody>
      </p:sp>
      <p:pic>
        <p:nvPicPr>
          <p:cNvPr id="3" name="Picture 2" descr="animated gif showcase davidope | under construction">
            <a:extLst>
              <a:ext uri="{FF2B5EF4-FFF2-40B4-BE49-F238E27FC236}">
                <a16:creationId xmlns:a16="http://schemas.microsoft.com/office/drawing/2014/main" id="{CC03C41D-F46C-30B9-C8D5-181A148D07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1" y="941270"/>
            <a:ext cx="4012746" cy="4012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7196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AF49B-353D-7C68-F2DB-66FDE21CAE41}"/>
            </a:ext>
          </a:extLst>
        </p:cNvPr>
        <p:cNvGrpSpPr/>
        <p:nvPr/>
      </p:nvGrpSpPr>
      <p:grpSpPr>
        <a:xfrm>
          <a:off x="0" y="0"/>
          <a:ext cx="0" cy="0"/>
          <a:chOff x="0" y="0"/>
          <a:chExt cx="0" cy="0"/>
        </a:xfrm>
      </p:grpSpPr>
      <p:sp>
        <p:nvSpPr>
          <p:cNvPr id="6" name="Retângulo 5">
            <a:extLst>
              <a:ext uri="{FF2B5EF4-FFF2-40B4-BE49-F238E27FC236}">
                <a16:creationId xmlns:a16="http://schemas.microsoft.com/office/drawing/2014/main" id="{5AF76CC8-AA7C-0A8D-224C-D55C62725897}"/>
              </a:ext>
            </a:extLst>
          </p:cNvPr>
          <p:cNvSpPr/>
          <p:nvPr/>
        </p:nvSpPr>
        <p:spPr>
          <a:xfrm>
            <a:off x="-4566" y="833377"/>
            <a:ext cx="9148566" cy="530915"/>
          </a:xfrm>
          <a:prstGeom prst="rect">
            <a:avLst/>
          </a:prstGeom>
          <a:solidFill>
            <a:srgbClr val="004999"/>
          </a:solidFill>
          <a:ln>
            <a:solidFill>
              <a:srgbClr val="0DA3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solidFill>
                <a:srgbClr val="0DA3B3"/>
              </a:solidFill>
            </a:endParaRPr>
          </a:p>
        </p:txBody>
      </p:sp>
      <p:sp>
        <p:nvSpPr>
          <p:cNvPr id="7" name="CaixaDeTexto 6">
            <a:extLst>
              <a:ext uri="{FF2B5EF4-FFF2-40B4-BE49-F238E27FC236}">
                <a16:creationId xmlns:a16="http://schemas.microsoft.com/office/drawing/2014/main" id="{91081458-E791-C29B-0EFF-7CBBE36BC934}"/>
              </a:ext>
            </a:extLst>
          </p:cNvPr>
          <p:cNvSpPr txBox="1"/>
          <p:nvPr/>
        </p:nvSpPr>
        <p:spPr>
          <a:xfrm>
            <a:off x="205080" y="833377"/>
            <a:ext cx="7197886" cy="553998"/>
          </a:xfrm>
          <a:prstGeom prst="rect">
            <a:avLst/>
          </a:prstGeom>
          <a:noFill/>
        </p:spPr>
        <p:txBody>
          <a:bodyPr wrap="square" rtlCol="0">
            <a:spAutoFit/>
          </a:bodyPr>
          <a:lstStyle/>
          <a:p>
            <a:r>
              <a:rPr lang="pt-BR" sz="3000" b="1" dirty="0">
                <a:solidFill>
                  <a:schemeClr val="bg1"/>
                </a:solidFill>
                <a:effectLst>
                  <a:outerShdw blurRad="38100" dist="38100" dir="2700000" algn="tl">
                    <a:srgbClr val="000000">
                      <a:alpha val="43137"/>
                    </a:srgbClr>
                  </a:outerShdw>
                </a:effectLst>
                <a:latin typeface="Agency FB" panose="020B0503020202020204" pitchFamily="34" charset="0"/>
              </a:rPr>
              <a:t>Sinais Analógicos</a:t>
            </a:r>
          </a:p>
        </p:txBody>
      </p:sp>
      <p:sp>
        <p:nvSpPr>
          <p:cNvPr id="30" name="Retângulo 29">
            <a:extLst>
              <a:ext uri="{FF2B5EF4-FFF2-40B4-BE49-F238E27FC236}">
                <a16:creationId xmlns:a16="http://schemas.microsoft.com/office/drawing/2014/main" id="{2C8F4DE7-7A5F-ABE7-10B4-CBC8ACAFC5BE}"/>
              </a:ext>
            </a:extLst>
          </p:cNvPr>
          <p:cNvSpPr/>
          <p:nvPr/>
        </p:nvSpPr>
        <p:spPr>
          <a:xfrm>
            <a:off x="-770" y="5089902"/>
            <a:ext cx="9141714" cy="53597"/>
          </a:xfrm>
          <a:prstGeom prst="rect">
            <a:avLst/>
          </a:prstGeom>
          <a:solidFill>
            <a:srgbClr val="004999"/>
          </a:solidFill>
          <a:ln>
            <a:solidFill>
              <a:srgbClr val="0DA3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p>
        </p:txBody>
      </p:sp>
      <p:sp>
        <p:nvSpPr>
          <p:cNvPr id="2" name="CaixaDeTexto 1">
            <a:extLst>
              <a:ext uri="{FF2B5EF4-FFF2-40B4-BE49-F238E27FC236}">
                <a16:creationId xmlns:a16="http://schemas.microsoft.com/office/drawing/2014/main" id="{EAF4838B-0487-6570-8965-4DE86939FAF9}"/>
              </a:ext>
            </a:extLst>
          </p:cNvPr>
          <p:cNvSpPr txBox="1"/>
          <p:nvPr/>
        </p:nvSpPr>
        <p:spPr>
          <a:xfrm>
            <a:off x="205080" y="1395688"/>
            <a:ext cx="4366920" cy="923330"/>
          </a:xfrm>
          <a:prstGeom prst="rect">
            <a:avLst/>
          </a:prstGeom>
          <a:noFill/>
        </p:spPr>
        <p:txBody>
          <a:bodyPr wrap="square" rtlCol="0">
            <a:spAutoFit/>
          </a:bodyPr>
          <a:lstStyle>
            <a:defPPr>
              <a:defRPr lang="pt-BR"/>
            </a:defPPr>
            <a:lvl1pPr algn="just">
              <a:defRPr sz="4400" b="0"/>
            </a:lvl1pPr>
          </a:lstStyle>
          <a:p>
            <a:r>
              <a:rPr lang="pt-BR" altLang="pt-BR" sz="1800" dirty="0">
                <a:latin typeface="Agency FB" panose="020B0503020202020204" pitchFamily="34" charset="0"/>
              </a:rPr>
              <a:t>Um Sinal Analógico apresenta uma variação contínua ao longo do tempo, podendo ter características de amplitude e frequência bastante variáveis.</a:t>
            </a:r>
          </a:p>
        </p:txBody>
      </p:sp>
      <p:pic>
        <p:nvPicPr>
          <p:cNvPr id="5" name="Picture 7">
            <a:extLst>
              <a:ext uri="{FF2B5EF4-FFF2-40B4-BE49-F238E27FC236}">
                <a16:creationId xmlns:a16="http://schemas.microsoft.com/office/drawing/2014/main" id="{B7F965C2-3111-5862-9CC3-69769BCB671A}"/>
              </a:ext>
            </a:extLst>
          </p:cNvPr>
          <p:cNvPicPr/>
          <p:nvPr/>
        </p:nvPicPr>
        <p:blipFill>
          <a:blip r:embed="rId2"/>
          <a:stretch/>
        </p:blipFill>
        <p:spPr>
          <a:xfrm>
            <a:off x="4820806" y="1504370"/>
            <a:ext cx="3836534" cy="3060081"/>
          </a:xfrm>
          <a:prstGeom prst="rect">
            <a:avLst/>
          </a:prstGeom>
          <a:ln w="0">
            <a:noFill/>
          </a:ln>
        </p:spPr>
      </p:pic>
      <p:pic>
        <p:nvPicPr>
          <p:cNvPr id="3" name="Picture 13">
            <a:extLst>
              <a:ext uri="{FF2B5EF4-FFF2-40B4-BE49-F238E27FC236}">
                <a16:creationId xmlns:a16="http://schemas.microsoft.com/office/drawing/2014/main" id="{DAC100E0-539B-BB37-9CBE-045030F29CE6}"/>
              </a:ext>
            </a:extLst>
          </p:cNvPr>
          <p:cNvPicPr>
            <a:picLocks noChangeAspect="1"/>
          </p:cNvPicPr>
          <p:nvPr/>
        </p:nvPicPr>
        <p:blipFill>
          <a:blip r:embed="rId3"/>
          <a:stretch>
            <a:fillRect/>
          </a:stretch>
        </p:blipFill>
        <p:spPr>
          <a:xfrm>
            <a:off x="7813482" y="4564451"/>
            <a:ext cx="968262" cy="414969"/>
          </a:xfrm>
          <a:prstGeom prst="rect">
            <a:avLst/>
          </a:prstGeom>
        </p:spPr>
      </p:pic>
    </p:spTree>
    <p:extLst>
      <p:ext uri="{BB962C8B-B14F-4D97-AF65-F5344CB8AC3E}">
        <p14:creationId xmlns:p14="http://schemas.microsoft.com/office/powerpoint/2010/main" val="40062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19FA8-57DA-DD52-6822-F0FA0D09B2DC}"/>
            </a:ext>
          </a:extLst>
        </p:cNvPr>
        <p:cNvGrpSpPr/>
        <p:nvPr/>
      </p:nvGrpSpPr>
      <p:grpSpPr>
        <a:xfrm>
          <a:off x="0" y="0"/>
          <a:ext cx="0" cy="0"/>
          <a:chOff x="0" y="0"/>
          <a:chExt cx="0" cy="0"/>
        </a:xfrm>
      </p:grpSpPr>
      <p:sp>
        <p:nvSpPr>
          <p:cNvPr id="6" name="Retângulo 5">
            <a:extLst>
              <a:ext uri="{FF2B5EF4-FFF2-40B4-BE49-F238E27FC236}">
                <a16:creationId xmlns:a16="http://schemas.microsoft.com/office/drawing/2014/main" id="{38AC0729-EF0D-A0D7-0EF5-C445CE6BE1E1}"/>
              </a:ext>
            </a:extLst>
          </p:cNvPr>
          <p:cNvSpPr/>
          <p:nvPr/>
        </p:nvSpPr>
        <p:spPr>
          <a:xfrm>
            <a:off x="-4566" y="833377"/>
            <a:ext cx="9148566" cy="530915"/>
          </a:xfrm>
          <a:prstGeom prst="rect">
            <a:avLst/>
          </a:prstGeom>
          <a:solidFill>
            <a:srgbClr val="004999"/>
          </a:solidFill>
          <a:ln>
            <a:solidFill>
              <a:srgbClr val="0DA3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solidFill>
                <a:srgbClr val="0DA3B3"/>
              </a:solidFill>
            </a:endParaRPr>
          </a:p>
        </p:txBody>
      </p:sp>
      <p:sp>
        <p:nvSpPr>
          <p:cNvPr id="7" name="CaixaDeTexto 6">
            <a:extLst>
              <a:ext uri="{FF2B5EF4-FFF2-40B4-BE49-F238E27FC236}">
                <a16:creationId xmlns:a16="http://schemas.microsoft.com/office/drawing/2014/main" id="{8DDFF342-E4FC-4946-9E29-97A136B80BB9}"/>
              </a:ext>
            </a:extLst>
          </p:cNvPr>
          <p:cNvSpPr txBox="1"/>
          <p:nvPr/>
        </p:nvSpPr>
        <p:spPr>
          <a:xfrm>
            <a:off x="205080" y="833377"/>
            <a:ext cx="7197886" cy="553998"/>
          </a:xfrm>
          <a:prstGeom prst="rect">
            <a:avLst/>
          </a:prstGeom>
          <a:noFill/>
        </p:spPr>
        <p:txBody>
          <a:bodyPr wrap="square" rtlCol="0">
            <a:spAutoFit/>
          </a:bodyPr>
          <a:lstStyle/>
          <a:p>
            <a:r>
              <a:rPr lang="pt-BR" sz="3000" b="1" dirty="0">
                <a:solidFill>
                  <a:schemeClr val="bg1"/>
                </a:solidFill>
                <a:effectLst>
                  <a:outerShdw blurRad="38100" dist="38100" dir="2700000" algn="tl">
                    <a:srgbClr val="000000">
                      <a:alpha val="43137"/>
                    </a:srgbClr>
                  </a:outerShdw>
                </a:effectLst>
                <a:latin typeface="Agency FB" panose="020B0503020202020204" pitchFamily="34" charset="0"/>
              </a:rPr>
              <a:t>Sinais Digitais</a:t>
            </a:r>
          </a:p>
        </p:txBody>
      </p:sp>
      <p:sp>
        <p:nvSpPr>
          <p:cNvPr id="30" name="Retângulo 29">
            <a:extLst>
              <a:ext uri="{FF2B5EF4-FFF2-40B4-BE49-F238E27FC236}">
                <a16:creationId xmlns:a16="http://schemas.microsoft.com/office/drawing/2014/main" id="{49688BD1-F67B-36CF-FA22-CEB6912EE248}"/>
              </a:ext>
            </a:extLst>
          </p:cNvPr>
          <p:cNvSpPr/>
          <p:nvPr/>
        </p:nvSpPr>
        <p:spPr>
          <a:xfrm>
            <a:off x="-770" y="5089902"/>
            <a:ext cx="9141714" cy="53597"/>
          </a:xfrm>
          <a:prstGeom prst="rect">
            <a:avLst/>
          </a:prstGeom>
          <a:solidFill>
            <a:srgbClr val="004999"/>
          </a:solidFill>
          <a:ln>
            <a:solidFill>
              <a:srgbClr val="0DA3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p>
        </p:txBody>
      </p:sp>
      <p:sp>
        <p:nvSpPr>
          <p:cNvPr id="2" name="CaixaDeTexto 1">
            <a:extLst>
              <a:ext uri="{FF2B5EF4-FFF2-40B4-BE49-F238E27FC236}">
                <a16:creationId xmlns:a16="http://schemas.microsoft.com/office/drawing/2014/main" id="{E87102C7-8780-6122-5A21-2B98F85900DE}"/>
              </a:ext>
            </a:extLst>
          </p:cNvPr>
          <p:cNvSpPr txBox="1"/>
          <p:nvPr/>
        </p:nvSpPr>
        <p:spPr>
          <a:xfrm>
            <a:off x="205080" y="1395687"/>
            <a:ext cx="8514377" cy="646331"/>
          </a:xfrm>
          <a:prstGeom prst="rect">
            <a:avLst/>
          </a:prstGeom>
          <a:noFill/>
        </p:spPr>
        <p:txBody>
          <a:bodyPr wrap="square" rtlCol="0">
            <a:spAutoFit/>
          </a:bodyPr>
          <a:lstStyle>
            <a:defPPr>
              <a:defRPr lang="pt-BR"/>
            </a:defPPr>
            <a:lvl1pPr algn="just">
              <a:defRPr sz="4400" b="0"/>
            </a:lvl1pPr>
          </a:lstStyle>
          <a:p>
            <a:r>
              <a:rPr lang="pt-BR" altLang="pt-BR" sz="1800" dirty="0">
                <a:latin typeface="Agency FB" panose="020B0503020202020204" pitchFamily="34" charset="0"/>
              </a:rPr>
              <a:t>Um Sinal Digital do tipo Binário é uma sequência de dois níveis de impulsos com amplitude definida, e sucedendo-se a intervalos de tempo regulares. </a:t>
            </a:r>
          </a:p>
        </p:txBody>
      </p:sp>
      <p:pic>
        <p:nvPicPr>
          <p:cNvPr id="3" name="Picture 6">
            <a:extLst>
              <a:ext uri="{FF2B5EF4-FFF2-40B4-BE49-F238E27FC236}">
                <a16:creationId xmlns:a16="http://schemas.microsoft.com/office/drawing/2014/main" id="{3C9C5AD2-257F-1CF2-13CF-CD861B1913BE}"/>
              </a:ext>
            </a:extLst>
          </p:cNvPr>
          <p:cNvPicPr/>
          <p:nvPr/>
        </p:nvPicPr>
        <p:blipFill>
          <a:blip r:embed="rId2"/>
          <a:stretch/>
        </p:blipFill>
        <p:spPr>
          <a:xfrm>
            <a:off x="622271" y="2486964"/>
            <a:ext cx="5059748" cy="2044693"/>
          </a:xfrm>
          <a:prstGeom prst="rect">
            <a:avLst/>
          </a:prstGeom>
          <a:ln w="0">
            <a:noFill/>
          </a:ln>
        </p:spPr>
      </p:pic>
      <p:grpSp>
        <p:nvGrpSpPr>
          <p:cNvPr id="9" name="Group 1">
            <a:extLst>
              <a:ext uri="{FF2B5EF4-FFF2-40B4-BE49-F238E27FC236}">
                <a16:creationId xmlns:a16="http://schemas.microsoft.com/office/drawing/2014/main" id="{47627A79-8821-70CB-96E9-54451671EB9A}"/>
              </a:ext>
            </a:extLst>
          </p:cNvPr>
          <p:cNvGrpSpPr/>
          <p:nvPr/>
        </p:nvGrpSpPr>
        <p:grpSpPr>
          <a:xfrm>
            <a:off x="5692070" y="2120871"/>
            <a:ext cx="2887401" cy="2455893"/>
            <a:chOff x="3394800" y="4149000"/>
            <a:chExt cx="7859520" cy="6408720"/>
          </a:xfrm>
        </p:grpSpPr>
        <p:grpSp>
          <p:nvGrpSpPr>
            <p:cNvPr id="10" name="Group 2">
              <a:extLst>
                <a:ext uri="{FF2B5EF4-FFF2-40B4-BE49-F238E27FC236}">
                  <a16:creationId xmlns:a16="http://schemas.microsoft.com/office/drawing/2014/main" id="{9DDEE067-B51F-022F-4803-F7894B0A1F78}"/>
                </a:ext>
              </a:extLst>
            </p:cNvPr>
            <p:cNvGrpSpPr/>
            <p:nvPr/>
          </p:nvGrpSpPr>
          <p:grpSpPr>
            <a:xfrm>
              <a:off x="3401280" y="4149000"/>
              <a:ext cx="7846560" cy="6402240"/>
              <a:chOff x="3401280" y="4149000"/>
              <a:chExt cx="7846560" cy="6402240"/>
            </a:xfrm>
          </p:grpSpPr>
          <p:grpSp>
            <p:nvGrpSpPr>
              <p:cNvPr id="12" name="Group 3">
                <a:extLst>
                  <a:ext uri="{FF2B5EF4-FFF2-40B4-BE49-F238E27FC236}">
                    <a16:creationId xmlns:a16="http://schemas.microsoft.com/office/drawing/2014/main" id="{CB3F804C-ACD2-81D9-01CF-0F7B38590C9C}"/>
                  </a:ext>
                </a:extLst>
              </p:cNvPr>
              <p:cNvGrpSpPr/>
              <p:nvPr/>
            </p:nvGrpSpPr>
            <p:grpSpPr>
              <a:xfrm>
                <a:off x="3401280" y="4149000"/>
                <a:ext cx="3921480" cy="1091520"/>
                <a:chOff x="3401280" y="4149000"/>
                <a:chExt cx="3921480" cy="1091520"/>
              </a:xfrm>
            </p:grpSpPr>
            <p:sp>
              <p:nvSpPr>
                <p:cNvPr id="69" name="CustomShape 4">
                  <a:extLst>
                    <a:ext uri="{FF2B5EF4-FFF2-40B4-BE49-F238E27FC236}">
                      <a16:creationId xmlns:a16="http://schemas.microsoft.com/office/drawing/2014/main" id="{58F5847D-5F1A-12A7-4216-E4D9407299E4}"/>
                    </a:ext>
                  </a:extLst>
                </p:cNvPr>
                <p:cNvSpPr/>
                <p:nvPr/>
              </p:nvSpPr>
              <p:spPr>
                <a:xfrm>
                  <a:off x="3401280" y="4149000"/>
                  <a:ext cx="3921480" cy="1080720"/>
                </a:xfrm>
                <a:prstGeom prst="rect">
                  <a:avLst/>
                </a:prstGeom>
                <a:solidFill>
                  <a:srgbClr val="000080"/>
                </a:solidFill>
                <a:ln w="9360">
                  <a:no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nvGrpSpPr>
                <p:cNvPr id="70" name="Group 5">
                  <a:extLst>
                    <a:ext uri="{FF2B5EF4-FFF2-40B4-BE49-F238E27FC236}">
                      <a16:creationId xmlns:a16="http://schemas.microsoft.com/office/drawing/2014/main" id="{E041445D-0911-7ABF-7A0A-013F2C3D5FDE}"/>
                    </a:ext>
                  </a:extLst>
                </p:cNvPr>
                <p:cNvGrpSpPr/>
                <p:nvPr/>
              </p:nvGrpSpPr>
              <p:grpSpPr>
                <a:xfrm>
                  <a:off x="3401280" y="4149000"/>
                  <a:ext cx="3921480" cy="1091520"/>
                  <a:chOff x="3401280" y="4149000"/>
                  <a:chExt cx="3921480" cy="1091520"/>
                </a:xfrm>
              </p:grpSpPr>
              <p:sp>
                <p:nvSpPr>
                  <p:cNvPr id="71" name="CustomShape 6">
                    <a:extLst>
                      <a:ext uri="{FF2B5EF4-FFF2-40B4-BE49-F238E27FC236}">
                        <a16:creationId xmlns:a16="http://schemas.microsoft.com/office/drawing/2014/main" id="{14AF42A4-712C-769E-DA80-51D2C205B113}"/>
                      </a:ext>
                    </a:extLst>
                  </p:cNvPr>
                  <p:cNvSpPr/>
                  <p:nvPr/>
                </p:nvSpPr>
                <p:spPr>
                  <a:xfrm>
                    <a:off x="3462480" y="4149000"/>
                    <a:ext cx="3801240" cy="1091520"/>
                  </a:xfrm>
                  <a:prstGeom prst="rect">
                    <a:avLst/>
                  </a:prstGeom>
                  <a:solidFill>
                    <a:srgbClr val="000080"/>
                  </a:solidFill>
                  <a:ln w="9360">
                    <a:noFill/>
                  </a:ln>
                </p:spPr>
                <p:style>
                  <a:lnRef idx="0">
                    <a:scrgbClr r="0" g="0" b="0"/>
                  </a:lnRef>
                  <a:fillRef idx="0">
                    <a:scrgbClr r="0" g="0" b="0"/>
                  </a:fillRef>
                  <a:effectRef idx="0">
                    <a:scrgbClr r="0" g="0" b="0"/>
                  </a:effectRef>
                  <a:fontRef idx="minor"/>
                </p:style>
                <p:txBody>
                  <a:bodyPr lIns="40932" tIns="20466" rIns="40932" bIns="0" anchor="ctr">
                    <a:noAutofit/>
                  </a:bodyPr>
                  <a:lstStyle/>
                  <a:p>
                    <a:pPr algn="ctr">
                      <a:lnSpc>
                        <a:spcPct val="100000"/>
                      </a:lnSpc>
                      <a:buNone/>
                    </a:pPr>
                    <a:r>
                      <a:rPr lang="pt-BR" sz="1350" b="1" spc="-1" dirty="0">
                        <a:solidFill>
                          <a:srgbClr val="FFFFFF"/>
                        </a:solidFill>
                        <a:latin typeface="Agency FB" panose="020B0503020202020204" pitchFamily="34" charset="0"/>
                        <a:ea typeface="DejaVu Sans"/>
                      </a:rPr>
                      <a:t>Nível Lógico 0</a:t>
                    </a:r>
                    <a:endParaRPr lang="pt-BR" sz="1350" b="1" spc="-1" dirty="0">
                      <a:latin typeface="Agency FB" panose="020B0503020202020204" pitchFamily="34" charset="0"/>
                    </a:endParaRPr>
                  </a:p>
                </p:txBody>
              </p:sp>
              <p:sp>
                <p:nvSpPr>
                  <p:cNvPr id="72" name="CustomShape 7">
                    <a:extLst>
                      <a:ext uri="{FF2B5EF4-FFF2-40B4-BE49-F238E27FC236}">
                        <a16:creationId xmlns:a16="http://schemas.microsoft.com/office/drawing/2014/main" id="{8C3E7F73-63A3-21CD-874F-A0B838A74DC9}"/>
                      </a:ext>
                    </a:extLst>
                  </p:cNvPr>
                  <p:cNvSpPr/>
                  <p:nvPr/>
                </p:nvSpPr>
                <p:spPr>
                  <a:xfrm>
                    <a:off x="3401280" y="4149000"/>
                    <a:ext cx="3921480" cy="1080720"/>
                  </a:xfrm>
                  <a:prstGeom prst="rect">
                    <a:avLst/>
                  </a:prstGeom>
                  <a:noFill/>
                  <a:ln w="0">
                    <a:solidFill>
                      <a:srgbClr val="A0A0A0"/>
                    </a:solid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grpSp>
          <p:grpSp>
            <p:nvGrpSpPr>
              <p:cNvPr id="13" name="Group 8">
                <a:extLst>
                  <a:ext uri="{FF2B5EF4-FFF2-40B4-BE49-F238E27FC236}">
                    <a16:creationId xmlns:a16="http://schemas.microsoft.com/office/drawing/2014/main" id="{8F9AACE8-3C16-F70D-38D0-D9EC30C337A8}"/>
                  </a:ext>
                </a:extLst>
              </p:cNvPr>
              <p:cNvGrpSpPr/>
              <p:nvPr/>
            </p:nvGrpSpPr>
            <p:grpSpPr>
              <a:xfrm>
                <a:off x="7326360" y="4149000"/>
                <a:ext cx="3921480" cy="1091520"/>
                <a:chOff x="7326360" y="4149000"/>
                <a:chExt cx="3921480" cy="1091520"/>
              </a:xfrm>
            </p:grpSpPr>
            <p:sp>
              <p:nvSpPr>
                <p:cNvPr id="65" name="CustomShape 9">
                  <a:extLst>
                    <a:ext uri="{FF2B5EF4-FFF2-40B4-BE49-F238E27FC236}">
                      <a16:creationId xmlns:a16="http://schemas.microsoft.com/office/drawing/2014/main" id="{FF10AC33-734B-A253-6EEC-DABB17446905}"/>
                    </a:ext>
                  </a:extLst>
                </p:cNvPr>
                <p:cNvSpPr/>
                <p:nvPr/>
              </p:nvSpPr>
              <p:spPr>
                <a:xfrm>
                  <a:off x="7326360" y="4149000"/>
                  <a:ext cx="3921480" cy="1080720"/>
                </a:xfrm>
                <a:prstGeom prst="rect">
                  <a:avLst/>
                </a:prstGeom>
                <a:solidFill>
                  <a:srgbClr val="000080"/>
                </a:solidFill>
                <a:ln w="9360">
                  <a:no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nvGrpSpPr>
                <p:cNvPr id="66" name="Group 10">
                  <a:extLst>
                    <a:ext uri="{FF2B5EF4-FFF2-40B4-BE49-F238E27FC236}">
                      <a16:creationId xmlns:a16="http://schemas.microsoft.com/office/drawing/2014/main" id="{E7238F85-42EB-F710-1A62-360A6D3C26F4}"/>
                    </a:ext>
                  </a:extLst>
                </p:cNvPr>
                <p:cNvGrpSpPr/>
                <p:nvPr/>
              </p:nvGrpSpPr>
              <p:grpSpPr>
                <a:xfrm>
                  <a:off x="7326360" y="4149000"/>
                  <a:ext cx="3921480" cy="1091520"/>
                  <a:chOff x="7326360" y="4149000"/>
                  <a:chExt cx="3921480" cy="1091520"/>
                </a:xfrm>
              </p:grpSpPr>
              <p:sp>
                <p:nvSpPr>
                  <p:cNvPr id="67" name="CustomShape 11">
                    <a:extLst>
                      <a:ext uri="{FF2B5EF4-FFF2-40B4-BE49-F238E27FC236}">
                        <a16:creationId xmlns:a16="http://schemas.microsoft.com/office/drawing/2014/main" id="{8519BADA-55D6-6E42-5147-F44F7404BB01}"/>
                      </a:ext>
                    </a:extLst>
                  </p:cNvPr>
                  <p:cNvSpPr/>
                  <p:nvPr/>
                </p:nvSpPr>
                <p:spPr>
                  <a:xfrm>
                    <a:off x="7385041" y="4149000"/>
                    <a:ext cx="3801240" cy="1091520"/>
                  </a:xfrm>
                  <a:prstGeom prst="rect">
                    <a:avLst/>
                  </a:prstGeom>
                  <a:solidFill>
                    <a:srgbClr val="000080"/>
                  </a:solidFill>
                  <a:ln w="9360">
                    <a:noFill/>
                  </a:ln>
                </p:spPr>
                <p:style>
                  <a:lnRef idx="0">
                    <a:scrgbClr r="0" g="0" b="0"/>
                  </a:lnRef>
                  <a:fillRef idx="0">
                    <a:scrgbClr r="0" g="0" b="0"/>
                  </a:fillRef>
                  <a:effectRef idx="0">
                    <a:scrgbClr r="0" g="0" b="0"/>
                  </a:effectRef>
                  <a:fontRef idx="minor"/>
                </p:style>
                <p:txBody>
                  <a:bodyPr lIns="40932" tIns="20466" rIns="40932" bIns="0" anchor="ctr">
                    <a:noAutofit/>
                  </a:bodyPr>
                  <a:lstStyle/>
                  <a:p>
                    <a:pPr algn="ctr">
                      <a:lnSpc>
                        <a:spcPct val="100000"/>
                      </a:lnSpc>
                      <a:buNone/>
                    </a:pPr>
                    <a:r>
                      <a:rPr lang="pt-BR" sz="1350" b="1" spc="-1" dirty="0">
                        <a:solidFill>
                          <a:srgbClr val="FFFFFF"/>
                        </a:solidFill>
                        <a:latin typeface="Agency FB" panose="020B0503020202020204" pitchFamily="34" charset="0"/>
                        <a:ea typeface="DejaVu Sans"/>
                      </a:rPr>
                      <a:t>Nível Lógico 1</a:t>
                    </a:r>
                    <a:endParaRPr lang="pt-BR" sz="1350" b="1" spc="-1" dirty="0">
                      <a:latin typeface="Agency FB" panose="020B0503020202020204" pitchFamily="34" charset="0"/>
                    </a:endParaRPr>
                  </a:p>
                </p:txBody>
              </p:sp>
              <p:sp>
                <p:nvSpPr>
                  <p:cNvPr id="68" name="CustomShape 12">
                    <a:extLst>
                      <a:ext uri="{FF2B5EF4-FFF2-40B4-BE49-F238E27FC236}">
                        <a16:creationId xmlns:a16="http://schemas.microsoft.com/office/drawing/2014/main" id="{DA04647D-8032-55E1-C653-622FFD1A5464}"/>
                      </a:ext>
                    </a:extLst>
                  </p:cNvPr>
                  <p:cNvSpPr/>
                  <p:nvPr/>
                </p:nvSpPr>
                <p:spPr>
                  <a:xfrm>
                    <a:off x="7326360" y="4149000"/>
                    <a:ext cx="3921480" cy="1080720"/>
                  </a:xfrm>
                  <a:prstGeom prst="rect">
                    <a:avLst/>
                  </a:prstGeom>
                  <a:noFill/>
                  <a:ln w="0">
                    <a:solidFill>
                      <a:srgbClr val="A0A0A0"/>
                    </a:solid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grpSp>
          <p:grpSp>
            <p:nvGrpSpPr>
              <p:cNvPr id="14" name="Group 13">
                <a:extLst>
                  <a:ext uri="{FF2B5EF4-FFF2-40B4-BE49-F238E27FC236}">
                    <a16:creationId xmlns:a16="http://schemas.microsoft.com/office/drawing/2014/main" id="{C7F9C0DB-D73C-E714-B09B-C90078E48CE0}"/>
                  </a:ext>
                </a:extLst>
              </p:cNvPr>
              <p:cNvGrpSpPr/>
              <p:nvPr/>
            </p:nvGrpSpPr>
            <p:grpSpPr>
              <a:xfrm>
                <a:off x="3401280" y="5239800"/>
                <a:ext cx="3921480" cy="1059480"/>
                <a:chOff x="3401280" y="5239800"/>
                <a:chExt cx="3921480" cy="1059480"/>
              </a:xfrm>
            </p:grpSpPr>
            <p:sp>
              <p:nvSpPr>
                <p:cNvPr id="61" name="CustomShape 14">
                  <a:extLst>
                    <a:ext uri="{FF2B5EF4-FFF2-40B4-BE49-F238E27FC236}">
                      <a16:creationId xmlns:a16="http://schemas.microsoft.com/office/drawing/2014/main" id="{B2712474-755F-943E-DDAF-0E589FA72AAE}"/>
                    </a:ext>
                  </a:extLst>
                </p:cNvPr>
                <p:cNvSpPr/>
                <p:nvPr/>
              </p:nvSpPr>
              <p:spPr>
                <a:xfrm>
                  <a:off x="3401280" y="5239800"/>
                  <a:ext cx="39214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nvGrpSpPr>
                <p:cNvPr id="62" name="Group 15">
                  <a:extLst>
                    <a:ext uri="{FF2B5EF4-FFF2-40B4-BE49-F238E27FC236}">
                      <a16:creationId xmlns:a16="http://schemas.microsoft.com/office/drawing/2014/main" id="{853DBC85-BA27-EFC6-D7D2-959034DCB9ED}"/>
                    </a:ext>
                  </a:extLst>
                </p:cNvPr>
                <p:cNvGrpSpPr/>
                <p:nvPr/>
              </p:nvGrpSpPr>
              <p:grpSpPr>
                <a:xfrm>
                  <a:off x="3401280" y="5239800"/>
                  <a:ext cx="3921480" cy="1059480"/>
                  <a:chOff x="3401280" y="5239800"/>
                  <a:chExt cx="3921480" cy="1059480"/>
                </a:xfrm>
              </p:grpSpPr>
              <p:sp>
                <p:nvSpPr>
                  <p:cNvPr id="63" name="CustomShape 16">
                    <a:extLst>
                      <a:ext uri="{FF2B5EF4-FFF2-40B4-BE49-F238E27FC236}">
                        <a16:creationId xmlns:a16="http://schemas.microsoft.com/office/drawing/2014/main" id="{D2A42481-6A94-7E0D-EDC1-A8F1B12FCBC7}"/>
                      </a:ext>
                    </a:extLst>
                  </p:cNvPr>
                  <p:cNvSpPr/>
                  <p:nvPr/>
                </p:nvSpPr>
                <p:spPr>
                  <a:xfrm>
                    <a:off x="3462480" y="5239800"/>
                    <a:ext cx="37990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lIns="40932" tIns="20466" rIns="40932" bIns="20466" anchor="ctr">
                    <a:noAutofit/>
                  </a:bodyPr>
                  <a:lstStyle/>
                  <a:p>
                    <a:pPr algn="ctr">
                      <a:lnSpc>
                        <a:spcPct val="100000"/>
                      </a:lnSpc>
                      <a:buNone/>
                    </a:pPr>
                    <a:r>
                      <a:rPr lang="pt-BR" sz="1350" spc="-1" dirty="0">
                        <a:solidFill>
                          <a:srgbClr val="003300"/>
                        </a:solidFill>
                        <a:latin typeface="Agency FB" panose="020B0503020202020204" pitchFamily="34" charset="0"/>
                        <a:ea typeface="DejaVu Sans"/>
                      </a:rPr>
                      <a:t>Falso</a:t>
                    </a:r>
                    <a:endParaRPr lang="pt-BR" sz="1350" spc="-1" dirty="0">
                      <a:latin typeface="Agency FB" panose="020B0503020202020204" pitchFamily="34" charset="0"/>
                    </a:endParaRPr>
                  </a:p>
                </p:txBody>
              </p:sp>
              <p:sp>
                <p:nvSpPr>
                  <p:cNvPr id="64" name="CustomShape 17">
                    <a:extLst>
                      <a:ext uri="{FF2B5EF4-FFF2-40B4-BE49-F238E27FC236}">
                        <a16:creationId xmlns:a16="http://schemas.microsoft.com/office/drawing/2014/main" id="{E74B78C4-0B7C-4E45-192D-D2C5A077FC1B}"/>
                      </a:ext>
                    </a:extLst>
                  </p:cNvPr>
                  <p:cNvSpPr/>
                  <p:nvPr/>
                </p:nvSpPr>
                <p:spPr>
                  <a:xfrm>
                    <a:off x="3401280" y="5239800"/>
                    <a:ext cx="3921480" cy="1059480"/>
                  </a:xfrm>
                  <a:prstGeom prst="rect">
                    <a:avLst/>
                  </a:prstGeom>
                  <a:noFill/>
                  <a:ln w="0">
                    <a:solidFill>
                      <a:srgbClr val="A0A0A0"/>
                    </a:solid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grpSp>
          <p:grpSp>
            <p:nvGrpSpPr>
              <p:cNvPr id="15" name="Group 18">
                <a:extLst>
                  <a:ext uri="{FF2B5EF4-FFF2-40B4-BE49-F238E27FC236}">
                    <a16:creationId xmlns:a16="http://schemas.microsoft.com/office/drawing/2014/main" id="{D1F6713D-7259-A7D5-38B5-81FC7B5D680F}"/>
                  </a:ext>
                </a:extLst>
              </p:cNvPr>
              <p:cNvGrpSpPr/>
              <p:nvPr/>
            </p:nvGrpSpPr>
            <p:grpSpPr>
              <a:xfrm>
                <a:off x="7326360" y="5239800"/>
                <a:ext cx="3921480" cy="1059480"/>
                <a:chOff x="7326360" y="5239800"/>
                <a:chExt cx="3921480" cy="1059480"/>
              </a:xfrm>
            </p:grpSpPr>
            <p:sp>
              <p:nvSpPr>
                <p:cNvPr id="57" name="CustomShape 19">
                  <a:extLst>
                    <a:ext uri="{FF2B5EF4-FFF2-40B4-BE49-F238E27FC236}">
                      <a16:creationId xmlns:a16="http://schemas.microsoft.com/office/drawing/2014/main" id="{B81D9257-001E-3C08-C973-34E29170D1CB}"/>
                    </a:ext>
                  </a:extLst>
                </p:cNvPr>
                <p:cNvSpPr/>
                <p:nvPr/>
              </p:nvSpPr>
              <p:spPr>
                <a:xfrm>
                  <a:off x="7326360" y="5239800"/>
                  <a:ext cx="39214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nvGrpSpPr>
                <p:cNvPr id="58" name="Group 20">
                  <a:extLst>
                    <a:ext uri="{FF2B5EF4-FFF2-40B4-BE49-F238E27FC236}">
                      <a16:creationId xmlns:a16="http://schemas.microsoft.com/office/drawing/2014/main" id="{4C918054-16A8-44E1-4063-AD8C5073C659}"/>
                    </a:ext>
                  </a:extLst>
                </p:cNvPr>
                <p:cNvGrpSpPr/>
                <p:nvPr/>
              </p:nvGrpSpPr>
              <p:grpSpPr>
                <a:xfrm>
                  <a:off x="7326360" y="5239800"/>
                  <a:ext cx="3921480" cy="1059480"/>
                  <a:chOff x="7326360" y="5239800"/>
                  <a:chExt cx="3921480" cy="1059480"/>
                </a:xfrm>
              </p:grpSpPr>
              <p:sp>
                <p:nvSpPr>
                  <p:cNvPr id="59" name="CustomShape 21">
                    <a:extLst>
                      <a:ext uri="{FF2B5EF4-FFF2-40B4-BE49-F238E27FC236}">
                        <a16:creationId xmlns:a16="http://schemas.microsoft.com/office/drawing/2014/main" id="{504A76C7-F444-753D-19F6-916B32DC1694}"/>
                      </a:ext>
                    </a:extLst>
                  </p:cNvPr>
                  <p:cNvSpPr/>
                  <p:nvPr/>
                </p:nvSpPr>
                <p:spPr>
                  <a:xfrm>
                    <a:off x="7387200" y="5239800"/>
                    <a:ext cx="37990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lIns="40932" tIns="20466" rIns="40932" bIns="20466" anchor="ctr">
                    <a:noAutofit/>
                  </a:bodyPr>
                  <a:lstStyle/>
                  <a:p>
                    <a:pPr algn="ctr">
                      <a:lnSpc>
                        <a:spcPct val="100000"/>
                      </a:lnSpc>
                      <a:buNone/>
                    </a:pPr>
                    <a:r>
                      <a:rPr lang="pt-BR" sz="1350" spc="-1" dirty="0">
                        <a:solidFill>
                          <a:srgbClr val="003300"/>
                        </a:solidFill>
                        <a:latin typeface="Agency FB" panose="020B0503020202020204" pitchFamily="34" charset="0"/>
                        <a:ea typeface="DejaVu Sans"/>
                      </a:rPr>
                      <a:t>Verdadeiro</a:t>
                    </a:r>
                    <a:endParaRPr lang="pt-BR" sz="1350" spc="-1" dirty="0">
                      <a:latin typeface="Agency FB" panose="020B0503020202020204" pitchFamily="34" charset="0"/>
                    </a:endParaRPr>
                  </a:p>
                </p:txBody>
              </p:sp>
              <p:sp>
                <p:nvSpPr>
                  <p:cNvPr id="60" name="CustomShape 22">
                    <a:extLst>
                      <a:ext uri="{FF2B5EF4-FFF2-40B4-BE49-F238E27FC236}">
                        <a16:creationId xmlns:a16="http://schemas.microsoft.com/office/drawing/2014/main" id="{BBB308BF-9FCD-5EB8-1A48-ECABEEC61DDD}"/>
                      </a:ext>
                    </a:extLst>
                  </p:cNvPr>
                  <p:cNvSpPr/>
                  <p:nvPr/>
                </p:nvSpPr>
                <p:spPr>
                  <a:xfrm>
                    <a:off x="7326360" y="5239800"/>
                    <a:ext cx="3921480" cy="1059480"/>
                  </a:xfrm>
                  <a:prstGeom prst="rect">
                    <a:avLst/>
                  </a:prstGeom>
                  <a:noFill/>
                  <a:ln w="0">
                    <a:solidFill>
                      <a:srgbClr val="A0A0A0"/>
                    </a:solid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grpSp>
          <p:grpSp>
            <p:nvGrpSpPr>
              <p:cNvPr id="16" name="Group 23">
                <a:extLst>
                  <a:ext uri="{FF2B5EF4-FFF2-40B4-BE49-F238E27FC236}">
                    <a16:creationId xmlns:a16="http://schemas.microsoft.com/office/drawing/2014/main" id="{67B1E641-CEFC-D53F-6C0D-599B975885CF}"/>
                  </a:ext>
                </a:extLst>
              </p:cNvPr>
              <p:cNvGrpSpPr/>
              <p:nvPr/>
            </p:nvGrpSpPr>
            <p:grpSpPr>
              <a:xfrm>
                <a:off x="3401280" y="6302880"/>
                <a:ext cx="3921480" cy="1059480"/>
                <a:chOff x="3401280" y="6302880"/>
                <a:chExt cx="3921480" cy="1059480"/>
              </a:xfrm>
            </p:grpSpPr>
            <p:sp>
              <p:nvSpPr>
                <p:cNvPr id="53" name="CustomShape 24">
                  <a:extLst>
                    <a:ext uri="{FF2B5EF4-FFF2-40B4-BE49-F238E27FC236}">
                      <a16:creationId xmlns:a16="http://schemas.microsoft.com/office/drawing/2014/main" id="{9121F39C-A4D0-C703-866B-26985F6E116B}"/>
                    </a:ext>
                  </a:extLst>
                </p:cNvPr>
                <p:cNvSpPr/>
                <p:nvPr/>
              </p:nvSpPr>
              <p:spPr>
                <a:xfrm>
                  <a:off x="3401280" y="6302880"/>
                  <a:ext cx="39214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nvGrpSpPr>
                <p:cNvPr id="54" name="Group 25">
                  <a:extLst>
                    <a:ext uri="{FF2B5EF4-FFF2-40B4-BE49-F238E27FC236}">
                      <a16:creationId xmlns:a16="http://schemas.microsoft.com/office/drawing/2014/main" id="{6458E05B-09A5-AB67-B547-E1F19EC982BD}"/>
                    </a:ext>
                  </a:extLst>
                </p:cNvPr>
                <p:cNvGrpSpPr/>
                <p:nvPr/>
              </p:nvGrpSpPr>
              <p:grpSpPr>
                <a:xfrm>
                  <a:off x="3401280" y="6302880"/>
                  <a:ext cx="3921480" cy="1059480"/>
                  <a:chOff x="3401280" y="6302880"/>
                  <a:chExt cx="3921480" cy="1059480"/>
                </a:xfrm>
              </p:grpSpPr>
              <p:sp>
                <p:nvSpPr>
                  <p:cNvPr id="55" name="CustomShape 26">
                    <a:extLst>
                      <a:ext uri="{FF2B5EF4-FFF2-40B4-BE49-F238E27FC236}">
                        <a16:creationId xmlns:a16="http://schemas.microsoft.com/office/drawing/2014/main" id="{2F9D7711-940B-56A1-63AA-8CDEF1611A98}"/>
                      </a:ext>
                    </a:extLst>
                  </p:cNvPr>
                  <p:cNvSpPr/>
                  <p:nvPr/>
                </p:nvSpPr>
                <p:spPr>
                  <a:xfrm>
                    <a:off x="3462480" y="6302880"/>
                    <a:ext cx="37990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lIns="40932" tIns="20466" rIns="40932" bIns="20466" anchor="ctr">
                    <a:noAutofit/>
                  </a:bodyPr>
                  <a:lstStyle/>
                  <a:p>
                    <a:pPr algn="ctr">
                      <a:lnSpc>
                        <a:spcPct val="100000"/>
                      </a:lnSpc>
                      <a:buNone/>
                    </a:pPr>
                    <a:r>
                      <a:rPr lang="pt-BR" sz="1350" spc="-1" dirty="0">
                        <a:solidFill>
                          <a:srgbClr val="003300"/>
                        </a:solidFill>
                        <a:latin typeface="Agency FB" panose="020B0503020202020204" pitchFamily="34" charset="0"/>
                        <a:ea typeface="DejaVu Sans"/>
                      </a:rPr>
                      <a:t>Desligado</a:t>
                    </a:r>
                    <a:endParaRPr lang="pt-BR" sz="1350" spc="-1" dirty="0">
                      <a:latin typeface="Agency FB" panose="020B0503020202020204" pitchFamily="34" charset="0"/>
                    </a:endParaRPr>
                  </a:p>
                </p:txBody>
              </p:sp>
              <p:sp>
                <p:nvSpPr>
                  <p:cNvPr id="56" name="CustomShape 27">
                    <a:extLst>
                      <a:ext uri="{FF2B5EF4-FFF2-40B4-BE49-F238E27FC236}">
                        <a16:creationId xmlns:a16="http://schemas.microsoft.com/office/drawing/2014/main" id="{4C27A85B-CEA0-A744-9632-AC50BC952725}"/>
                      </a:ext>
                    </a:extLst>
                  </p:cNvPr>
                  <p:cNvSpPr/>
                  <p:nvPr/>
                </p:nvSpPr>
                <p:spPr>
                  <a:xfrm>
                    <a:off x="3401280" y="6302880"/>
                    <a:ext cx="3921480" cy="1059480"/>
                  </a:xfrm>
                  <a:prstGeom prst="rect">
                    <a:avLst/>
                  </a:prstGeom>
                  <a:noFill/>
                  <a:ln w="0">
                    <a:solidFill>
                      <a:srgbClr val="A0A0A0"/>
                    </a:solid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grpSp>
          <p:grpSp>
            <p:nvGrpSpPr>
              <p:cNvPr id="17" name="Group 28">
                <a:extLst>
                  <a:ext uri="{FF2B5EF4-FFF2-40B4-BE49-F238E27FC236}">
                    <a16:creationId xmlns:a16="http://schemas.microsoft.com/office/drawing/2014/main" id="{A2219266-1C17-D0D5-4E2A-227E5C59C01B}"/>
                  </a:ext>
                </a:extLst>
              </p:cNvPr>
              <p:cNvGrpSpPr/>
              <p:nvPr/>
            </p:nvGrpSpPr>
            <p:grpSpPr>
              <a:xfrm>
                <a:off x="7326360" y="6302880"/>
                <a:ext cx="3921480" cy="1059480"/>
                <a:chOff x="7326360" y="6302880"/>
                <a:chExt cx="3921480" cy="1059480"/>
              </a:xfrm>
            </p:grpSpPr>
            <p:sp>
              <p:nvSpPr>
                <p:cNvPr id="49" name="CustomShape 29">
                  <a:extLst>
                    <a:ext uri="{FF2B5EF4-FFF2-40B4-BE49-F238E27FC236}">
                      <a16:creationId xmlns:a16="http://schemas.microsoft.com/office/drawing/2014/main" id="{1EA2A340-BF9B-617C-215A-DDF91427FB23}"/>
                    </a:ext>
                  </a:extLst>
                </p:cNvPr>
                <p:cNvSpPr/>
                <p:nvPr/>
              </p:nvSpPr>
              <p:spPr>
                <a:xfrm>
                  <a:off x="7326360" y="6302880"/>
                  <a:ext cx="39214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nvGrpSpPr>
                <p:cNvPr id="50" name="Group 30">
                  <a:extLst>
                    <a:ext uri="{FF2B5EF4-FFF2-40B4-BE49-F238E27FC236}">
                      <a16:creationId xmlns:a16="http://schemas.microsoft.com/office/drawing/2014/main" id="{CE8EBA15-7990-16D7-FF29-279E7196C3EC}"/>
                    </a:ext>
                  </a:extLst>
                </p:cNvPr>
                <p:cNvGrpSpPr/>
                <p:nvPr/>
              </p:nvGrpSpPr>
              <p:grpSpPr>
                <a:xfrm>
                  <a:off x="7326360" y="6302880"/>
                  <a:ext cx="3921480" cy="1059480"/>
                  <a:chOff x="7326360" y="6302880"/>
                  <a:chExt cx="3921480" cy="1059480"/>
                </a:xfrm>
              </p:grpSpPr>
              <p:sp>
                <p:nvSpPr>
                  <p:cNvPr id="51" name="CustomShape 31">
                    <a:extLst>
                      <a:ext uri="{FF2B5EF4-FFF2-40B4-BE49-F238E27FC236}">
                        <a16:creationId xmlns:a16="http://schemas.microsoft.com/office/drawing/2014/main" id="{1BC6EEAE-9952-9A08-D14A-D639CB37065D}"/>
                      </a:ext>
                    </a:extLst>
                  </p:cNvPr>
                  <p:cNvSpPr/>
                  <p:nvPr/>
                </p:nvSpPr>
                <p:spPr>
                  <a:xfrm>
                    <a:off x="7387200" y="6302880"/>
                    <a:ext cx="37990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lIns="40932" tIns="20466" rIns="40932" bIns="20466" anchor="ctr">
                    <a:noAutofit/>
                  </a:bodyPr>
                  <a:lstStyle/>
                  <a:p>
                    <a:pPr algn="ctr">
                      <a:lnSpc>
                        <a:spcPct val="100000"/>
                      </a:lnSpc>
                      <a:buNone/>
                    </a:pPr>
                    <a:r>
                      <a:rPr lang="pt-BR" sz="1350" spc="-1" dirty="0">
                        <a:solidFill>
                          <a:srgbClr val="003300"/>
                        </a:solidFill>
                        <a:latin typeface="Agency FB" panose="020B0503020202020204" pitchFamily="34" charset="0"/>
                        <a:ea typeface="DejaVu Sans"/>
                      </a:rPr>
                      <a:t>Ligado</a:t>
                    </a:r>
                    <a:endParaRPr lang="pt-BR" sz="1350" spc="-1" dirty="0">
                      <a:latin typeface="Agency FB" panose="020B0503020202020204" pitchFamily="34" charset="0"/>
                    </a:endParaRPr>
                  </a:p>
                </p:txBody>
              </p:sp>
              <p:sp>
                <p:nvSpPr>
                  <p:cNvPr id="52" name="CustomShape 32">
                    <a:extLst>
                      <a:ext uri="{FF2B5EF4-FFF2-40B4-BE49-F238E27FC236}">
                        <a16:creationId xmlns:a16="http://schemas.microsoft.com/office/drawing/2014/main" id="{673A0E8C-D7F3-CD88-ADAF-2C9C09D84A7E}"/>
                      </a:ext>
                    </a:extLst>
                  </p:cNvPr>
                  <p:cNvSpPr/>
                  <p:nvPr/>
                </p:nvSpPr>
                <p:spPr>
                  <a:xfrm>
                    <a:off x="7326360" y="6302880"/>
                    <a:ext cx="3921480" cy="1059480"/>
                  </a:xfrm>
                  <a:prstGeom prst="rect">
                    <a:avLst/>
                  </a:prstGeom>
                  <a:noFill/>
                  <a:ln w="0">
                    <a:solidFill>
                      <a:srgbClr val="A0A0A0"/>
                    </a:solid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grpSp>
          <p:grpSp>
            <p:nvGrpSpPr>
              <p:cNvPr id="18" name="Group 33">
                <a:extLst>
                  <a:ext uri="{FF2B5EF4-FFF2-40B4-BE49-F238E27FC236}">
                    <a16:creationId xmlns:a16="http://schemas.microsoft.com/office/drawing/2014/main" id="{F54350CA-2BF1-1D0B-F8A4-D181C8EE416A}"/>
                  </a:ext>
                </a:extLst>
              </p:cNvPr>
              <p:cNvGrpSpPr/>
              <p:nvPr/>
            </p:nvGrpSpPr>
            <p:grpSpPr>
              <a:xfrm>
                <a:off x="3401280" y="7365960"/>
                <a:ext cx="3921480" cy="1059480"/>
                <a:chOff x="3401280" y="7365960"/>
                <a:chExt cx="3921480" cy="1059480"/>
              </a:xfrm>
            </p:grpSpPr>
            <p:sp>
              <p:nvSpPr>
                <p:cNvPr id="45" name="CustomShape 34">
                  <a:extLst>
                    <a:ext uri="{FF2B5EF4-FFF2-40B4-BE49-F238E27FC236}">
                      <a16:creationId xmlns:a16="http://schemas.microsoft.com/office/drawing/2014/main" id="{14FA9AA5-AC91-6A5C-1C66-BB98FB0875A7}"/>
                    </a:ext>
                  </a:extLst>
                </p:cNvPr>
                <p:cNvSpPr/>
                <p:nvPr/>
              </p:nvSpPr>
              <p:spPr>
                <a:xfrm>
                  <a:off x="3401280" y="7365960"/>
                  <a:ext cx="39214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nvGrpSpPr>
                <p:cNvPr id="46" name="Group 35">
                  <a:extLst>
                    <a:ext uri="{FF2B5EF4-FFF2-40B4-BE49-F238E27FC236}">
                      <a16:creationId xmlns:a16="http://schemas.microsoft.com/office/drawing/2014/main" id="{15A16346-8CBA-6FC3-C91A-2D0BB114D9BE}"/>
                    </a:ext>
                  </a:extLst>
                </p:cNvPr>
                <p:cNvGrpSpPr/>
                <p:nvPr/>
              </p:nvGrpSpPr>
              <p:grpSpPr>
                <a:xfrm>
                  <a:off x="3401280" y="7365960"/>
                  <a:ext cx="3921480" cy="1059480"/>
                  <a:chOff x="3401280" y="7365960"/>
                  <a:chExt cx="3921480" cy="1059480"/>
                </a:xfrm>
              </p:grpSpPr>
              <p:sp>
                <p:nvSpPr>
                  <p:cNvPr id="47" name="CustomShape 36">
                    <a:extLst>
                      <a:ext uri="{FF2B5EF4-FFF2-40B4-BE49-F238E27FC236}">
                        <a16:creationId xmlns:a16="http://schemas.microsoft.com/office/drawing/2014/main" id="{76499D25-E2CA-12E5-A569-A3A6400FB30A}"/>
                      </a:ext>
                    </a:extLst>
                  </p:cNvPr>
                  <p:cNvSpPr/>
                  <p:nvPr/>
                </p:nvSpPr>
                <p:spPr>
                  <a:xfrm>
                    <a:off x="3462480" y="7365960"/>
                    <a:ext cx="37990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lIns="40932" tIns="20466" rIns="40932" bIns="20466" anchor="ctr">
                    <a:noAutofit/>
                  </a:bodyPr>
                  <a:lstStyle/>
                  <a:p>
                    <a:pPr algn="ctr">
                      <a:lnSpc>
                        <a:spcPct val="100000"/>
                      </a:lnSpc>
                      <a:buNone/>
                    </a:pPr>
                    <a:r>
                      <a:rPr lang="pt-BR" sz="1350" spc="-1" dirty="0">
                        <a:solidFill>
                          <a:srgbClr val="003300"/>
                        </a:solidFill>
                        <a:latin typeface="Agency FB" panose="020B0503020202020204" pitchFamily="34" charset="0"/>
                        <a:ea typeface="DejaVu Sans"/>
                      </a:rPr>
                      <a:t>Baixo (Low)</a:t>
                    </a:r>
                    <a:endParaRPr lang="pt-BR" sz="1350" spc="-1" dirty="0">
                      <a:latin typeface="Agency FB" panose="020B0503020202020204" pitchFamily="34" charset="0"/>
                    </a:endParaRPr>
                  </a:p>
                </p:txBody>
              </p:sp>
              <p:sp>
                <p:nvSpPr>
                  <p:cNvPr id="48" name="CustomShape 37">
                    <a:extLst>
                      <a:ext uri="{FF2B5EF4-FFF2-40B4-BE49-F238E27FC236}">
                        <a16:creationId xmlns:a16="http://schemas.microsoft.com/office/drawing/2014/main" id="{AD730558-95AF-CEEC-DB50-B34CCCE8DA65}"/>
                      </a:ext>
                    </a:extLst>
                  </p:cNvPr>
                  <p:cNvSpPr/>
                  <p:nvPr/>
                </p:nvSpPr>
                <p:spPr>
                  <a:xfrm>
                    <a:off x="3401280" y="7365960"/>
                    <a:ext cx="3921480" cy="1059480"/>
                  </a:xfrm>
                  <a:prstGeom prst="rect">
                    <a:avLst/>
                  </a:prstGeom>
                  <a:noFill/>
                  <a:ln w="0">
                    <a:solidFill>
                      <a:srgbClr val="A0A0A0"/>
                    </a:solid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grpSp>
          <p:grpSp>
            <p:nvGrpSpPr>
              <p:cNvPr id="19" name="Group 38">
                <a:extLst>
                  <a:ext uri="{FF2B5EF4-FFF2-40B4-BE49-F238E27FC236}">
                    <a16:creationId xmlns:a16="http://schemas.microsoft.com/office/drawing/2014/main" id="{22982B3B-F75A-5D2D-AB4B-CC391DDBEC0E}"/>
                  </a:ext>
                </a:extLst>
              </p:cNvPr>
              <p:cNvGrpSpPr/>
              <p:nvPr/>
            </p:nvGrpSpPr>
            <p:grpSpPr>
              <a:xfrm>
                <a:off x="7326360" y="7359841"/>
                <a:ext cx="3921480" cy="1065599"/>
                <a:chOff x="7326360" y="7359841"/>
                <a:chExt cx="3921480" cy="1065599"/>
              </a:xfrm>
            </p:grpSpPr>
            <p:sp>
              <p:nvSpPr>
                <p:cNvPr id="41" name="CustomShape 39">
                  <a:extLst>
                    <a:ext uri="{FF2B5EF4-FFF2-40B4-BE49-F238E27FC236}">
                      <a16:creationId xmlns:a16="http://schemas.microsoft.com/office/drawing/2014/main" id="{3C4DF2AC-781E-9C7A-009C-C56462A3AA86}"/>
                    </a:ext>
                  </a:extLst>
                </p:cNvPr>
                <p:cNvSpPr/>
                <p:nvPr/>
              </p:nvSpPr>
              <p:spPr>
                <a:xfrm>
                  <a:off x="7326360" y="7365960"/>
                  <a:ext cx="39214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nvGrpSpPr>
                <p:cNvPr id="42" name="Group 40">
                  <a:extLst>
                    <a:ext uri="{FF2B5EF4-FFF2-40B4-BE49-F238E27FC236}">
                      <a16:creationId xmlns:a16="http://schemas.microsoft.com/office/drawing/2014/main" id="{C2756F14-5788-4C92-EF7D-62705CE74A23}"/>
                    </a:ext>
                  </a:extLst>
                </p:cNvPr>
                <p:cNvGrpSpPr/>
                <p:nvPr/>
              </p:nvGrpSpPr>
              <p:grpSpPr>
                <a:xfrm>
                  <a:off x="7326360" y="7359841"/>
                  <a:ext cx="3921480" cy="1065599"/>
                  <a:chOff x="7326360" y="7359841"/>
                  <a:chExt cx="3921480" cy="1065599"/>
                </a:xfrm>
              </p:grpSpPr>
              <p:sp>
                <p:nvSpPr>
                  <p:cNvPr id="43" name="CustomShape 41">
                    <a:extLst>
                      <a:ext uri="{FF2B5EF4-FFF2-40B4-BE49-F238E27FC236}">
                        <a16:creationId xmlns:a16="http://schemas.microsoft.com/office/drawing/2014/main" id="{DAD2CD4C-148F-E7D4-7B4E-6DA102BB7619}"/>
                      </a:ext>
                    </a:extLst>
                  </p:cNvPr>
                  <p:cNvSpPr/>
                  <p:nvPr/>
                </p:nvSpPr>
                <p:spPr>
                  <a:xfrm>
                    <a:off x="7387201" y="7359841"/>
                    <a:ext cx="37990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lIns="40932" tIns="20466" rIns="40932" bIns="20466" anchor="ctr">
                    <a:noAutofit/>
                  </a:bodyPr>
                  <a:lstStyle/>
                  <a:p>
                    <a:pPr algn="ctr">
                      <a:lnSpc>
                        <a:spcPct val="100000"/>
                      </a:lnSpc>
                      <a:buNone/>
                    </a:pPr>
                    <a:r>
                      <a:rPr lang="pt-BR" sz="1350" spc="-1" dirty="0">
                        <a:solidFill>
                          <a:srgbClr val="003300"/>
                        </a:solidFill>
                        <a:latin typeface="Agency FB" panose="020B0503020202020204" pitchFamily="34" charset="0"/>
                        <a:ea typeface="DejaVu Sans"/>
                      </a:rPr>
                      <a:t>Alto (High)</a:t>
                    </a:r>
                    <a:endParaRPr lang="pt-BR" sz="1350" spc="-1" dirty="0">
                      <a:latin typeface="Agency FB" panose="020B0503020202020204" pitchFamily="34" charset="0"/>
                    </a:endParaRPr>
                  </a:p>
                </p:txBody>
              </p:sp>
              <p:sp>
                <p:nvSpPr>
                  <p:cNvPr id="44" name="CustomShape 42">
                    <a:extLst>
                      <a:ext uri="{FF2B5EF4-FFF2-40B4-BE49-F238E27FC236}">
                        <a16:creationId xmlns:a16="http://schemas.microsoft.com/office/drawing/2014/main" id="{C541BD21-8558-3B3F-9ED6-500E6CC67BC3}"/>
                      </a:ext>
                    </a:extLst>
                  </p:cNvPr>
                  <p:cNvSpPr/>
                  <p:nvPr/>
                </p:nvSpPr>
                <p:spPr>
                  <a:xfrm>
                    <a:off x="7326360" y="7365960"/>
                    <a:ext cx="3921480" cy="1059480"/>
                  </a:xfrm>
                  <a:prstGeom prst="rect">
                    <a:avLst/>
                  </a:prstGeom>
                  <a:noFill/>
                  <a:ln w="0">
                    <a:solidFill>
                      <a:srgbClr val="A0A0A0"/>
                    </a:solid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grpSp>
          <p:grpSp>
            <p:nvGrpSpPr>
              <p:cNvPr id="20" name="Group 43">
                <a:extLst>
                  <a:ext uri="{FF2B5EF4-FFF2-40B4-BE49-F238E27FC236}">
                    <a16:creationId xmlns:a16="http://schemas.microsoft.com/office/drawing/2014/main" id="{6C82F8EF-8533-5CA0-BADD-FFF4E40071D1}"/>
                  </a:ext>
                </a:extLst>
              </p:cNvPr>
              <p:cNvGrpSpPr/>
              <p:nvPr/>
            </p:nvGrpSpPr>
            <p:grpSpPr>
              <a:xfrm>
                <a:off x="3401280" y="8429040"/>
                <a:ext cx="3921480" cy="1059480"/>
                <a:chOff x="3401280" y="8429040"/>
                <a:chExt cx="3921480" cy="1059480"/>
              </a:xfrm>
            </p:grpSpPr>
            <p:sp>
              <p:nvSpPr>
                <p:cNvPr id="37" name="CustomShape 44">
                  <a:extLst>
                    <a:ext uri="{FF2B5EF4-FFF2-40B4-BE49-F238E27FC236}">
                      <a16:creationId xmlns:a16="http://schemas.microsoft.com/office/drawing/2014/main" id="{3FF2BCD9-491B-03B0-541B-5B6602AD4A4F}"/>
                    </a:ext>
                  </a:extLst>
                </p:cNvPr>
                <p:cNvSpPr/>
                <p:nvPr/>
              </p:nvSpPr>
              <p:spPr>
                <a:xfrm>
                  <a:off x="3401280" y="8429040"/>
                  <a:ext cx="39214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nvGrpSpPr>
                <p:cNvPr id="38" name="Group 45">
                  <a:extLst>
                    <a:ext uri="{FF2B5EF4-FFF2-40B4-BE49-F238E27FC236}">
                      <a16:creationId xmlns:a16="http://schemas.microsoft.com/office/drawing/2014/main" id="{00A16D2F-2598-F33F-6955-E5C687A99BB8}"/>
                    </a:ext>
                  </a:extLst>
                </p:cNvPr>
                <p:cNvGrpSpPr/>
                <p:nvPr/>
              </p:nvGrpSpPr>
              <p:grpSpPr>
                <a:xfrm>
                  <a:off x="3401280" y="8429040"/>
                  <a:ext cx="3921480" cy="1059480"/>
                  <a:chOff x="3401280" y="8429040"/>
                  <a:chExt cx="3921480" cy="1059480"/>
                </a:xfrm>
              </p:grpSpPr>
              <p:sp>
                <p:nvSpPr>
                  <p:cNvPr id="39" name="CustomShape 46">
                    <a:extLst>
                      <a:ext uri="{FF2B5EF4-FFF2-40B4-BE49-F238E27FC236}">
                        <a16:creationId xmlns:a16="http://schemas.microsoft.com/office/drawing/2014/main" id="{E61C2A0A-FA47-F197-FC9E-2B2C248D43E5}"/>
                      </a:ext>
                    </a:extLst>
                  </p:cNvPr>
                  <p:cNvSpPr/>
                  <p:nvPr/>
                </p:nvSpPr>
                <p:spPr>
                  <a:xfrm>
                    <a:off x="3462480" y="8429040"/>
                    <a:ext cx="37990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lIns="40932" tIns="20466" rIns="40932" bIns="20466" anchor="ctr">
                    <a:noAutofit/>
                  </a:bodyPr>
                  <a:lstStyle/>
                  <a:p>
                    <a:pPr algn="ctr">
                      <a:lnSpc>
                        <a:spcPct val="100000"/>
                      </a:lnSpc>
                      <a:buNone/>
                    </a:pPr>
                    <a:r>
                      <a:rPr lang="pt-BR" sz="1350" spc="-1" dirty="0">
                        <a:solidFill>
                          <a:srgbClr val="003300"/>
                        </a:solidFill>
                        <a:latin typeface="Agency FB" panose="020B0503020202020204" pitchFamily="34" charset="0"/>
                        <a:ea typeface="DejaVu Sans"/>
                      </a:rPr>
                      <a:t>Não</a:t>
                    </a:r>
                    <a:endParaRPr lang="pt-BR" sz="1350" spc="-1" dirty="0">
                      <a:latin typeface="Agency FB" panose="020B0503020202020204" pitchFamily="34" charset="0"/>
                    </a:endParaRPr>
                  </a:p>
                </p:txBody>
              </p:sp>
              <p:sp>
                <p:nvSpPr>
                  <p:cNvPr id="40" name="CustomShape 47">
                    <a:extLst>
                      <a:ext uri="{FF2B5EF4-FFF2-40B4-BE49-F238E27FC236}">
                        <a16:creationId xmlns:a16="http://schemas.microsoft.com/office/drawing/2014/main" id="{3EB8E29D-0D9F-94FF-C9C5-DF3DE2C757C6}"/>
                      </a:ext>
                    </a:extLst>
                  </p:cNvPr>
                  <p:cNvSpPr/>
                  <p:nvPr/>
                </p:nvSpPr>
                <p:spPr>
                  <a:xfrm>
                    <a:off x="3401280" y="8429040"/>
                    <a:ext cx="3921480" cy="1059480"/>
                  </a:xfrm>
                  <a:prstGeom prst="rect">
                    <a:avLst/>
                  </a:prstGeom>
                  <a:noFill/>
                  <a:ln w="0">
                    <a:solidFill>
                      <a:srgbClr val="A0A0A0"/>
                    </a:solid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grpSp>
          <p:grpSp>
            <p:nvGrpSpPr>
              <p:cNvPr id="21" name="Group 48">
                <a:extLst>
                  <a:ext uri="{FF2B5EF4-FFF2-40B4-BE49-F238E27FC236}">
                    <a16:creationId xmlns:a16="http://schemas.microsoft.com/office/drawing/2014/main" id="{F4221AFA-B817-26DA-D528-99B6D15BBAC7}"/>
                  </a:ext>
                </a:extLst>
              </p:cNvPr>
              <p:cNvGrpSpPr/>
              <p:nvPr/>
            </p:nvGrpSpPr>
            <p:grpSpPr>
              <a:xfrm>
                <a:off x="7326360" y="8429040"/>
                <a:ext cx="3921480" cy="1059480"/>
                <a:chOff x="7326360" y="8429040"/>
                <a:chExt cx="3921480" cy="1059480"/>
              </a:xfrm>
            </p:grpSpPr>
            <p:sp>
              <p:nvSpPr>
                <p:cNvPr id="33" name="CustomShape 49">
                  <a:extLst>
                    <a:ext uri="{FF2B5EF4-FFF2-40B4-BE49-F238E27FC236}">
                      <a16:creationId xmlns:a16="http://schemas.microsoft.com/office/drawing/2014/main" id="{13E56B2F-EC48-175F-F172-A8BFF66259F9}"/>
                    </a:ext>
                  </a:extLst>
                </p:cNvPr>
                <p:cNvSpPr/>
                <p:nvPr/>
              </p:nvSpPr>
              <p:spPr>
                <a:xfrm>
                  <a:off x="7326360" y="8429040"/>
                  <a:ext cx="39214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nvGrpSpPr>
                <p:cNvPr id="34" name="Group 50">
                  <a:extLst>
                    <a:ext uri="{FF2B5EF4-FFF2-40B4-BE49-F238E27FC236}">
                      <a16:creationId xmlns:a16="http://schemas.microsoft.com/office/drawing/2014/main" id="{0914484E-D7CA-2548-E2A2-2377F6B38DAF}"/>
                    </a:ext>
                  </a:extLst>
                </p:cNvPr>
                <p:cNvGrpSpPr/>
                <p:nvPr/>
              </p:nvGrpSpPr>
              <p:grpSpPr>
                <a:xfrm>
                  <a:off x="7326360" y="8429040"/>
                  <a:ext cx="3921480" cy="1059480"/>
                  <a:chOff x="7326360" y="8429040"/>
                  <a:chExt cx="3921480" cy="1059480"/>
                </a:xfrm>
              </p:grpSpPr>
              <p:sp>
                <p:nvSpPr>
                  <p:cNvPr id="35" name="CustomShape 51">
                    <a:extLst>
                      <a:ext uri="{FF2B5EF4-FFF2-40B4-BE49-F238E27FC236}">
                        <a16:creationId xmlns:a16="http://schemas.microsoft.com/office/drawing/2014/main" id="{B97F042C-A189-54D2-FA80-95404170F967}"/>
                      </a:ext>
                    </a:extLst>
                  </p:cNvPr>
                  <p:cNvSpPr/>
                  <p:nvPr/>
                </p:nvSpPr>
                <p:spPr>
                  <a:xfrm>
                    <a:off x="7387200" y="8429040"/>
                    <a:ext cx="37990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lIns="40932" tIns="20466" rIns="40932" bIns="20466" anchor="ctr">
                    <a:noAutofit/>
                  </a:bodyPr>
                  <a:lstStyle/>
                  <a:p>
                    <a:pPr algn="ctr">
                      <a:lnSpc>
                        <a:spcPct val="100000"/>
                      </a:lnSpc>
                      <a:buNone/>
                    </a:pPr>
                    <a:r>
                      <a:rPr lang="pt-BR" sz="1350" spc="-1" dirty="0">
                        <a:solidFill>
                          <a:srgbClr val="003300"/>
                        </a:solidFill>
                        <a:latin typeface="Agency FB" panose="020B0503020202020204" pitchFamily="34" charset="0"/>
                        <a:ea typeface="DejaVu Sans"/>
                      </a:rPr>
                      <a:t>Sim</a:t>
                    </a:r>
                    <a:endParaRPr lang="pt-BR" sz="1350" spc="-1" dirty="0">
                      <a:latin typeface="Agency FB" panose="020B0503020202020204" pitchFamily="34" charset="0"/>
                    </a:endParaRPr>
                  </a:p>
                </p:txBody>
              </p:sp>
              <p:sp>
                <p:nvSpPr>
                  <p:cNvPr id="36" name="CustomShape 52">
                    <a:extLst>
                      <a:ext uri="{FF2B5EF4-FFF2-40B4-BE49-F238E27FC236}">
                        <a16:creationId xmlns:a16="http://schemas.microsoft.com/office/drawing/2014/main" id="{56E15663-6F76-C823-0042-A0F1AA8152FF}"/>
                      </a:ext>
                    </a:extLst>
                  </p:cNvPr>
                  <p:cNvSpPr/>
                  <p:nvPr/>
                </p:nvSpPr>
                <p:spPr>
                  <a:xfrm>
                    <a:off x="7326360" y="8429040"/>
                    <a:ext cx="3921480" cy="1059480"/>
                  </a:xfrm>
                  <a:prstGeom prst="rect">
                    <a:avLst/>
                  </a:prstGeom>
                  <a:noFill/>
                  <a:ln w="0">
                    <a:solidFill>
                      <a:srgbClr val="A0A0A0"/>
                    </a:solid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grpSp>
          <p:grpSp>
            <p:nvGrpSpPr>
              <p:cNvPr id="22" name="Group 53">
                <a:extLst>
                  <a:ext uri="{FF2B5EF4-FFF2-40B4-BE49-F238E27FC236}">
                    <a16:creationId xmlns:a16="http://schemas.microsoft.com/office/drawing/2014/main" id="{11752B53-2E2A-72D8-0F09-7DC892B363C9}"/>
                  </a:ext>
                </a:extLst>
              </p:cNvPr>
              <p:cNvGrpSpPr/>
              <p:nvPr/>
            </p:nvGrpSpPr>
            <p:grpSpPr>
              <a:xfrm>
                <a:off x="3401280" y="9491760"/>
                <a:ext cx="3921480" cy="1059480"/>
                <a:chOff x="3401280" y="9491760"/>
                <a:chExt cx="3921480" cy="1059480"/>
              </a:xfrm>
            </p:grpSpPr>
            <p:sp>
              <p:nvSpPr>
                <p:cNvPr id="28" name="CustomShape 54">
                  <a:extLst>
                    <a:ext uri="{FF2B5EF4-FFF2-40B4-BE49-F238E27FC236}">
                      <a16:creationId xmlns:a16="http://schemas.microsoft.com/office/drawing/2014/main" id="{0A52B122-46F3-37EB-A4DD-67C07BC77C20}"/>
                    </a:ext>
                  </a:extLst>
                </p:cNvPr>
                <p:cNvSpPr/>
                <p:nvPr/>
              </p:nvSpPr>
              <p:spPr>
                <a:xfrm>
                  <a:off x="3401280" y="9491760"/>
                  <a:ext cx="39214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nvGrpSpPr>
                <p:cNvPr id="29" name="Group 55">
                  <a:extLst>
                    <a:ext uri="{FF2B5EF4-FFF2-40B4-BE49-F238E27FC236}">
                      <a16:creationId xmlns:a16="http://schemas.microsoft.com/office/drawing/2014/main" id="{A77EAA01-6E2B-7A84-941A-CF7F50C72CDD}"/>
                    </a:ext>
                  </a:extLst>
                </p:cNvPr>
                <p:cNvGrpSpPr/>
                <p:nvPr/>
              </p:nvGrpSpPr>
              <p:grpSpPr>
                <a:xfrm>
                  <a:off x="3401280" y="9491760"/>
                  <a:ext cx="3921480" cy="1059480"/>
                  <a:chOff x="3401280" y="9491760"/>
                  <a:chExt cx="3921480" cy="1059480"/>
                </a:xfrm>
              </p:grpSpPr>
              <p:sp>
                <p:nvSpPr>
                  <p:cNvPr id="31" name="CustomShape 56">
                    <a:extLst>
                      <a:ext uri="{FF2B5EF4-FFF2-40B4-BE49-F238E27FC236}">
                        <a16:creationId xmlns:a16="http://schemas.microsoft.com/office/drawing/2014/main" id="{5517DA24-3987-A355-DA4E-50E9601F536F}"/>
                      </a:ext>
                    </a:extLst>
                  </p:cNvPr>
                  <p:cNvSpPr/>
                  <p:nvPr/>
                </p:nvSpPr>
                <p:spPr>
                  <a:xfrm>
                    <a:off x="3462480" y="9491760"/>
                    <a:ext cx="37990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lIns="40932" tIns="20466" rIns="40932" bIns="20466" anchor="ctr">
                    <a:noAutofit/>
                  </a:bodyPr>
                  <a:lstStyle/>
                  <a:p>
                    <a:pPr algn="ctr">
                      <a:lnSpc>
                        <a:spcPct val="100000"/>
                      </a:lnSpc>
                      <a:buNone/>
                    </a:pPr>
                    <a:r>
                      <a:rPr lang="pt-BR" sz="1350" spc="-1" dirty="0">
                        <a:solidFill>
                          <a:srgbClr val="003300"/>
                        </a:solidFill>
                        <a:latin typeface="Agency FB" panose="020B0503020202020204" pitchFamily="34" charset="0"/>
                        <a:ea typeface="DejaVu Sans"/>
                      </a:rPr>
                      <a:t>Chave Aberta</a:t>
                    </a:r>
                    <a:endParaRPr lang="pt-BR" sz="1350" spc="-1" dirty="0">
                      <a:latin typeface="Agency FB" panose="020B0503020202020204" pitchFamily="34" charset="0"/>
                    </a:endParaRPr>
                  </a:p>
                </p:txBody>
              </p:sp>
              <p:sp>
                <p:nvSpPr>
                  <p:cNvPr id="32" name="CustomShape 57">
                    <a:extLst>
                      <a:ext uri="{FF2B5EF4-FFF2-40B4-BE49-F238E27FC236}">
                        <a16:creationId xmlns:a16="http://schemas.microsoft.com/office/drawing/2014/main" id="{6C9BCAD8-2FC7-546F-9C1E-89EE98008CAF}"/>
                      </a:ext>
                    </a:extLst>
                  </p:cNvPr>
                  <p:cNvSpPr/>
                  <p:nvPr/>
                </p:nvSpPr>
                <p:spPr>
                  <a:xfrm>
                    <a:off x="3401280" y="9491760"/>
                    <a:ext cx="3921480" cy="1059480"/>
                  </a:xfrm>
                  <a:prstGeom prst="rect">
                    <a:avLst/>
                  </a:prstGeom>
                  <a:noFill/>
                  <a:ln w="0">
                    <a:solidFill>
                      <a:srgbClr val="A0A0A0"/>
                    </a:solid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grpSp>
          <p:grpSp>
            <p:nvGrpSpPr>
              <p:cNvPr id="23" name="Group 58">
                <a:extLst>
                  <a:ext uri="{FF2B5EF4-FFF2-40B4-BE49-F238E27FC236}">
                    <a16:creationId xmlns:a16="http://schemas.microsoft.com/office/drawing/2014/main" id="{BDE7C667-F9BD-6480-E7CA-4B6444FC875F}"/>
                  </a:ext>
                </a:extLst>
              </p:cNvPr>
              <p:cNvGrpSpPr/>
              <p:nvPr/>
            </p:nvGrpSpPr>
            <p:grpSpPr>
              <a:xfrm>
                <a:off x="7326360" y="9491760"/>
                <a:ext cx="3921480" cy="1059480"/>
                <a:chOff x="7326360" y="9491760"/>
                <a:chExt cx="3921480" cy="1059480"/>
              </a:xfrm>
            </p:grpSpPr>
            <p:sp>
              <p:nvSpPr>
                <p:cNvPr id="24" name="CustomShape 59">
                  <a:extLst>
                    <a:ext uri="{FF2B5EF4-FFF2-40B4-BE49-F238E27FC236}">
                      <a16:creationId xmlns:a16="http://schemas.microsoft.com/office/drawing/2014/main" id="{0EC800DC-B74E-C304-D949-944C4E8E2A92}"/>
                    </a:ext>
                  </a:extLst>
                </p:cNvPr>
                <p:cNvSpPr/>
                <p:nvPr/>
              </p:nvSpPr>
              <p:spPr>
                <a:xfrm>
                  <a:off x="7326360" y="9491760"/>
                  <a:ext cx="39214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nvGrpSpPr>
                <p:cNvPr id="25" name="Group 60">
                  <a:extLst>
                    <a:ext uri="{FF2B5EF4-FFF2-40B4-BE49-F238E27FC236}">
                      <a16:creationId xmlns:a16="http://schemas.microsoft.com/office/drawing/2014/main" id="{D41C035E-6448-7CE3-CCF6-CCDC07548AE8}"/>
                    </a:ext>
                  </a:extLst>
                </p:cNvPr>
                <p:cNvGrpSpPr/>
                <p:nvPr/>
              </p:nvGrpSpPr>
              <p:grpSpPr>
                <a:xfrm>
                  <a:off x="7326360" y="9491760"/>
                  <a:ext cx="3921480" cy="1059480"/>
                  <a:chOff x="7326360" y="9491760"/>
                  <a:chExt cx="3921480" cy="1059480"/>
                </a:xfrm>
              </p:grpSpPr>
              <p:sp>
                <p:nvSpPr>
                  <p:cNvPr id="26" name="CustomShape 61">
                    <a:extLst>
                      <a:ext uri="{FF2B5EF4-FFF2-40B4-BE49-F238E27FC236}">
                        <a16:creationId xmlns:a16="http://schemas.microsoft.com/office/drawing/2014/main" id="{3BC7C2A0-4148-A4D6-7F5A-FFA58381B529}"/>
                      </a:ext>
                    </a:extLst>
                  </p:cNvPr>
                  <p:cNvSpPr/>
                  <p:nvPr/>
                </p:nvSpPr>
                <p:spPr>
                  <a:xfrm>
                    <a:off x="7387200" y="9491760"/>
                    <a:ext cx="3799080" cy="1059480"/>
                  </a:xfrm>
                  <a:prstGeom prst="rect">
                    <a:avLst/>
                  </a:prstGeom>
                  <a:solidFill>
                    <a:srgbClr val="C0C0C0"/>
                  </a:solidFill>
                  <a:ln w="9360">
                    <a:noFill/>
                  </a:ln>
                </p:spPr>
                <p:style>
                  <a:lnRef idx="0">
                    <a:scrgbClr r="0" g="0" b="0"/>
                  </a:lnRef>
                  <a:fillRef idx="0">
                    <a:scrgbClr r="0" g="0" b="0"/>
                  </a:fillRef>
                  <a:effectRef idx="0">
                    <a:scrgbClr r="0" g="0" b="0"/>
                  </a:effectRef>
                  <a:fontRef idx="minor"/>
                </p:style>
                <p:txBody>
                  <a:bodyPr lIns="40932" tIns="20466" rIns="40932" bIns="20466" anchor="ctr">
                    <a:noAutofit/>
                  </a:bodyPr>
                  <a:lstStyle/>
                  <a:p>
                    <a:pPr algn="ctr">
                      <a:lnSpc>
                        <a:spcPct val="100000"/>
                      </a:lnSpc>
                      <a:buNone/>
                    </a:pPr>
                    <a:r>
                      <a:rPr lang="pt-BR" sz="1350" spc="-1" dirty="0">
                        <a:solidFill>
                          <a:srgbClr val="003300"/>
                        </a:solidFill>
                        <a:latin typeface="Agency FB" panose="020B0503020202020204" pitchFamily="34" charset="0"/>
                        <a:ea typeface="DejaVu Sans"/>
                      </a:rPr>
                      <a:t>Chave Fechada</a:t>
                    </a:r>
                    <a:endParaRPr lang="pt-BR" sz="1350" spc="-1" dirty="0">
                      <a:latin typeface="Agency FB" panose="020B0503020202020204" pitchFamily="34" charset="0"/>
                    </a:endParaRPr>
                  </a:p>
                </p:txBody>
              </p:sp>
              <p:sp>
                <p:nvSpPr>
                  <p:cNvPr id="27" name="CustomShape 62">
                    <a:extLst>
                      <a:ext uri="{FF2B5EF4-FFF2-40B4-BE49-F238E27FC236}">
                        <a16:creationId xmlns:a16="http://schemas.microsoft.com/office/drawing/2014/main" id="{6A134F6B-6039-19BB-329C-BF850191B739}"/>
                      </a:ext>
                    </a:extLst>
                  </p:cNvPr>
                  <p:cNvSpPr/>
                  <p:nvPr/>
                </p:nvSpPr>
                <p:spPr>
                  <a:xfrm>
                    <a:off x="7326360" y="9491760"/>
                    <a:ext cx="3921480" cy="1059480"/>
                  </a:xfrm>
                  <a:prstGeom prst="rect">
                    <a:avLst/>
                  </a:prstGeom>
                  <a:noFill/>
                  <a:ln w="0">
                    <a:solidFill>
                      <a:srgbClr val="A0A0A0"/>
                    </a:solidFill>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grpSp>
        </p:grpSp>
        <p:sp>
          <p:nvSpPr>
            <p:cNvPr id="11" name="CustomShape 63">
              <a:extLst>
                <a:ext uri="{FF2B5EF4-FFF2-40B4-BE49-F238E27FC236}">
                  <a16:creationId xmlns:a16="http://schemas.microsoft.com/office/drawing/2014/main" id="{E1009FAF-9BD9-079D-6B02-5ACA1BB35AB5}"/>
                </a:ext>
              </a:extLst>
            </p:cNvPr>
            <p:cNvSpPr/>
            <p:nvPr/>
          </p:nvSpPr>
          <p:spPr>
            <a:xfrm>
              <a:off x="3394800" y="4149000"/>
              <a:ext cx="7859520" cy="6408720"/>
            </a:xfrm>
            <a:prstGeom prst="rect">
              <a:avLst/>
            </a:prstGeom>
            <a:noFill/>
            <a:ln w="9360">
              <a:solidFill>
                <a:srgbClr val="A0A0A0"/>
              </a:solidFill>
              <a:miter/>
            </a:ln>
          </p:spPr>
          <p:style>
            <a:lnRef idx="0">
              <a:scrgbClr r="0" g="0" b="0"/>
            </a:lnRef>
            <a:fillRef idx="0">
              <a:scrgbClr r="0" g="0" b="0"/>
            </a:fillRef>
            <a:effectRef idx="0">
              <a:scrgbClr r="0" g="0" b="0"/>
            </a:effectRef>
            <a:fontRef idx="minor"/>
          </p:style>
          <p:txBody>
            <a:bodyPr anchor="ctr"/>
            <a:lstStyle/>
            <a:p>
              <a:pPr algn="ctr"/>
              <a:endParaRPr lang="pt-BR" sz="1350">
                <a:latin typeface="Agency FB" panose="020B0503020202020204" pitchFamily="34" charset="0"/>
              </a:endParaRPr>
            </a:p>
          </p:txBody>
        </p:sp>
      </p:grpSp>
      <p:sp>
        <p:nvSpPr>
          <p:cNvPr id="5" name="Text 15">
            <a:extLst>
              <a:ext uri="{FF2B5EF4-FFF2-40B4-BE49-F238E27FC236}">
                <a16:creationId xmlns:a16="http://schemas.microsoft.com/office/drawing/2014/main" id="{89C8F481-DFA9-95AC-DF67-89AD5E67DB3F}"/>
              </a:ext>
            </a:extLst>
          </p:cNvPr>
          <p:cNvSpPr/>
          <p:nvPr/>
        </p:nvSpPr>
        <p:spPr>
          <a:xfrm>
            <a:off x="6270289" y="4680034"/>
            <a:ext cx="1729641" cy="153888"/>
          </a:xfrm>
          <a:prstGeom prst="rect">
            <a:avLst/>
          </a:prstGeom>
          <a:noFill/>
          <a:ln/>
        </p:spPr>
        <p:txBody>
          <a:bodyPr wrap="none" lIns="0" tIns="0" rIns="0" bIns="0" rtlCol="0" anchor="t">
            <a:spAutoFit/>
          </a:bodyPr>
          <a:lstStyle/>
          <a:p>
            <a:pPr eaLnBrk="1" hangingPunct="1">
              <a:spcBef>
                <a:spcPct val="50000"/>
              </a:spcBef>
              <a:defRPr/>
            </a:pPr>
            <a:r>
              <a:rPr lang="pt-BR" sz="1000" b="1" dirty="0">
                <a:latin typeface="+mj-lt"/>
              </a:rPr>
              <a:t>Constantes e Variáveis Booleanas</a:t>
            </a:r>
          </a:p>
        </p:txBody>
      </p:sp>
    </p:spTree>
    <p:extLst>
      <p:ext uri="{BB962C8B-B14F-4D97-AF65-F5344CB8AC3E}">
        <p14:creationId xmlns:p14="http://schemas.microsoft.com/office/powerpoint/2010/main" val="1855662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2301" y="0"/>
            <a:ext cx="9144000" cy="5143500"/>
          </a:xfrm>
          <a:prstGeom prst="rect">
            <a:avLst/>
          </a:prstGeom>
        </p:spPr>
      </p:pic>
      <p:sp>
        <p:nvSpPr>
          <p:cNvPr id="3" name="Shape 0"/>
          <p:cNvSpPr/>
          <p:nvPr/>
        </p:nvSpPr>
        <p:spPr>
          <a:xfrm>
            <a:off x="0" y="0"/>
            <a:ext cx="9144000" cy="642938"/>
          </a:xfrm>
          <a:prstGeom prst="rect">
            <a:avLst/>
          </a:prstGeom>
          <a:solidFill>
            <a:srgbClr val="004A99"/>
          </a:solidFill>
          <a:ln/>
        </p:spPr>
        <p:txBody>
          <a:bodyPr/>
          <a:lstStyle/>
          <a:p>
            <a:endParaRPr lang="pt-BR" noProof="0" dirty="0"/>
          </a:p>
        </p:txBody>
      </p:sp>
      <p:sp>
        <p:nvSpPr>
          <p:cNvPr id="4" name="Text 1"/>
          <p:cNvSpPr/>
          <p:nvPr/>
        </p:nvSpPr>
        <p:spPr>
          <a:xfrm>
            <a:off x="428625" y="136624"/>
            <a:ext cx="4404411" cy="981679"/>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digitais: Tipos de sensores digitais</a:t>
            </a:r>
          </a:p>
          <a:p>
            <a:pPr marL="0" indent="0" algn="l">
              <a:lnSpc>
                <a:spcPts val="2600"/>
              </a:lnSpc>
              <a:buNone/>
            </a:pPr>
            <a:endParaRPr lang="pt-BR" sz="1912" b="1" noProof="0" dirty="0">
              <a:solidFill>
                <a:srgbClr val="FFFFFF"/>
              </a:solidFill>
            </a:endParaRPr>
          </a:p>
          <a:p>
            <a:pPr marL="0" indent="0" algn="l">
              <a:lnSpc>
                <a:spcPts val="2600"/>
              </a:lnSpc>
              <a:buNone/>
            </a:pPr>
            <a:r>
              <a:rPr lang="pt-BR" sz="1912" b="1" noProof="0" dirty="0">
                <a:solidFill>
                  <a:srgbClr val="FFFFFF"/>
                </a:solidFill>
              </a:rPr>
              <a:t> </a:t>
            </a:r>
          </a:p>
        </p:txBody>
      </p:sp>
      <p:pic>
        <p:nvPicPr>
          <p:cNvPr id="23" name="Imagem 22">
            <a:extLst>
              <a:ext uri="{FF2B5EF4-FFF2-40B4-BE49-F238E27FC236}">
                <a16:creationId xmlns:a16="http://schemas.microsoft.com/office/drawing/2014/main" id="{DC598F7E-4F66-248B-F1EB-DE11B7B35420}"/>
              </a:ext>
            </a:extLst>
          </p:cNvPr>
          <p:cNvPicPr>
            <a:picLocks noChangeAspect="1"/>
          </p:cNvPicPr>
          <p:nvPr/>
        </p:nvPicPr>
        <p:blipFill>
          <a:blip r:embed="rId4"/>
          <a:stretch>
            <a:fillRect/>
          </a:stretch>
        </p:blipFill>
        <p:spPr>
          <a:xfrm>
            <a:off x="4482703" y="1077814"/>
            <a:ext cx="304800" cy="2177231"/>
          </a:xfrm>
          <a:prstGeom prst="rect">
            <a:avLst/>
          </a:prstGeom>
        </p:spPr>
      </p:pic>
      <p:pic>
        <p:nvPicPr>
          <p:cNvPr id="25" name="Imagem 24">
            <a:extLst>
              <a:ext uri="{FF2B5EF4-FFF2-40B4-BE49-F238E27FC236}">
                <a16:creationId xmlns:a16="http://schemas.microsoft.com/office/drawing/2014/main" id="{7AF65C66-D25D-08C1-3716-44ED219265BA}"/>
              </a:ext>
            </a:extLst>
          </p:cNvPr>
          <p:cNvPicPr>
            <a:picLocks noChangeAspect="1"/>
          </p:cNvPicPr>
          <p:nvPr/>
        </p:nvPicPr>
        <p:blipFill>
          <a:blip r:embed="rId4"/>
          <a:stretch>
            <a:fillRect/>
          </a:stretch>
        </p:blipFill>
        <p:spPr>
          <a:xfrm>
            <a:off x="381247" y="2085584"/>
            <a:ext cx="304800" cy="1170571"/>
          </a:xfrm>
          <a:prstGeom prst="rect">
            <a:avLst/>
          </a:prstGeom>
        </p:spPr>
      </p:pic>
      <p:pic>
        <p:nvPicPr>
          <p:cNvPr id="27" name="Picture 13">
            <a:extLst>
              <a:ext uri="{FF2B5EF4-FFF2-40B4-BE49-F238E27FC236}">
                <a16:creationId xmlns:a16="http://schemas.microsoft.com/office/drawing/2014/main" id="{39A96544-0515-4C8A-28FE-326F6ED67729}"/>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5" name="Text 2"/>
          <p:cNvSpPr/>
          <p:nvPr/>
        </p:nvSpPr>
        <p:spPr>
          <a:xfrm>
            <a:off x="575038" y="540971"/>
            <a:ext cx="7874695" cy="1649041"/>
          </a:xfrm>
          <a:prstGeom prst="rect">
            <a:avLst/>
          </a:prstGeom>
          <a:noFill/>
          <a:ln/>
        </p:spPr>
        <p:txBody>
          <a:bodyPr wrap="square" lIns="510286" tIns="170053" rIns="510286" bIns="0" rtlCol="0" anchor="t">
            <a:spAutoFit/>
          </a:bodyPr>
          <a:lstStyle/>
          <a:p>
            <a:pPr marL="0" indent="0" algn="l">
              <a:buNone/>
            </a:pPr>
            <a:r>
              <a:rPr lang="pt-BR" sz="1600" b="1" noProof="0" dirty="0"/>
              <a:t>Sensores ópticos</a:t>
            </a:r>
          </a:p>
          <a:p>
            <a:pPr marL="0" indent="0" algn="l">
              <a:buNone/>
            </a:pPr>
            <a:endParaRPr lang="pt-BR" sz="1600" b="1" noProof="0" dirty="0"/>
          </a:p>
          <a:p>
            <a:pPr marL="0" indent="0" algn="l">
              <a:buNone/>
            </a:pPr>
            <a:r>
              <a:rPr lang="pt-BR" sz="1600" noProof="0" dirty="0"/>
              <a:t>Os sensores ópticos são aqueles que utilizam a emissão e a recepção de um feixe de luz, como o laser, a luz vermelha ou a radiação infravermelha, emitida de forma pulsada para não ser confundida com a radiação infravermelha do ambiente.</a:t>
            </a:r>
          </a:p>
          <a:p>
            <a:pPr marL="0" indent="0" algn="l">
              <a:buNone/>
            </a:pPr>
            <a:endParaRPr lang="pt-BR" sz="1600" noProof="0" dirty="0"/>
          </a:p>
        </p:txBody>
      </p:sp>
      <p:pic>
        <p:nvPicPr>
          <p:cNvPr id="1026" name="Picture 2" descr="Blog Sense: Sensores fotoelétricos - O que são? Quais os tipos?">
            <a:extLst>
              <a:ext uri="{FF2B5EF4-FFF2-40B4-BE49-F238E27FC236}">
                <a16:creationId xmlns:a16="http://schemas.microsoft.com/office/drawing/2014/main" id="{DE3EC192-02FD-2C2C-0A93-10C5C8C74F3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44078" y="2299873"/>
            <a:ext cx="5680446" cy="18993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3410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2301" y="0"/>
            <a:ext cx="9144000" cy="5143500"/>
          </a:xfrm>
          <a:prstGeom prst="rect">
            <a:avLst/>
          </a:prstGeom>
        </p:spPr>
      </p:pic>
      <p:sp>
        <p:nvSpPr>
          <p:cNvPr id="3" name="Shape 0"/>
          <p:cNvSpPr/>
          <p:nvPr/>
        </p:nvSpPr>
        <p:spPr>
          <a:xfrm>
            <a:off x="0" y="0"/>
            <a:ext cx="9144000" cy="642938"/>
          </a:xfrm>
          <a:prstGeom prst="rect">
            <a:avLst/>
          </a:prstGeom>
          <a:solidFill>
            <a:srgbClr val="004A99"/>
          </a:solidFill>
          <a:ln/>
        </p:spPr>
        <p:txBody>
          <a:bodyPr/>
          <a:lstStyle/>
          <a:p>
            <a:endParaRPr lang="pt-BR" noProof="0" dirty="0"/>
          </a:p>
        </p:txBody>
      </p:sp>
      <p:sp>
        <p:nvSpPr>
          <p:cNvPr id="4" name="Text 1"/>
          <p:cNvSpPr/>
          <p:nvPr/>
        </p:nvSpPr>
        <p:spPr>
          <a:xfrm>
            <a:off x="428625" y="136624"/>
            <a:ext cx="4404411" cy="981679"/>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digitais: Tipos de sensores digitais</a:t>
            </a:r>
          </a:p>
          <a:p>
            <a:pPr marL="0" indent="0" algn="l">
              <a:lnSpc>
                <a:spcPts val="2600"/>
              </a:lnSpc>
              <a:buNone/>
            </a:pPr>
            <a:endParaRPr lang="pt-BR" sz="1912" b="1" noProof="0" dirty="0">
              <a:solidFill>
                <a:srgbClr val="FFFFFF"/>
              </a:solidFill>
            </a:endParaRPr>
          </a:p>
          <a:p>
            <a:pPr marL="0" indent="0" algn="l">
              <a:lnSpc>
                <a:spcPts val="2600"/>
              </a:lnSpc>
              <a:buNone/>
            </a:pPr>
            <a:r>
              <a:rPr lang="pt-BR" sz="1912" b="1" noProof="0" dirty="0">
                <a:solidFill>
                  <a:srgbClr val="FFFFFF"/>
                </a:solidFill>
              </a:rPr>
              <a:t> </a:t>
            </a:r>
          </a:p>
        </p:txBody>
      </p:sp>
      <p:pic>
        <p:nvPicPr>
          <p:cNvPr id="23" name="Imagem 22">
            <a:extLst>
              <a:ext uri="{FF2B5EF4-FFF2-40B4-BE49-F238E27FC236}">
                <a16:creationId xmlns:a16="http://schemas.microsoft.com/office/drawing/2014/main" id="{DC598F7E-4F66-248B-F1EB-DE11B7B35420}"/>
              </a:ext>
            </a:extLst>
          </p:cNvPr>
          <p:cNvPicPr>
            <a:picLocks noChangeAspect="1"/>
          </p:cNvPicPr>
          <p:nvPr/>
        </p:nvPicPr>
        <p:blipFill>
          <a:blip r:embed="rId4"/>
          <a:stretch>
            <a:fillRect/>
          </a:stretch>
        </p:blipFill>
        <p:spPr>
          <a:xfrm>
            <a:off x="4482703" y="1077814"/>
            <a:ext cx="304800" cy="2177231"/>
          </a:xfrm>
          <a:prstGeom prst="rect">
            <a:avLst/>
          </a:prstGeom>
        </p:spPr>
      </p:pic>
      <p:pic>
        <p:nvPicPr>
          <p:cNvPr id="25" name="Imagem 24">
            <a:extLst>
              <a:ext uri="{FF2B5EF4-FFF2-40B4-BE49-F238E27FC236}">
                <a16:creationId xmlns:a16="http://schemas.microsoft.com/office/drawing/2014/main" id="{7AF65C66-D25D-08C1-3716-44ED219265BA}"/>
              </a:ext>
            </a:extLst>
          </p:cNvPr>
          <p:cNvPicPr>
            <a:picLocks noChangeAspect="1"/>
          </p:cNvPicPr>
          <p:nvPr/>
        </p:nvPicPr>
        <p:blipFill>
          <a:blip r:embed="rId4"/>
          <a:stretch>
            <a:fillRect/>
          </a:stretch>
        </p:blipFill>
        <p:spPr>
          <a:xfrm>
            <a:off x="381247" y="2085584"/>
            <a:ext cx="304800" cy="1170571"/>
          </a:xfrm>
          <a:prstGeom prst="rect">
            <a:avLst/>
          </a:prstGeom>
        </p:spPr>
      </p:pic>
      <p:pic>
        <p:nvPicPr>
          <p:cNvPr id="27" name="Picture 13">
            <a:extLst>
              <a:ext uri="{FF2B5EF4-FFF2-40B4-BE49-F238E27FC236}">
                <a16:creationId xmlns:a16="http://schemas.microsoft.com/office/drawing/2014/main" id="{39A96544-0515-4C8A-28FE-326F6ED67729}"/>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5" name="Text 2"/>
          <p:cNvSpPr/>
          <p:nvPr/>
        </p:nvSpPr>
        <p:spPr>
          <a:xfrm>
            <a:off x="545355" y="631939"/>
            <a:ext cx="7874695" cy="1649041"/>
          </a:xfrm>
          <a:prstGeom prst="rect">
            <a:avLst/>
          </a:prstGeom>
          <a:noFill/>
          <a:ln/>
        </p:spPr>
        <p:txBody>
          <a:bodyPr wrap="square" lIns="510286" tIns="170053" rIns="510286" bIns="0" rtlCol="0" anchor="t">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Sensores de ultrassom</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Os sensores ultrassônicos utilizam o princípio de </a:t>
            </a:r>
            <a:r>
              <a:rPr kumimoji="0" lang="pt-BR" altLang="pt-BR" sz="1600" i="0" u="none" strike="noStrike" cap="none" normalizeH="0" baseline="0" dirty="0">
                <a:ln>
                  <a:noFill/>
                </a:ln>
                <a:solidFill>
                  <a:srgbClr val="FF0000"/>
                </a:solidFill>
                <a:effectLst/>
                <a:latin typeface="Trebuchet MS" panose="020B0603020202020204" pitchFamily="34" charset="0"/>
                <a:cs typeface="Calibri" panose="020F0502020204030204" pitchFamily="34" charset="0"/>
              </a:rPr>
              <a:t>emissão de pulsos de uma onda sonora de alta frequência</a:t>
            </a: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e, geralmente, são aplicados em situações em que o instrumento de medida não pode entrar em contato com o objeto. </a:t>
            </a:r>
          </a:p>
        </p:txBody>
      </p:sp>
      <p:pic>
        <p:nvPicPr>
          <p:cNvPr id="7" name="Picture 2" descr="Ilustração. A imagem mostra na parte superior um cilindro em laranja com “Sensor” escrito do lado esquerdo. No centro da imagem linhas paralelas curvadas (que diminuem de baixo para cima) tem “Sinal de ultrassom” escrito do lado direito. Na parte inferior, um retângulo tem “objeto detectado” escrito na parte de dentro. (fim da descrição)">
            <a:extLst>
              <a:ext uri="{FF2B5EF4-FFF2-40B4-BE49-F238E27FC236}">
                <a16:creationId xmlns:a16="http://schemas.microsoft.com/office/drawing/2014/main" id="{142127FB-0888-8A28-BAC9-5BDBF6E1FA4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4939" y="2403531"/>
            <a:ext cx="5276193" cy="2211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0155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2301" y="0"/>
            <a:ext cx="9144000" cy="5143500"/>
          </a:xfrm>
          <a:prstGeom prst="rect">
            <a:avLst/>
          </a:prstGeom>
        </p:spPr>
      </p:pic>
      <p:sp>
        <p:nvSpPr>
          <p:cNvPr id="3" name="Shape 0"/>
          <p:cNvSpPr/>
          <p:nvPr/>
        </p:nvSpPr>
        <p:spPr>
          <a:xfrm>
            <a:off x="0" y="0"/>
            <a:ext cx="9144000" cy="642938"/>
          </a:xfrm>
          <a:prstGeom prst="rect">
            <a:avLst/>
          </a:prstGeom>
          <a:solidFill>
            <a:srgbClr val="004A99"/>
          </a:solidFill>
          <a:ln/>
        </p:spPr>
        <p:txBody>
          <a:bodyPr/>
          <a:lstStyle/>
          <a:p>
            <a:endParaRPr lang="pt-BR" noProof="0" dirty="0"/>
          </a:p>
        </p:txBody>
      </p:sp>
      <p:sp>
        <p:nvSpPr>
          <p:cNvPr id="4" name="Text 1"/>
          <p:cNvSpPr/>
          <p:nvPr/>
        </p:nvSpPr>
        <p:spPr>
          <a:xfrm>
            <a:off x="428625" y="136624"/>
            <a:ext cx="4404411" cy="981679"/>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digitais: Tipos de sensores digitais</a:t>
            </a:r>
          </a:p>
          <a:p>
            <a:pPr marL="0" indent="0" algn="l">
              <a:lnSpc>
                <a:spcPts val="2600"/>
              </a:lnSpc>
              <a:buNone/>
            </a:pPr>
            <a:endParaRPr lang="pt-BR" sz="1912" b="1" noProof="0" dirty="0">
              <a:solidFill>
                <a:srgbClr val="FFFFFF"/>
              </a:solidFill>
            </a:endParaRPr>
          </a:p>
          <a:p>
            <a:pPr marL="0" indent="0" algn="l">
              <a:lnSpc>
                <a:spcPts val="2600"/>
              </a:lnSpc>
              <a:buNone/>
            </a:pPr>
            <a:r>
              <a:rPr lang="pt-BR" sz="1912" b="1" noProof="0" dirty="0">
                <a:solidFill>
                  <a:srgbClr val="FFFFFF"/>
                </a:solidFill>
              </a:rPr>
              <a:t> </a:t>
            </a:r>
          </a:p>
        </p:txBody>
      </p:sp>
      <p:pic>
        <p:nvPicPr>
          <p:cNvPr id="23" name="Imagem 22">
            <a:extLst>
              <a:ext uri="{FF2B5EF4-FFF2-40B4-BE49-F238E27FC236}">
                <a16:creationId xmlns:a16="http://schemas.microsoft.com/office/drawing/2014/main" id="{DC598F7E-4F66-248B-F1EB-DE11B7B35420}"/>
              </a:ext>
            </a:extLst>
          </p:cNvPr>
          <p:cNvPicPr>
            <a:picLocks noChangeAspect="1"/>
          </p:cNvPicPr>
          <p:nvPr/>
        </p:nvPicPr>
        <p:blipFill>
          <a:blip r:embed="rId4"/>
          <a:stretch>
            <a:fillRect/>
          </a:stretch>
        </p:blipFill>
        <p:spPr>
          <a:xfrm>
            <a:off x="4482703" y="1077814"/>
            <a:ext cx="304800" cy="2177231"/>
          </a:xfrm>
          <a:prstGeom prst="rect">
            <a:avLst/>
          </a:prstGeom>
        </p:spPr>
      </p:pic>
      <p:pic>
        <p:nvPicPr>
          <p:cNvPr id="25" name="Imagem 24">
            <a:extLst>
              <a:ext uri="{FF2B5EF4-FFF2-40B4-BE49-F238E27FC236}">
                <a16:creationId xmlns:a16="http://schemas.microsoft.com/office/drawing/2014/main" id="{7AF65C66-D25D-08C1-3716-44ED219265BA}"/>
              </a:ext>
            </a:extLst>
          </p:cNvPr>
          <p:cNvPicPr>
            <a:picLocks noChangeAspect="1"/>
          </p:cNvPicPr>
          <p:nvPr/>
        </p:nvPicPr>
        <p:blipFill>
          <a:blip r:embed="rId4"/>
          <a:stretch>
            <a:fillRect/>
          </a:stretch>
        </p:blipFill>
        <p:spPr>
          <a:xfrm>
            <a:off x="381247" y="2085584"/>
            <a:ext cx="304800" cy="1170571"/>
          </a:xfrm>
          <a:prstGeom prst="rect">
            <a:avLst/>
          </a:prstGeom>
        </p:spPr>
      </p:pic>
      <p:pic>
        <p:nvPicPr>
          <p:cNvPr id="27" name="Picture 13">
            <a:extLst>
              <a:ext uri="{FF2B5EF4-FFF2-40B4-BE49-F238E27FC236}">
                <a16:creationId xmlns:a16="http://schemas.microsoft.com/office/drawing/2014/main" id="{39A96544-0515-4C8A-28FE-326F6ED67729}"/>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5" name="Text 2"/>
          <p:cNvSpPr/>
          <p:nvPr/>
        </p:nvSpPr>
        <p:spPr>
          <a:xfrm>
            <a:off x="545355" y="631939"/>
            <a:ext cx="7874695" cy="1402820"/>
          </a:xfrm>
          <a:prstGeom prst="rect">
            <a:avLst/>
          </a:prstGeom>
          <a:noFill/>
          <a:ln/>
        </p:spPr>
        <p:txBody>
          <a:bodyPr wrap="square" lIns="510286" tIns="170053" rIns="510286" bIns="0" rtlCol="0" anchor="t">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Sensores indutivos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Os sensores indutivos são indicados quando há necessidade de fazer a </a:t>
            </a:r>
            <a:r>
              <a:rPr kumimoji="0" lang="pt-BR" altLang="pt-BR" sz="1600" i="0" u="none" strike="noStrike" cap="none" normalizeH="0" baseline="0" dirty="0">
                <a:ln>
                  <a:noFill/>
                </a:ln>
                <a:solidFill>
                  <a:srgbClr val="FF0000"/>
                </a:solidFill>
                <a:effectLst/>
                <a:latin typeface="Trebuchet MS" panose="020B0603020202020204" pitchFamily="34" charset="0"/>
                <a:cs typeface="Calibri" panose="020F0502020204030204" pitchFamily="34" charset="0"/>
              </a:rPr>
              <a:t>detecção de objetos metálicos </a:t>
            </a: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com base nas </a:t>
            </a:r>
            <a:r>
              <a:rPr kumimoji="0" lang="pt-BR" altLang="pt-BR" sz="1600" i="0" u="none" strike="noStrike" cap="none" normalizeH="0" baseline="0" dirty="0">
                <a:ln>
                  <a:noFill/>
                </a:ln>
                <a:solidFill>
                  <a:srgbClr val="FF0000"/>
                </a:solidFill>
                <a:effectLst/>
                <a:latin typeface="Trebuchet MS" panose="020B0603020202020204" pitchFamily="34" charset="0"/>
                <a:cs typeface="Calibri" panose="020F0502020204030204" pitchFamily="34" charset="0"/>
              </a:rPr>
              <a:t>propriedades magnéticas dos materiais</a:t>
            </a: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a:t>
            </a:r>
          </a:p>
        </p:txBody>
      </p:sp>
      <p:pic>
        <p:nvPicPr>
          <p:cNvPr id="6" name="Picture 2" descr="Ilustração. A imagem está dividida em três etapas: na parte superior, a imagem mostra linhas vermelhas na vertical em formato de ampulheta com uma linha azul passando por elas. No lado esquerdo, uma flecha laranja aponta para as linhas e tem escrito “Amplitude do sinal” ao lado. No lado direito, uma flecha laranja aponta para as linhas e tem escrito “Valor de ajuste (set point)” escrito ao lado. O centro da imagem mostra do lado esquerdo uma flecha aponta para um retângulo com “Objeto a ser detectado” escrito ao lado. No lado direito, uma flecha laranja escrita “Saída discreta” aponta para uma linha (também laranja) com “OFF/ON/OFF” escrito na parte de cima. Logo abaixo outra flecha aponta para curvas tracejadas com “Linhas de campo magnético” escrito ao lado. A parte inferior da imagem mostra um retângulo com duas linhas em tom cinza e linhas curvas tracejadas na parte superior. Ao lado do retângulo uma flecha aponta com “Sensor indutivo” escrito ao lado. (fim da descrição)">
            <a:extLst>
              <a:ext uri="{FF2B5EF4-FFF2-40B4-BE49-F238E27FC236}">
                <a16:creationId xmlns:a16="http://schemas.microsoft.com/office/drawing/2014/main" id="{6DB53F57-4B0D-A120-CEF2-7C089F58790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9730" y="2347273"/>
            <a:ext cx="7404539" cy="23229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2942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2301" y="0"/>
            <a:ext cx="9144000" cy="5143500"/>
          </a:xfrm>
          <a:prstGeom prst="rect">
            <a:avLst/>
          </a:prstGeom>
        </p:spPr>
      </p:pic>
      <p:sp>
        <p:nvSpPr>
          <p:cNvPr id="3" name="Shape 0"/>
          <p:cNvSpPr/>
          <p:nvPr/>
        </p:nvSpPr>
        <p:spPr>
          <a:xfrm>
            <a:off x="0" y="0"/>
            <a:ext cx="9144000" cy="642938"/>
          </a:xfrm>
          <a:prstGeom prst="rect">
            <a:avLst/>
          </a:prstGeom>
          <a:solidFill>
            <a:srgbClr val="004A99"/>
          </a:solidFill>
          <a:ln/>
        </p:spPr>
        <p:txBody>
          <a:bodyPr/>
          <a:lstStyle/>
          <a:p>
            <a:endParaRPr lang="pt-BR" noProof="0" dirty="0"/>
          </a:p>
        </p:txBody>
      </p:sp>
      <p:sp>
        <p:nvSpPr>
          <p:cNvPr id="4" name="Text 1"/>
          <p:cNvSpPr/>
          <p:nvPr/>
        </p:nvSpPr>
        <p:spPr>
          <a:xfrm>
            <a:off x="428625" y="136624"/>
            <a:ext cx="4404411" cy="981679"/>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digitais: Tipos de sensores digitais</a:t>
            </a:r>
          </a:p>
          <a:p>
            <a:pPr marL="0" indent="0" algn="l">
              <a:lnSpc>
                <a:spcPts val="2600"/>
              </a:lnSpc>
              <a:buNone/>
            </a:pPr>
            <a:endParaRPr lang="pt-BR" sz="1912" b="1" noProof="0" dirty="0">
              <a:solidFill>
                <a:srgbClr val="FFFFFF"/>
              </a:solidFill>
            </a:endParaRPr>
          </a:p>
          <a:p>
            <a:pPr marL="0" indent="0" algn="l">
              <a:lnSpc>
                <a:spcPts val="2600"/>
              </a:lnSpc>
              <a:buNone/>
            </a:pPr>
            <a:r>
              <a:rPr lang="pt-BR" sz="1912" b="1" noProof="0" dirty="0">
                <a:solidFill>
                  <a:srgbClr val="FFFFFF"/>
                </a:solidFill>
              </a:rPr>
              <a:t> </a:t>
            </a:r>
          </a:p>
        </p:txBody>
      </p:sp>
      <p:pic>
        <p:nvPicPr>
          <p:cNvPr id="23" name="Imagem 22">
            <a:extLst>
              <a:ext uri="{FF2B5EF4-FFF2-40B4-BE49-F238E27FC236}">
                <a16:creationId xmlns:a16="http://schemas.microsoft.com/office/drawing/2014/main" id="{DC598F7E-4F66-248B-F1EB-DE11B7B35420}"/>
              </a:ext>
            </a:extLst>
          </p:cNvPr>
          <p:cNvPicPr>
            <a:picLocks noChangeAspect="1"/>
          </p:cNvPicPr>
          <p:nvPr/>
        </p:nvPicPr>
        <p:blipFill>
          <a:blip r:embed="rId4"/>
          <a:stretch>
            <a:fillRect/>
          </a:stretch>
        </p:blipFill>
        <p:spPr>
          <a:xfrm>
            <a:off x="4482703" y="1077814"/>
            <a:ext cx="304800" cy="2177231"/>
          </a:xfrm>
          <a:prstGeom prst="rect">
            <a:avLst/>
          </a:prstGeom>
        </p:spPr>
      </p:pic>
      <p:pic>
        <p:nvPicPr>
          <p:cNvPr id="25" name="Imagem 24">
            <a:extLst>
              <a:ext uri="{FF2B5EF4-FFF2-40B4-BE49-F238E27FC236}">
                <a16:creationId xmlns:a16="http://schemas.microsoft.com/office/drawing/2014/main" id="{7AF65C66-D25D-08C1-3716-44ED219265BA}"/>
              </a:ext>
            </a:extLst>
          </p:cNvPr>
          <p:cNvPicPr>
            <a:picLocks noChangeAspect="1"/>
          </p:cNvPicPr>
          <p:nvPr/>
        </p:nvPicPr>
        <p:blipFill>
          <a:blip r:embed="rId4"/>
          <a:stretch>
            <a:fillRect/>
          </a:stretch>
        </p:blipFill>
        <p:spPr>
          <a:xfrm>
            <a:off x="381247" y="2085584"/>
            <a:ext cx="304800" cy="1170571"/>
          </a:xfrm>
          <a:prstGeom prst="rect">
            <a:avLst/>
          </a:prstGeom>
        </p:spPr>
      </p:pic>
      <p:pic>
        <p:nvPicPr>
          <p:cNvPr id="27" name="Picture 13">
            <a:extLst>
              <a:ext uri="{FF2B5EF4-FFF2-40B4-BE49-F238E27FC236}">
                <a16:creationId xmlns:a16="http://schemas.microsoft.com/office/drawing/2014/main" id="{39A96544-0515-4C8A-28FE-326F6ED67729}"/>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5" name="Text 2"/>
          <p:cNvSpPr/>
          <p:nvPr/>
        </p:nvSpPr>
        <p:spPr>
          <a:xfrm>
            <a:off x="545355" y="631939"/>
            <a:ext cx="7874695" cy="1402820"/>
          </a:xfrm>
          <a:prstGeom prst="rect">
            <a:avLst/>
          </a:prstGeom>
          <a:noFill/>
          <a:ln/>
        </p:spPr>
        <p:txBody>
          <a:bodyPr wrap="square" lIns="510286" tIns="170053" rIns="510286" bIns="0" rtlCol="0" anchor="t">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Sensores capacitivos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Os sensores capacitivos operam com </a:t>
            </a:r>
            <a:r>
              <a:rPr kumimoji="0" lang="pt-BR" altLang="pt-BR" sz="1600" i="0" u="none" strike="noStrike" cap="none" normalizeH="0" baseline="0" dirty="0">
                <a:ln>
                  <a:noFill/>
                </a:ln>
                <a:solidFill>
                  <a:srgbClr val="FF0000"/>
                </a:solidFill>
                <a:effectLst/>
                <a:latin typeface="Trebuchet MS" panose="020B0603020202020204" pitchFamily="34" charset="0"/>
                <a:cs typeface="Calibri" panose="020F0502020204030204" pitchFamily="34" charset="0"/>
              </a:rPr>
              <a:t>base nos campos elétricos e na capacitância do sensor</a:t>
            </a: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que varia de acordo com a distância entre o sensor e o objeto a ser detectado. </a:t>
            </a:r>
          </a:p>
        </p:txBody>
      </p:sp>
      <p:pic>
        <p:nvPicPr>
          <p:cNvPr id="7" name="Picture 2" descr="Ilustração. A imagem mostra na parte superior três linhas: uma ondulada, uma tracejada e outra reta em azul. A esquerda das linhas está escrito “Amplitude do sinal” com uma flecha laranja apontando para elas, “Ausência do objeto” com uma flecha apontando para o início, “Amplitude com aproximação do objeto à face sensora” com três flechas apontando para as curvas feitas e “Ausência do objeto” apontando para o final de linha ondulada. No lado direito das linhas está escrito “Valor de ajuste (set point)”. A parte inferior da imagem está escrito “Sensor” e mostra nove figuras retangulares em cinza, com uma flecha laranja a esquerda dizendo “Objeto a ser detectado” e apontando para curvas tracejadas na parte de cima. A direita das figuras uma linha laranja aponta também para uma curva tracejada com “Campo elétrico” escrito ao lado. (fim da descrição)">
            <a:extLst>
              <a:ext uri="{FF2B5EF4-FFF2-40B4-BE49-F238E27FC236}">
                <a16:creationId xmlns:a16="http://schemas.microsoft.com/office/drawing/2014/main" id="{96133E68-EE1B-D4DF-4590-4C035BEB979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7355" y="2240961"/>
            <a:ext cx="7229289" cy="23407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9834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2301" y="0"/>
            <a:ext cx="9144000" cy="5143500"/>
          </a:xfrm>
          <a:prstGeom prst="rect">
            <a:avLst/>
          </a:prstGeom>
        </p:spPr>
      </p:pic>
      <p:sp>
        <p:nvSpPr>
          <p:cNvPr id="3" name="Shape 0"/>
          <p:cNvSpPr/>
          <p:nvPr/>
        </p:nvSpPr>
        <p:spPr>
          <a:xfrm>
            <a:off x="0" y="0"/>
            <a:ext cx="9144000" cy="642938"/>
          </a:xfrm>
          <a:prstGeom prst="rect">
            <a:avLst/>
          </a:prstGeom>
          <a:solidFill>
            <a:srgbClr val="004A99"/>
          </a:solidFill>
          <a:ln/>
        </p:spPr>
        <p:txBody>
          <a:bodyPr/>
          <a:lstStyle/>
          <a:p>
            <a:endParaRPr lang="pt-BR" noProof="0" dirty="0"/>
          </a:p>
        </p:txBody>
      </p:sp>
      <p:sp>
        <p:nvSpPr>
          <p:cNvPr id="4" name="Text 1"/>
          <p:cNvSpPr/>
          <p:nvPr/>
        </p:nvSpPr>
        <p:spPr>
          <a:xfrm>
            <a:off x="428625" y="136624"/>
            <a:ext cx="4404411" cy="981679"/>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digitais: Tipos de sensores digitais</a:t>
            </a:r>
          </a:p>
          <a:p>
            <a:pPr marL="0" indent="0" algn="l">
              <a:lnSpc>
                <a:spcPts val="2600"/>
              </a:lnSpc>
              <a:buNone/>
            </a:pPr>
            <a:endParaRPr lang="pt-BR" sz="1912" b="1" noProof="0" dirty="0">
              <a:solidFill>
                <a:srgbClr val="FFFFFF"/>
              </a:solidFill>
            </a:endParaRPr>
          </a:p>
          <a:p>
            <a:pPr marL="0" indent="0" algn="l">
              <a:lnSpc>
                <a:spcPts val="2600"/>
              </a:lnSpc>
              <a:buNone/>
            </a:pPr>
            <a:r>
              <a:rPr lang="pt-BR" sz="1912" b="1" noProof="0" dirty="0">
                <a:solidFill>
                  <a:srgbClr val="FFFFFF"/>
                </a:solidFill>
              </a:rPr>
              <a:t> </a:t>
            </a:r>
          </a:p>
        </p:txBody>
      </p:sp>
      <p:pic>
        <p:nvPicPr>
          <p:cNvPr id="23" name="Imagem 22">
            <a:extLst>
              <a:ext uri="{FF2B5EF4-FFF2-40B4-BE49-F238E27FC236}">
                <a16:creationId xmlns:a16="http://schemas.microsoft.com/office/drawing/2014/main" id="{DC598F7E-4F66-248B-F1EB-DE11B7B35420}"/>
              </a:ext>
            </a:extLst>
          </p:cNvPr>
          <p:cNvPicPr>
            <a:picLocks noChangeAspect="1"/>
          </p:cNvPicPr>
          <p:nvPr/>
        </p:nvPicPr>
        <p:blipFill>
          <a:blip r:embed="rId4"/>
          <a:stretch>
            <a:fillRect/>
          </a:stretch>
        </p:blipFill>
        <p:spPr>
          <a:xfrm>
            <a:off x="4482703" y="1077814"/>
            <a:ext cx="304800" cy="2177231"/>
          </a:xfrm>
          <a:prstGeom prst="rect">
            <a:avLst/>
          </a:prstGeom>
        </p:spPr>
      </p:pic>
      <p:pic>
        <p:nvPicPr>
          <p:cNvPr id="25" name="Imagem 24">
            <a:extLst>
              <a:ext uri="{FF2B5EF4-FFF2-40B4-BE49-F238E27FC236}">
                <a16:creationId xmlns:a16="http://schemas.microsoft.com/office/drawing/2014/main" id="{7AF65C66-D25D-08C1-3716-44ED219265BA}"/>
              </a:ext>
            </a:extLst>
          </p:cNvPr>
          <p:cNvPicPr>
            <a:picLocks noChangeAspect="1"/>
          </p:cNvPicPr>
          <p:nvPr/>
        </p:nvPicPr>
        <p:blipFill>
          <a:blip r:embed="rId4"/>
          <a:stretch>
            <a:fillRect/>
          </a:stretch>
        </p:blipFill>
        <p:spPr>
          <a:xfrm>
            <a:off x="381247" y="2085584"/>
            <a:ext cx="304800" cy="1170571"/>
          </a:xfrm>
          <a:prstGeom prst="rect">
            <a:avLst/>
          </a:prstGeom>
        </p:spPr>
      </p:pic>
      <p:pic>
        <p:nvPicPr>
          <p:cNvPr id="27" name="Picture 13">
            <a:extLst>
              <a:ext uri="{FF2B5EF4-FFF2-40B4-BE49-F238E27FC236}">
                <a16:creationId xmlns:a16="http://schemas.microsoft.com/office/drawing/2014/main" id="{39A96544-0515-4C8A-28FE-326F6ED67729}"/>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5" name="Text 2"/>
          <p:cNvSpPr/>
          <p:nvPr/>
        </p:nvSpPr>
        <p:spPr>
          <a:xfrm>
            <a:off x="545355" y="631939"/>
            <a:ext cx="7874695" cy="1649041"/>
          </a:xfrm>
          <a:prstGeom prst="rect">
            <a:avLst/>
          </a:prstGeom>
          <a:noFill/>
          <a:ln/>
        </p:spPr>
        <p:txBody>
          <a:bodyPr wrap="square" lIns="510286" tIns="170053" rIns="510286" bIns="0" rtlCol="0" anchor="t">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Sensores capacitivos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Os sensores capacitivos podem ser aplicados para detectar quase todos </a:t>
            </a:r>
            <a:r>
              <a:rPr kumimoji="0" lang="pt-BR" altLang="pt-BR" sz="1600" i="0" u="none" strike="noStrike" cap="none" normalizeH="0" baseline="0" dirty="0">
                <a:ln>
                  <a:noFill/>
                </a:ln>
                <a:solidFill>
                  <a:srgbClr val="FF0000"/>
                </a:solidFill>
                <a:effectLst/>
                <a:latin typeface="Trebuchet MS" panose="020B0603020202020204" pitchFamily="34" charset="0"/>
                <a:cs typeface="Calibri" panose="020F0502020204030204" pitchFamily="34" charset="0"/>
              </a:rPr>
              <a:t>os tipos de substâncias ou materiais metálicos e não metálicos</a:t>
            </a: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como água, óleo, pó, madeira, papelão, alumínio, vidro, cerâmicas e até mesmo a presença de pessoas (portas de shoppings), por exemplo.</a:t>
            </a:r>
          </a:p>
        </p:txBody>
      </p:sp>
      <p:pic>
        <p:nvPicPr>
          <p:cNvPr id="2050" name="Picture 2" descr="O que são sensores indutivos e capacitivos? Características e funcionamento!">
            <a:extLst>
              <a:ext uri="{FF2B5EF4-FFF2-40B4-BE49-F238E27FC236}">
                <a16:creationId xmlns:a16="http://schemas.microsoft.com/office/drawing/2014/main" id="{10269EF7-22F5-F237-11D5-7D769C23397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3200" y="2615607"/>
            <a:ext cx="3657599" cy="2054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22248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2301" y="0"/>
            <a:ext cx="9144000" cy="5143500"/>
          </a:xfrm>
          <a:prstGeom prst="rect">
            <a:avLst/>
          </a:prstGeom>
        </p:spPr>
      </p:pic>
      <p:sp>
        <p:nvSpPr>
          <p:cNvPr id="3" name="Shape 0"/>
          <p:cNvSpPr/>
          <p:nvPr/>
        </p:nvSpPr>
        <p:spPr>
          <a:xfrm>
            <a:off x="0" y="0"/>
            <a:ext cx="9144000" cy="642938"/>
          </a:xfrm>
          <a:prstGeom prst="rect">
            <a:avLst/>
          </a:prstGeom>
          <a:solidFill>
            <a:srgbClr val="004A99"/>
          </a:solidFill>
          <a:ln/>
        </p:spPr>
        <p:txBody>
          <a:bodyPr/>
          <a:lstStyle/>
          <a:p>
            <a:endParaRPr lang="pt-BR" noProof="0" dirty="0"/>
          </a:p>
        </p:txBody>
      </p:sp>
      <p:sp>
        <p:nvSpPr>
          <p:cNvPr id="4" name="Text 1"/>
          <p:cNvSpPr/>
          <p:nvPr/>
        </p:nvSpPr>
        <p:spPr>
          <a:xfrm>
            <a:off x="428625" y="136624"/>
            <a:ext cx="4404411" cy="314830"/>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digitais: Tipos de sensores digitais</a:t>
            </a:r>
          </a:p>
        </p:txBody>
      </p:sp>
      <p:pic>
        <p:nvPicPr>
          <p:cNvPr id="23" name="Imagem 22">
            <a:extLst>
              <a:ext uri="{FF2B5EF4-FFF2-40B4-BE49-F238E27FC236}">
                <a16:creationId xmlns:a16="http://schemas.microsoft.com/office/drawing/2014/main" id="{DC598F7E-4F66-248B-F1EB-DE11B7B35420}"/>
              </a:ext>
            </a:extLst>
          </p:cNvPr>
          <p:cNvPicPr>
            <a:picLocks noChangeAspect="1"/>
          </p:cNvPicPr>
          <p:nvPr/>
        </p:nvPicPr>
        <p:blipFill>
          <a:blip r:embed="rId4"/>
          <a:stretch>
            <a:fillRect/>
          </a:stretch>
        </p:blipFill>
        <p:spPr>
          <a:xfrm>
            <a:off x="4482703" y="1077814"/>
            <a:ext cx="304800" cy="2177231"/>
          </a:xfrm>
          <a:prstGeom prst="rect">
            <a:avLst/>
          </a:prstGeom>
        </p:spPr>
      </p:pic>
      <p:pic>
        <p:nvPicPr>
          <p:cNvPr id="25" name="Imagem 24">
            <a:extLst>
              <a:ext uri="{FF2B5EF4-FFF2-40B4-BE49-F238E27FC236}">
                <a16:creationId xmlns:a16="http://schemas.microsoft.com/office/drawing/2014/main" id="{7AF65C66-D25D-08C1-3716-44ED219265BA}"/>
              </a:ext>
            </a:extLst>
          </p:cNvPr>
          <p:cNvPicPr>
            <a:picLocks noChangeAspect="1"/>
          </p:cNvPicPr>
          <p:nvPr/>
        </p:nvPicPr>
        <p:blipFill>
          <a:blip r:embed="rId4"/>
          <a:stretch>
            <a:fillRect/>
          </a:stretch>
        </p:blipFill>
        <p:spPr>
          <a:xfrm>
            <a:off x="381247" y="2085584"/>
            <a:ext cx="304800" cy="1170571"/>
          </a:xfrm>
          <a:prstGeom prst="rect">
            <a:avLst/>
          </a:prstGeom>
        </p:spPr>
      </p:pic>
      <p:pic>
        <p:nvPicPr>
          <p:cNvPr id="27" name="Picture 13">
            <a:extLst>
              <a:ext uri="{FF2B5EF4-FFF2-40B4-BE49-F238E27FC236}">
                <a16:creationId xmlns:a16="http://schemas.microsoft.com/office/drawing/2014/main" id="{39A96544-0515-4C8A-28FE-326F6ED67729}"/>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5" name="Text 2"/>
          <p:cNvSpPr/>
          <p:nvPr/>
        </p:nvSpPr>
        <p:spPr>
          <a:xfrm>
            <a:off x="545355" y="631939"/>
            <a:ext cx="7874695" cy="1649041"/>
          </a:xfrm>
          <a:prstGeom prst="rect">
            <a:avLst/>
          </a:prstGeom>
          <a:noFill/>
          <a:ln/>
        </p:spPr>
        <p:txBody>
          <a:bodyPr wrap="square" lIns="510286" tIns="170053" rIns="510286" bIns="0" rtlCol="0" anchor="t">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Sensores de vazão</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Os sensores de vazão são instrumentos aplicados quando há a necessidade de saber se o produto do processo está passando pela tubulação na quantidade especificada. Esses instrumentos também são chamados de fluxostatos.</a:t>
            </a:r>
          </a:p>
        </p:txBody>
      </p:sp>
      <p:pic>
        <p:nvPicPr>
          <p:cNvPr id="6" name="Picture 4" descr="Ilustração. A imagem a esquerda mostra um fluxostato com corpo cilíndrico na horizontal que possui uma abertura com um círculo (em cinza claro) no interior. Dentro do círculo, um ponteiro escuro tem uma flecha laranja com “Palheta em posição normal” apontando para ele. Na vertical o fluxostato possui corpo também cilíndrico com a parte superior em vermelho. No lado direito da figura duas flechas em laranja apontam para a esquerda com a palavra “Fluxo”. A direita da imagem mostra um fluxostato com corpo cilíndrico na horizontal que possui uma abertura com um círculo inclinado (em cinza claro) no interior. Dentro do círculo, um ponteiro escuro tem uma flecha laranja com “Palheta em posição atuada” apontando para ele. Na vertical o fluxostato possui corpo também cilíndrico com a parte superior em vermelho. No lado direito da figura duas flechas em laranja apontam para a esquerda com a palavra “Fluxo”. (fim da descrição)">
            <a:extLst>
              <a:ext uri="{FF2B5EF4-FFF2-40B4-BE49-F238E27FC236}">
                <a16:creationId xmlns:a16="http://schemas.microsoft.com/office/drawing/2014/main" id="{B3C3C650-BA2F-DDA6-7AEB-C7CB3B3829F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36301" y="2722978"/>
            <a:ext cx="6096000" cy="1788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12863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642938"/>
          </a:xfrm>
          <a:prstGeom prst="rect">
            <a:avLst/>
          </a:prstGeom>
          <a:solidFill>
            <a:srgbClr val="004A99"/>
          </a:solidFill>
          <a:ln/>
        </p:spPr>
        <p:txBody>
          <a:bodyPr/>
          <a:lstStyle/>
          <a:p>
            <a:endParaRPr lang="pt-BR" noProof="0" dirty="0"/>
          </a:p>
        </p:txBody>
      </p:sp>
      <p:sp>
        <p:nvSpPr>
          <p:cNvPr id="4" name="Text 1"/>
          <p:cNvSpPr/>
          <p:nvPr/>
        </p:nvSpPr>
        <p:spPr>
          <a:xfrm>
            <a:off x="428625" y="136624"/>
            <a:ext cx="4404411" cy="314830"/>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digitais: Tipos de sensores digitais</a:t>
            </a:r>
          </a:p>
        </p:txBody>
      </p:sp>
      <p:pic>
        <p:nvPicPr>
          <p:cNvPr id="23" name="Imagem 22">
            <a:extLst>
              <a:ext uri="{FF2B5EF4-FFF2-40B4-BE49-F238E27FC236}">
                <a16:creationId xmlns:a16="http://schemas.microsoft.com/office/drawing/2014/main" id="{DC598F7E-4F66-248B-F1EB-DE11B7B35420}"/>
              </a:ext>
            </a:extLst>
          </p:cNvPr>
          <p:cNvPicPr>
            <a:picLocks noChangeAspect="1"/>
          </p:cNvPicPr>
          <p:nvPr/>
        </p:nvPicPr>
        <p:blipFill>
          <a:blip r:embed="rId4"/>
          <a:stretch>
            <a:fillRect/>
          </a:stretch>
        </p:blipFill>
        <p:spPr>
          <a:xfrm>
            <a:off x="4668970" y="1866887"/>
            <a:ext cx="304800" cy="721248"/>
          </a:xfrm>
          <a:prstGeom prst="rect">
            <a:avLst/>
          </a:prstGeom>
        </p:spPr>
      </p:pic>
      <p:pic>
        <p:nvPicPr>
          <p:cNvPr id="27" name="Picture 13">
            <a:extLst>
              <a:ext uri="{FF2B5EF4-FFF2-40B4-BE49-F238E27FC236}">
                <a16:creationId xmlns:a16="http://schemas.microsoft.com/office/drawing/2014/main" id="{39A96544-0515-4C8A-28FE-326F6ED67729}"/>
              </a:ext>
            </a:extLst>
          </p:cNvPr>
          <p:cNvPicPr>
            <a:picLocks noChangeAspect="1"/>
          </p:cNvPicPr>
          <p:nvPr/>
        </p:nvPicPr>
        <p:blipFill>
          <a:blip r:embed="rId5"/>
          <a:stretch>
            <a:fillRect/>
          </a:stretch>
        </p:blipFill>
        <p:spPr>
          <a:xfrm>
            <a:off x="7727426" y="4404597"/>
            <a:ext cx="1239442" cy="531189"/>
          </a:xfrm>
          <a:prstGeom prst="rect">
            <a:avLst/>
          </a:prstGeom>
        </p:spPr>
      </p:pic>
      <p:pic>
        <p:nvPicPr>
          <p:cNvPr id="9" name="Imagem 22">
            <a:extLst>
              <a:ext uri="{FF2B5EF4-FFF2-40B4-BE49-F238E27FC236}">
                <a16:creationId xmlns:a16="http://schemas.microsoft.com/office/drawing/2014/main" id="{2E397010-9E51-C143-18A0-17F871CE1768}"/>
              </a:ext>
            </a:extLst>
          </p:cNvPr>
          <p:cNvPicPr>
            <a:picLocks noChangeAspect="1"/>
          </p:cNvPicPr>
          <p:nvPr/>
        </p:nvPicPr>
        <p:blipFill>
          <a:blip r:embed="rId4"/>
          <a:stretch>
            <a:fillRect/>
          </a:stretch>
        </p:blipFill>
        <p:spPr>
          <a:xfrm>
            <a:off x="4482703" y="1077814"/>
            <a:ext cx="304800" cy="2177231"/>
          </a:xfrm>
          <a:prstGeom prst="rect">
            <a:avLst/>
          </a:prstGeom>
        </p:spPr>
      </p:pic>
      <p:sp>
        <p:nvSpPr>
          <p:cNvPr id="10" name="Text 2">
            <a:extLst>
              <a:ext uri="{FF2B5EF4-FFF2-40B4-BE49-F238E27FC236}">
                <a16:creationId xmlns:a16="http://schemas.microsoft.com/office/drawing/2014/main" id="{22FFECA0-BD5B-CB90-2EC3-CE61740A7A5B}"/>
              </a:ext>
            </a:extLst>
          </p:cNvPr>
          <p:cNvSpPr/>
          <p:nvPr/>
        </p:nvSpPr>
        <p:spPr>
          <a:xfrm>
            <a:off x="533647" y="674505"/>
            <a:ext cx="7874695" cy="2141484"/>
          </a:xfrm>
          <a:prstGeom prst="rect">
            <a:avLst/>
          </a:prstGeom>
          <a:noFill/>
          <a:ln/>
        </p:spPr>
        <p:txBody>
          <a:bodyPr wrap="square" lIns="510286" tIns="170053" rIns="510286" bIns="0" rtlCol="0" anchor="t">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Sensores de temperatura</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Os sensores de temperatura são importantes instrumentos para o controle e para a segurança operacional de máquinas e processos, evitando que suas temperaturas atinjam valores considerados perigosos.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Esses sensores são comumente chamados de termostatos e seu princípio de funcionamento se dá pela expansão ou contração de gases, líquidos ou componentes bimetálicos.</a:t>
            </a:r>
          </a:p>
        </p:txBody>
      </p:sp>
      <p:pic>
        <p:nvPicPr>
          <p:cNvPr id="11" name="Picture 2" descr="Ilustração. A imagem mostra da esquerda para a direita: um retângulo grande na horizontal com “Bloco de um equipamento” escrito na parte superior e dentro, um retângulo menor com bordas arredondas escrito “Buldo termostático” na parte de cima. A direita da imagem um retângulo na vertical tem uma linha azul no centro, com “Contato estacionário” escrito na parte superior esquerda e logo abaixo “Foles” escrito em cima de linhas em formato de sanfona. Na parte superior direita tem escrito “Contato móvel”, com linhas em formato de ziguezague logo abaixo denominadas “Mola”. Na parte superior do retângulo, duas retas paralelas saem em direção ao lado direito e terminam com dois círculos com um risco no meio, com “Saída” escrito ao lado. No lado inferior direito do retângulo (lado de fora) um retângulo menor com linhas sinuosas dentro tem escrito “Botão de ajuste” ao lado. No centro da imagem entre os retângulos esquerdo e direito, outros dois pequenos retângulos (um a esquerda e um a direita) com um pequeno espaço entre eles escrito “Capilar” na parte de baixo. (fim da descrição)">
            <a:extLst>
              <a:ext uri="{FF2B5EF4-FFF2-40B4-BE49-F238E27FC236}">
                <a16:creationId xmlns:a16="http://schemas.microsoft.com/office/drawing/2014/main" id="{FE81B68D-2A93-C89F-B162-71AF7391512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42679" y="2571750"/>
            <a:ext cx="4580713" cy="2055995"/>
          </a:xfrm>
          <a:prstGeom prst="rect">
            <a:avLst/>
          </a:prstGeom>
          <a:noFill/>
          <a:extLst>
            <a:ext uri="{909E8E84-426E-40DD-AFC4-6F175D3DCCD1}">
              <a14:hiddenFill xmlns:a14="http://schemas.microsoft.com/office/drawing/2010/main">
                <a:solidFill>
                  <a:srgbClr val="FFFFFF"/>
                </a:solidFill>
              </a14:hiddenFill>
            </a:ext>
          </a:extLst>
        </p:spPr>
      </p:pic>
      <p:pic>
        <p:nvPicPr>
          <p:cNvPr id="12" name="Imagem 22">
            <a:extLst>
              <a:ext uri="{FF2B5EF4-FFF2-40B4-BE49-F238E27FC236}">
                <a16:creationId xmlns:a16="http://schemas.microsoft.com/office/drawing/2014/main" id="{D0DEA0F2-64A1-CB82-467D-BF5F357A3082}"/>
              </a:ext>
            </a:extLst>
          </p:cNvPr>
          <p:cNvPicPr>
            <a:picLocks noChangeAspect="1"/>
          </p:cNvPicPr>
          <p:nvPr/>
        </p:nvPicPr>
        <p:blipFill>
          <a:blip r:embed="rId4"/>
          <a:stretch>
            <a:fillRect/>
          </a:stretch>
        </p:blipFill>
        <p:spPr>
          <a:xfrm>
            <a:off x="312473" y="2227511"/>
            <a:ext cx="304800" cy="1027534"/>
          </a:xfrm>
          <a:prstGeom prst="rect">
            <a:avLst/>
          </a:prstGeom>
        </p:spPr>
      </p:pic>
    </p:spTree>
    <p:extLst>
      <p:ext uri="{BB962C8B-B14F-4D97-AF65-F5344CB8AC3E}">
        <p14:creationId xmlns:p14="http://schemas.microsoft.com/office/powerpoint/2010/main" val="8858052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CE3C-242A-7E0D-77E1-1B9D521F7F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7AB39DE-5053-DD98-6428-191834BE0FDB}"/>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80F69BFB-80C9-41E1-DC09-3EC7D0F34458}"/>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 name="Text 1">
            <a:extLst>
              <a:ext uri="{FF2B5EF4-FFF2-40B4-BE49-F238E27FC236}">
                <a16:creationId xmlns:a16="http://schemas.microsoft.com/office/drawing/2014/main" id="{E4CE189B-BE67-FFF3-5CD9-C338C92600DB}"/>
              </a:ext>
            </a:extLst>
          </p:cNvPr>
          <p:cNvSpPr/>
          <p:nvPr/>
        </p:nvSpPr>
        <p:spPr>
          <a:xfrm>
            <a:off x="428625" y="136624"/>
            <a:ext cx="4404411" cy="314830"/>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digitais: Tipos de sensores digitais</a:t>
            </a:r>
          </a:p>
        </p:txBody>
      </p:sp>
      <p:pic>
        <p:nvPicPr>
          <p:cNvPr id="23" name="Imagem 22">
            <a:extLst>
              <a:ext uri="{FF2B5EF4-FFF2-40B4-BE49-F238E27FC236}">
                <a16:creationId xmlns:a16="http://schemas.microsoft.com/office/drawing/2014/main" id="{798B3796-1250-BD47-6772-903CD3BCE562}"/>
              </a:ext>
            </a:extLst>
          </p:cNvPr>
          <p:cNvPicPr>
            <a:picLocks noChangeAspect="1"/>
          </p:cNvPicPr>
          <p:nvPr/>
        </p:nvPicPr>
        <p:blipFill>
          <a:blip r:embed="rId4"/>
          <a:stretch>
            <a:fillRect/>
          </a:stretch>
        </p:blipFill>
        <p:spPr>
          <a:xfrm>
            <a:off x="4542814" y="956057"/>
            <a:ext cx="186928" cy="2270361"/>
          </a:xfrm>
          <a:prstGeom prst="rect">
            <a:avLst/>
          </a:prstGeom>
        </p:spPr>
      </p:pic>
      <p:pic>
        <p:nvPicPr>
          <p:cNvPr id="27" name="Picture 13">
            <a:extLst>
              <a:ext uri="{FF2B5EF4-FFF2-40B4-BE49-F238E27FC236}">
                <a16:creationId xmlns:a16="http://schemas.microsoft.com/office/drawing/2014/main" id="{5EDED477-AABC-0D95-35B9-08D51700CDD6}"/>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6" name="Text 2">
            <a:extLst>
              <a:ext uri="{FF2B5EF4-FFF2-40B4-BE49-F238E27FC236}">
                <a16:creationId xmlns:a16="http://schemas.microsoft.com/office/drawing/2014/main" id="{666B2EE7-DA2C-4576-4B25-CBAEAB5BB791}"/>
              </a:ext>
            </a:extLst>
          </p:cNvPr>
          <p:cNvSpPr/>
          <p:nvPr/>
        </p:nvSpPr>
        <p:spPr>
          <a:xfrm>
            <a:off x="208789" y="469013"/>
            <a:ext cx="8935211" cy="1895262"/>
          </a:xfrm>
          <a:prstGeom prst="rect">
            <a:avLst/>
          </a:prstGeom>
          <a:noFill/>
          <a:ln/>
        </p:spPr>
        <p:txBody>
          <a:bodyPr wrap="square" lIns="510286" tIns="170053" rIns="510286" bIns="0" rtlCol="0" anchor="t">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Sensores de nível</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Os sensores de nível ou chaves de nível </a:t>
            </a:r>
            <a:r>
              <a:rPr kumimoji="0" lang="pt-BR" altLang="pt-BR" sz="1600" i="0" u="none" strike="noStrike" cap="none" normalizeH="0" baseline="0" dirty="0">
                <a:ln>
                  <a:noFill/>
                </a:ln>
                <a:solidFill>
                  <a:srgbClr val="FF0000"/>
                </a:solidFill>
                <a:effectLst/>
                <a:latin typeface="Trebuchet MS" panose="020B0603020202020204" pitchFamily="34" charset="0"/>
                <a:cs typeface="Calibri" panose="020F0502020204030204" pitchFamily="34" charset="0"/>
              </a:rPr>
              <a:t>identificam em qual patamar está o nível de produto</a:t>
            </a: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em tanques, vasos e reservatórios, que fazem o armazenamento de produto. Existem vários tipos de sensores de nível, que empregam diferentes princípios de funcionamento, como o capacitivo, o de pás rotativas e o diapasão — com lâminas que vibram em determinada frequência.</a:t>
            </a:r>
          </a:p>
        </p:txBody>
      </p:sp>
      <p:pic>
        <p:nvPicPr>
          <p:cNvPr id="7" name="Picture 2" descr="Ilustração. A imagem mostra um recipiente retangular com bordas achatadas e a ponta inferior afunilada, com um líquido em azul claro dentro. Na parte superior do recipiente, um sensor de nível em branco tem escrito ao lado “Sensor tipo rotativo, aplicado como nível alto”. Na parte central do recipiente, um sensor de nível tem escrito ao lado “Sensor tipo diapasão, aplicado como nível médio” e na parte inferior do recipiente um sensor de nível tem escrito ao lado “Sensor tipo capacitivo aplicado como nível baixo”. (fim da descrição)">
            <a:extLst>
              <a:ext uri="{FF2B5EF4-FFF2-40B4-BE49-F238E27FC236}">
                <a16:creationId xmlns:a16="http://schemas.microsoft.com/office/drawing/2014/main" id="{5FD560CD-EEF1-300B-EE39-5941F0AB668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58267" y="2496983"/>
            <a:ext cx="5427466" cy="2286885"/>
          </a:xfrm>
          <a:prstGeom prst="rect">
            <a:avLst/>
          </a:prstGeom>
          <a:noFill/>
          <a:extLst>
            <a:ext uri="{909E8E84-426E-40DD-AFC4-6F175D3DCCD1}">
              <a14:hiddenFill xmlns:a14="http://schemas.microsoft.com/office/drawing/2010/main">
                <a:solidFill>
                  <a:srgbClr val="FFFFFF"/>
                </a:solidFill>
              </a14:hiddenFill>
            </a:ext>
          </a:extLst>
        </p:spPr>
      </p:pic>
      <p:sp>
        <p:nvSpPr>
          <p:cNvPr id="8" name="Text 16">
            <a:extLst>
              <a:ext uri="{FF2B5EF4-FFF2-40B4-BE49-F238E27FC236}">
                <a16:creationId xmlns:a16="http://schemas.microsoft.com/office/drawing/2014/main" id="{B492227A-D411-A8B8-3EDD-758EC5EADC57}"/>
              </a:ext>
            </a:extLst>
          </p:cNvPr>
          <p:cNvSpPr/>
          <p:nvPr/>
        </p:nvSpPr>
        <p:spPr>
          <a:xfrm>
            <a:off x="2830536" y="4816569"/>
            <a:ext cx="3691716" cy="246221"/>
          </a:xfrm>
          <a:prstGeom prst="rect">
            <a:avLst/>
          </a:prstGeom>
          <a:noFill/>
          <a:ln/>
        </p:spPr>
        <p:txBody>
          <a:bodyPr wrap="none" lIns="0" tIns="0" rIns="0" bIns="0" rtlCol="0" anchor="t">
            <a:spAutoFit/>
          </a:bodyPr>
          <a:lstStyle/>
          <a:p>
            <a:pPr algn="ctr" defTabSz="914400"/>
            <a:r>
              <a:rPr lang="pt-BR" altLang="pt-BR" sz="800" dirty="0">
                <a:latin typeface="Trebuchet MS" panose="020B0603020202020204" pitchFamily="34" charset="0"/>
                <a:cs typeface="Calibri" panose="020F0502020204030204" pitchFamily="34" charset="0"/>
              </a:rPr>
              <a:t>Três tipos de sensores de nível, que, em função da aplicação de cada um deles </a:t>
            </a:r>
          </a:p>
          <a:p>
            <a:pPr algn="just" defTabSz="914400"/>
            <a:r>
              <a:rPr lang="pt-BR" altLang="pt-BR" sz="800" dirty="0">
                <a:latin typeface="Trebuchet MS" panose="020B0603020202020204" pitchFamily="34" charset="0"/>
                <a:cs typeface="Calibri" panose="020F0502020204030204" pitchFamily="34" charset="0"/>
              </a:rPr>
              <a:t>no equipamento, estão classificados como sendo de níveis alto, médio ou baixo.</a:t>
            </a:r>
            <a:endParaRPr lang="pt-BR" altLang="pt-BR" sz="800" dirty="0">
              <a:solidFill>
                <a:srgbClr val="FF0000"/>
              </a:solidFill>
              <a:latin typeface="Trebuchet MS" panose="020B0603020202020204" pitchFamily="34" charset="0"/>
              <a:cs typeface="Calibri" panose="020F0502020204030204" pitchFamily="34" charset="0"/>
            </a:endParaRPr>
          </a:p>
        </p:txBody>
      </p:sp>
      <p:pic>
        <p:nvPicPr>
          <p:cNvPr id="9" name="Imagem 22">
            <a:extLst>
              <a:ext uri="{FF2B5EF4-FFF2-40B4-BE49-F238E27FC236}">
                <a16:creationId xmlns:a16="http://schemas.microsoft.com/office/drawing/2014/main" id="{F1B678E4-01E2-7C2C-D47E-D58D0C56F24A}"/>
              </a:ext>
            </a:extLst>
          </p:cNvPr>
          <p:cNvPicPr>
            <a:picLocks noChangeAspect="1"/>
          </p:cNvPicPr>
          <p:nvPr/>
        </p:nvPicPr>
        <p:blipFill>
          <a:blip r:embed="rId4"/>
          <a:stretch>
            <a:fillRect/>
          </a:stretch>
        </p:blipFill>
        <p:spPr>
          <a:xfrm>
            <a:off x="312473" y="2227511"/>
            <a:ext cx="304800" cy="1027534"/>
          </a:xfrm>
          <a:prstGeom prst="rect">
            <a:avLst/>
          </a:prstGeom>
        </p:spPr>
      </p:pic>
    </p:spTree>
    <p:extLst>
      <p:ext uri="{BB962C8B-B14F-4D97-AF65-F5344CB8AC3E}">
        <p14:creationId xmlns:p14="http://schemas.microsoft.com/office/powerpoint/2010/main" val="11823424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CE3C-242A-7E0D-77E1-1B9D521F7F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7AB39DE-5053-DD98-6428-191834BE0FDB}"/>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80F69BFB-80C9-41E1-DC09-3EC7D0F34458}"/>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 name="Text 1">
            <a:extLst>
              <a:ext uri="{FF2B5EF4-FFF2-40B4-BE49-F238E27FC236}">
                <a16:creationId xmlns:a16="http://schemas.microsoft.com/office/drawing/2014/main" id="{E4CE189B-BE67-FFF3-5CD9-C338C92600DB}"/>
              </a:ext>
            </a:extLst>
          </p:cNvPr>
          <p:cNvSpPr/>
          <p:nvPr/>
        </p:nvSpPr>
        <p:spPr>
          <a:xfrm>
            <a:off x="428625" y="136624"/>
            <a:ext cx="4404411" cy="314830"/>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digitais: Tipos de sensores digitais</a:t>
            </a:r>
          </a:p>
        </p:txBody>
      </p:sp>
      <p:pic>
        <p:nvPicPr>
          <p:cNvPr id="23" name="Imagem 22">
            <a:extLst>
              <a:ext uri="{FF2B5EF4-FFF2-40B4-BE49-F238E27FC236}">
                <a16:creationId xmlns:a16="http://schemas.microsoft.com/office/drawing/2014/main" id="{798B3796-1250-BD47-6772-903CD3BCE562}"/>
              </a:ext>
            </a:extLst>
          </p:cNvPr>
          <p:cNvPicPr>
            <a:picLocks noChangeAspect="1"/>
          </p:cNvPicPr>
          <p:nvPr/>
        </p:nvPicPr>
        <p:blipFill>
          <a:blip r:embed="rId4"/>
          <a:stretch>
            <a:fillRect/>
          </a:stretch>
        </p:blipFill>
        <p:spPr>
          <a:xfrm>
            <a:off x="4542814" y="956057"/>
            <a:ext cx="186928" cy="2270361"/>
          </a:xfrm>
          <a:prstGeom prst="rect">
            <a:avLst/>
          </a:prstGeom>
        </p:spPr>
      </p:pic>
      <p:pic>
        <p:nvPicPr>
          <p:cNvPr id="27" name="Picture 13">
            <a:extLst>
              <a:ext uri="{FF2B5EF4-FFF2-40B4-BE49-F238E27FC236}">
                <a16:creationId xmlns:a16="http://schemas.microsoft.com/office/drawing/2014/main" id="{5EDED477-AABC-0D95-35B9-08D51700CDD6}"/>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6" name="Text 2">
            <a:extLst>
              <a:ext uri="{FF2B5EF4-FFF2-40B4-BE49-F238E27FC236}">
                <a16:creationId xmlns:a16="http://schemas.microsoft.com/office/drawing/2014/main" id="{666B2EE7-DA2C-4576-4B25-CBAEAB5BB791}"/>
              </a:ext>
            </a:extLst>
          </p:cNvPr>
          <p:cNvSpPr/>
          <p:nvPr/>
        </p:nvSpPr>
        <p:spPr>
          <a:xfrm>
            <a:off x="208789" y="519815"/>
            <a:ext cx="8935211" cy="1895262"/>
          </a:xfrm>
          <a:prstGeom prst="rect">
            <a:avLst/>
          </a:prstGeom>
          <a:noFill/>
          <a:ln/>
        </p:spPr>
        <p:txBody>
          <a:bodyPr wrap="square" lIns="510286" tIns="170053" rIns="510286" bIns="0" rtlCol="0" anchor="t">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Sensores de posição</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pt-BR" altLang="pt-BR" sz="1600" b="1" i="0" u="none" strike="noStrike" cap="none" normalizeH="0" baseline="0" dirty="0">
              <a:ln>
                <a:noFill/>
              </a:ln>
              <a:solidFill>
                <a:schemeClr val="tx1"/>
              </a:solidFill>
              <a:effectLst/>
              <a:latin typeface="Trebuchet MS" panose="020B060302020202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Os sensores de posição são importantes instrumentos para a automatização de máquinas, pois informam, por exemplo, se uma válvula do processo ou a porta de uma máquina está aberta ou fechada, ou, ainda, se um braço automático está no início ou no final do seu avanço. Por isso, muitos sensores de posição também são conhecidos como </a:t>
            </a:r>
            <a:r>
              <a:rPr kumimoji="0" lang="pt-BR" altLang="pt-BR" sz="1600" i="0" u="none" strike="noStrike" cap="none" normalizeH="0" baseline="0" dirty="0">
                <a:ln>
                  <a:noFill/>
                </a:ln>
                <a:solidFill>
                  <a:srgbClr val="FF0000"/>
                </a:solidFill>
                <a:effectLst/>
                <a:latin typeface="Trebuchet MS" panose="020B0603020202020204" pitchFamily="34" charset="0"/>
                <a:cs typeface="Calibri" panose="020F0502020204030204" pitchFamily="34" charset="0"/>
              </a:rPr>
              <a:t>chaves de final de curso</a:t>
            </a:r>
            <a:r>
              <a:rPr kumimoji="0" lang="pt-BR" altLang="pt-BR" sz="160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a:t>
            </a:r>
          </a:p>
        </p:txBody>
      </p:sp>
      <p:pic>
        <p:nvPicPr>
          <p:cNvPr id="9" name="Imagem 22">
            <a:extLst>
              <a:ext uri="{FF2B5EF4-FFF2-40B4-BE49-F238E27FC236}">
                <a16:creationId xmlns:a16="http://schemas.microsoft.com/office/drawing/2014/main" id="{F1B678E4-01E2-7C2C-D47E-D58D0C56F24A}"/>
              </a:ext>
            </a:extLst>
          </p:cNvPr>
          <p:cNvPicPr>
            <a:picLocks noChangeAspect="1"/>
          </p:cNvPicPr>
          <p:nvPr/>
        </p:nvPicPr>
        <p:blipFill>
          <a:blip r:embed="rId4"/>
          <a:stretch>
            <a:fillRect/>
          </a:stretch>
        </p:blipFill>
        <p:spPr>
          <a:xfrm>
            <a:off x="312473" y="2227511"/>
            <a:ext cx="304800" cy="1027534"/>
          </a:xfrm>
          <a:prstGeom prst="rect">
            <a:avLst/>
          </a:prstGeom>
        </p:spPr>
      </p:pic>
      <p:pic>
        <p:nvPicPr>
          <p:cNvPr id="5" name="Picture 2" descr="Ilustração. A imagem mostra dois sensores de posição, com a parte traseira retangular em branco, a parte frontal em azul escuro e a parte superior em formato de círculo em preto. Embaixo do primeiro sensor está escrito “Rolete articulado” e do segundo “Rolete fico”, com uma luz azul em formato de cone saindo deste último. No lado direito da imagem a luz azul leva a um círculo também em tom azul com uma caixa preta dentro, com seis pequenos círculos cinza dentro dela. Na parte inferior do círculo azul está escrito “Contato elétrico”. (fim da descrição)">
            <a:extLst>
              <a:ext uri="{FF2B5EF4-FFF2-40B4-BE49-F238E27FC236}">
                <a16:creationId xmlns:a16="http://schemas.microsoft.com/office/drawing/2014/main" id="{526D9C5E-5A74-3A98-6342-A70042800C4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55541" y="2809366"/>
            <a:ext cx="2754990" cy="17042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8614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02436"/>
          </a:xfrm>
          <a:prstGeom prst="rect">
            <a:avLst/>
          </a:prstGeom>
        </p:spPr>
      </p:pic>
      <p:pic>
        <p:nvPicPr>
          <p:cNvPr id="49" name="Picture 13">
            <a:extLst>
              <a:ext uri="{FF2B5EF4-FFF2-40B4-BE49-F238E27FC236}">
                <a16:creationId xmlns:a16="http://schemas.microsoft.com/office/drawing/2014/main" id="{9A8742EC-9209-0C73-D72D-68B88B835C86}"/>
              </a:ext>
            </a:extLst>
          </p:cNvPr>
          <p:cNvPicPr>
            <a:picLocks noChangeAspect="1"/>
          </p:cNvPicPr>
          <p:nvPr/>
        </p:nvPicPr>
        <p:blipFill>
          <a:blip r:embed="rId4"/>
          <a:stretch>
            <a:fillRect/>
          </a:stretch>
        </p:blipFill>
        <p:spPr>
          <a:xfrm>
            <a:off x="7749193" y="4590669"/>
            <a:ext cx="1239442" cy="531189"/>
          </a:xfrm>
          <a:prstGeom prst="rect">
            <a:avLst/>
          </a:prstGeom>
        </p:spPr>
      </p:pic>
      <p:sp>
        <p:nvSpPr>
          <p:cNvPr id="35" name="Shape 0">
            <a:extLst>
              <a:ext uri="{FF2B5EF4-FFF2-40B4-BE49-F238E27FC236}">
                <a16:creationId xmlns:a16="http://schemas.microsoft.com/office/drawing/2014/main" id="{12470D7A-C99E-DB87-2871-236350699F9E}"/>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5" name="Text 1">
            <a:extLst>
              <a:ext uri="{FF2B5EF4-FFF2-40B4-BE49-F238E27FC236}">
                <a16:creationId xmlns:a16="http://schemas.microsoft.com/office/drawing/2014/main" id="{37A8AA76-6912-0140-2625-05545E09AF74}"/>
              </a:ext>
            </a:extLst>
          </p:cNvPr>
          <p:cNvSpPr/>
          <p:nvPr/>
        </p:nvSpPr>
        <p:spPr>
          <a:xfrm>
            <a:off x="428625" y="136624"/>
            <a:ext cx="2063898" cy="314766"/>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Analógicos</a:t>
            </a:r>
          </a:p>
        </p:txBody>
      </p:sp>
      <p:sp>
        <p:nvSpPr>
          <p:cNvPr id="46" name="CaixaDeTexto 3">
            <a:extLst>
              <a:ext uri="{FF2B5EF4-FFF2-40B4-BE49-F238E27FC236}">
                <a16:creationId xmlns:a16="http://schemas.microsoft.com/office/drawing/2014/main" id="{4CCCB6E2-99B0-6073-7F9F-3BA9AEB28C54}"/>
              </a:ext>
            </a:extLst>
          </p:cNvPr>
          <p:cNvSpPr txBox="1"/>
          <p:nvPr/>
        </p:nvSpPr>
        <p:spPr>
          <a:xfrm>
            <a:off x="154571" y="564186"/>
            <a:ext cx="8834857" cy="3816429"/>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pt-BR" altLang="pt-BR" sz="14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4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Na indústria, os sensores analógicos são amplamente utilizados para a leitura de grandezas físicas, </a:t>
            </a:r>
            <a:r>
              <a:rPr lang="pt-BR" altLang="pt-BR" sz="1400" dirty="0">
                <a:latin typeface="Trebuchet MS" panose="020B0603020202020204" pitchFamily="34" charset="0"/>
                <a:cs typeface="Calibri" panose="020F0502020204030204" pitchFamily="34" charset="0"/>
              </a:rPr>
              <a:t>como</a:t>
            </a:r>
            <a:r>
              <a:rPr kumimoji="0" lang="pt-BR" altLang="pt-BR" sz="14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tensão elétrica da rede, corrente elétrica de um motor,... Em todas essas medições, os sinais apresentados pelos instrumentos </a:t>
            </a:r>
            <a:r>
              <a:rPr kumimoji="0" lang="pt-BR" altLang="pt-BR" sz="1400" b="0" i="0" u="none" strike="noStrike" cap="none" normalizeH="0" baseline="0" dirty="0">
                <a:ln>
                  <a:noFill/>
                </a:ln>
                <a:solidFill>
                  <a:srgbClr val="FF0000"/>
                </a:solidFill>
                <a:effectLst/>
                <a:latin typeface="Trebuchet MS" panose="020B0603020202020204" pitchFamily="34" charset="0"/>
                <a:cs typeface="Calibri" panose="020F0502020204030204" pitchFamily="34" charset="0"/>
              </a:rPr>
              <a:t>variam de um valor mínimo até um valor máximo de forma contínua.</a:t>
            </a:r>
          </a:p>
          <a:p>
            <a:pPr marL="0" marR="0" lvl="0" indent="0" algn="just" defTabSz="914400" rtl="0" eaLnBrk="0" fontAlgn="base" latinLnBrk="0" hangingPunct="0">
              <a:lnSpc>
                <a:spcPct val="100000"/>
              </a:lnSpc>
              <a:spcBef>
                <a:spcPct val="0"/>
              </a:spcBef>
              <a:spcAft>
                <a:spcPct val="0"/>
              </a:spcAft>
              <a:buClrTx/>
              <a:buSzTx/>
              <a:buFontTx/>
              <a:buNone/>
              <a:tabLst/>
            </a:pPr>
            <a:endParaRPr lang="pt-BR" altLang="pt-BR" sz="3200" dirty="0">
              <a:solidFill>
                <a:srgbClr val="FF0000"/>
              </a:solidFill>
              <a:latin typeface="Trebuchet MS" panose="020B060302020202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pt-BR" altLang="pt-BR" sz="1400" dirty="0">
                <a:solidFill>
                  <a:srgbClr val="FF0000"/>
                </a:solidFill>
                <a:latin typeface="Trebuchet MS" panose="020B0603020202020204" pitchFamily="34" charset="0"/>
                <a:cs typeface="Calibri" panose="020F0502020204030204" pitchFamily="34" charset="0"/>
              </a:rPr>
              <a:t>Os sensores analógicos fornecem como sinais de saída um valor contínuo de </a:t>
            </a:r>
          </a:p>
          <a:p>
            <a:pPr marL="0" marR="0" lvl="0" indent="0" algn="just" defTabSz="914400" rtl="0" eaLnBrk="0" fontAlgn="base" latinLnBrk="0" hangingPunct="0">
              <a:lnSpc>
                <a:spcPct val="100000"/>
              </a:lnSpc>
              <a:spcBef>
                <a:spcPct val="0"/>
              </a:spcBef>
              <a:spcAft>
                <a:spcPct val="0"/>
              </a:spcAft>
              <a:buClrTx/>
              <a:buSzTx/>
              <a:buFontTx/>
              <a:buNone/>
              <a:tabLst/>
            </a:pPr>
            <a:r>
              <a:rPr lang="pt-BR" altLang="pt-BR" sz="1400" dirty="0">
                <a:solidFill>
                  <a:srgbClr val="FF0000"/>
                </a:solidFill>
                <a:latin typeface="Trebuchet MS" panose="020B0603020202020204" pitchFamily="34" charset="0"/>
                <a:cs typeface="Calibri" panose="020F0502020204030204" pitchFamily="34" charset="0"/>
              </a:rPr>
              <a:t>uma grandeza elétrica, sendo os mais comuns na indústria: </a:t>
            </a:r>
          </a:p>
          <a:p>
            <a:pPr marL="0" marR="0" lvl="0" indent="0" algn="just" defTabSz="914400" rtl="0" eaLnBrk="0" fontAlgn="base" latinLnBrk="0" hangingPunct="0">
              <a:lnSpc>
                <a:spcPct val="100000"/>
              </a:lnSpc>
              <a:spcBef>
                <a:spcPct val="0"/>
              </a:spcBef>
              <a:spcAft>
                <a:spcPct val="0"/>
              </a:spcAft>
              <a:buClrTx/>
              <a:buSzTx/>
              <a:buFontTx/>
              <a:buNone/>
              <a:tabLst/>
            </a:pPr>
            <a:endParaRPr lang="pt-BR" altLang="pt-BR" sz="1400" dirty="0">
              <a:solidFill>
                <a:srgbClr val="FF0000"/>
              </a:solidFill>
              <a:latin typeface="Trebuchet MS" panose="020B0603020202020204" pitchFamily="34" charset="0"/>
              <a:cs typeface="Calibri" panose="020F050202020403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pt-BR" altLang="pt-BR" sz="1400" dirty="0">
                <a:solidFill>
                  <a:srgbClr val="FF0000"/>
                </a:solidFill>
                <a:latin typeface="Trebuchet MS" panose="020B0603020202020204" pitchFamily="34" charset="0"/>
                <a:cs typeface="Calibri" panose="020F0502020204030204" pitchFamily="34" charset="0"/>
              </a:rPr>
              <a:t>0 a 20 mA;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pt-BR" altLang="pt-BR" sz="1400" b="1" dirty="0">
                <a:solidFill>
                  <a:srgbClr val="FF0000"/>
                </a:solidFill>
                <a:latin typeface="Trebuchet MS" panose="020B0603020202020204" pitchFamily="34" charset="0"/>
                <a:cs typeface="Calibri" panose="020F0502020204030204" pitchFamily="34" charset="0"/>
              </a:rPr>
              <a:t>4 a 20 mA;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pt-BR" altLang="pt-BR" sz="1400" dirty="0">
                <a:solidFill>
                  <a:srgbClr val="FF0000"/>
                </a:solidFill>
                <a:latin typeface="Trebuchet MS" panose="020B0603020202020204" pitchFamily="34" charset="0"/>
                <a:cs typeface="Calibri" panose="020F0502020204030204" pitchFamily="34" charset="0"/>
              </a:rPr>
              <a:t>0 a 5 V;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pt-BR" altLang="pt-BR" sz="1400" dirty="0">
                <a:solidFill>
                  <a:srgbClr val="FF0000"/>
                </a:solidFill>
                <a:latin typeface="Trebuchet MS" panose="020B0603020202020204" pitchFamily="34" charset="0"/>
                <a:cs typeface="Calibri" panose="020F0502020204030204" pitchFamily="34" charset="0"/>
              </a:rPr>
              <a:t>1 a 5 V;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pt-BR" altLang="pt-BR" sz="1400" b="1" dirty="0">
                <a:solidFill>
                  <a:srgbClr val="FF0000"/>
                </a:solidFill>
                <a:latin typeface="Trebuchet MS" panose="020B0603020202020204" pitchFamily="34" charset="0"/>
                <a:cs typeface="Calibri" panose="020F0502020204030204" pitchFamily="34" charset="0"/>
              </a:rPr>
              <a:t>0 a 10 V.</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pt-BR" altLang="pt-BR" sz="1400" dirty="0">
              <a:solidFill>
                <a:srgbClr val="FF0000"/>
              </a:solidFill>
              <a:latin typeface="Trebuchet MS" panose="020B0603020202020204" pitchFamily="34" charset="0"/>
              <a:cs typeface="Calibri" panose="020F0502020204030204" pitchFamily="34" charset="0"/>
            </a:endParaRPr>
          </a:p>
          <a:p>
            <a:pPr marR="0" lvl="0" algn="just" defTabSz="914400" rtl="0" eaLnBrk="0" fontAlgn="base" latinLnBrk="0" hangingPunct="0">
              <a:lnSpc>
                <a:spcPct val="100000"/>
              </a:lnSpc>
              <a:spcBef>
                <a:spcPct val="0"/>
              </a:spcBef>
              <a:spcAft>
                <a:spcPct val="0"/>
              </a:spcAft>
              <a:buClrTx/>
              <a:buSzTx/>
              <a:tabLst/>
            </a:pPr>
            <a:endParaRPr lang="pt-BR" altLang="pt-BR" sz="1400" dirty="0">
              <a:solidFill>
                <a:srgbClr val="FF0000"/>
              </a:solidFill>
              <a:latin typeface="Trebuchet MS" panose="020B0603020202020204" pitchFamily="34" charset="0"/>
              <a:cs typeface="Calibri" panose="020F0502020204030204" pitchFamily="34" charset="0"/>
            </a:endParaRPr>
          </a:p>
          <a:p>
            <a:pPr marR="0" lvl="0" algn="just" defTabSz="914400" rtl="0" eaLnBrk="0" fontAlgn="base" latinLnBrk="0" hangingPunct="0">
              <a:lnSpc>
                <a:spcPct val="100000"/>
              </a:lnSpc>
              <a:spcBef>
                <a:spcPct val="0"/>
              </a:spcBef>
              <a:spcAft>
                <a:spcPct val="0"/>
              </a:spcAft>
              <a:buClrTx/>
              <a:buSzTx/>
              <a:tabLst/>
            </a:pPr>
            <a:endParaRPr lang="pt-BR" altLang="pt-BR" sz="1400" dirty="0">
              <a:solidFill>
                <a:srgbClr val="FF0000"/>
              </a:solidFill>
              <a:latin typeface="Trebuchet MS" panose="020B0603020202020204" pitchFamily="34" charset="0"/>
              <a:cs typeface="Calibri" panose="020F0502020204030204" pitchFamily="34" charset="0"/>
            </a:endParaRPr>
          </a:p>
        </p:txBody>
      </p:sp>
      <p:pic>
        <p:nvPicPr>
          <p:cNvPr id="48" name="Picture 2" descr="Fotografia de um instrumento com base irregular e topo cilíndrico horizontal, com peça de encaixe à direita. (fim da descrição)">
            <a:extLst>
              <a:ext uri="{FF2B5EF4-FFF2-40B4-BE49-F238E27FC236}">
                <a16:creationId xmlns:a16="http://schemas.microsoft.com/office/drawing/2014/main" id="{E352C0C3-3401-089F-C15B-60EE88B8100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2163" r="31308"/>
          <a:stretch/>
        </p:blipFill>
        <p:spPr bwMode="auto">
          <a:xfrm>
            <a:off x="7032835" y="1422579"/>
            <a:ext cx="1955800" cy="2826728"/>
          </a:xfrm>
          <a:prstGeom prst="rect">
            <a:avLst/>
          </a:prstGeom>
          <a:noFill/>
          <a:extLst>
            <a:ext uri="{909E8E84-426E-40DD-AFC4-6F175D3DCCD1}">
              <a14:hiddenFill xmlns:a14="http://schemas.microsoft.com/office/drawing/2010/main">
                <a:solidFill>
                  <a:srgbClr val="FFFFFF"/>
                </a:solidFill>
              </a14:hiddenFill>
            </a:ext>
          </a:extLst>
        </p:spPr>
      </p:pic>
      <p:sp>
        <p:nvSpPr>
          <p:cNvPr id="50" name="Text 16">
            <a:extLst>
              <a:ext uri="{FF2B5EF4-FFF2-40B4-BE49-F238E27FC236}">
                <a16:creationId xmlns:a16="http://schemas.microsoft.com/office/drawing/2014/main" id="{2A00D52A-88BB-C985-CB8E-76B111162067}"/>
              </a:ext>
            </a:extLst>
          </p:cNvPr>
          <p:cNvSpPr/>
          <p:nvPr/>
        </p:nvSpPr>
        <p:spPr>
          <a:xfrm>
            <a:off x="3734044" y="705314"/>
            <a:ext cx="65" cy="138499"/>
          </a:xfrm>
          <a:prstGeom prst="rect">
            <a:avLst/>
          </a:prstGeom>
          <a:noFill/>
          <a:ln/>
        </p:spPr>
        <p:txBody>
          <a:bodyPr wrap="none" lIns="0" tIns="0" rIns="0" bIns="0" rtlCol="0" anchor="t">
            <a:spAutoFit/>
          </a:bodyPr>
          <a:lstStyle/>
          <a:p>
            <a:pPr algn="just" defTabSz="914400"/>
            <a:endParaRPr lang="pt-BR" altLang="pt-BR" sz="900" dirty="0">
              <a:latin typeface="Trebuchet MS" panose="020B0603020202020204" pitchFamily="34" charset="0"/>
              <a:cs typeface="Calibri" panose="020F050202020403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02436"/>
          </a:xfrm>
          <a:prstGeom prst="rect">
            <a:avLst/>
          </a:prstGeom>
        </p:spPr>
      </p:pic>
      <p:sp>
        <p:nvSpPr>
          <p:cNvPr id="3" name="Text 0"/>
          <p:cNvSpPr/>
          <p:nvPr/>
        </p:nvSpPr>
        <p:spPr>
          <a:xfrm>
            <a:off x="435371" y="872887"/>
            <a:ext cx="4597003" cy="297454"/>
          </a:xfrm>
          <a:prstGeom prst="rect">
            <a:avLst/>
          </a:prstGeom>
          <a:noFill/>
          <a:ln/>
        </p:spPr>
        <p:txBody>
          <a:bodyPr wrap="square" lIns="0" tIns="0" rIns="0" bIns="0" rtlCol="0" anchor="t">
            <a:spAutoFit/>
          </a:bodyPr>
          <a:lstStyle/>
          <a:p>
            <a:pPr marL="0" indent="0" algn="l">
              <a:lnSpc>
                <a:spcPts val="2600"/>
              </a:lnSpc>
              <a:buNone/>
            </a:pPr>
            <a:r>
              <a:rPr lang="pt-BR" sz="1200" b="1" noProof="0" dirty="0">
                <a:solidFill>
                  <a:srgbClr val="2C3E50"/>
                </a:solidFill>
              </a:rPr>
              <a:t>Principais Grandezas Medidas/Aferidas</a:t>
            </a:r>
            <a:endParaRPr lang="pt-BR" sz="1200" noProof="0" dirty="0"/>
          </a:p>
        </p:txBody>
      </p:sp>
      <p:sp>
        <p:nvSpPr>
          <p:cNvPr id="4" name="Text 1"/>
          <p:cNvSpPr/>
          <p:nvPr/>
        </p:nvSpPr>
        <p:spPr>
          <a:xfrm>
            <a:off x="428625" y="1177136"/>
            <a:ext cx="7861319" cy="179536"/>
          </a:xfrm>
          <a:prstGeom prst="rect">
            <a:avLst/>
          </a:prstGeom>
          <a:noFill/>
          <a:ln/>
        </p:spPr>
        <p:txBody>
          <a:bodyPr wrap="none" lIns="0" tIns="0" rIns="0" bIns="0" rtlCol="0" anchor="t">
            <a:spAutoFit/>
          </a:bodyPr>
          <a:lstStyle/>
          <a:p>
            <a:pPr marL="0" indent="0" algn="l">
              <a:lnSpc>
                <a:spcPts val="1400"/>
              </a:lnSpc>
              <a:buNone/>
            </a:pPr>
            <a:r>
              <a:rPr lang="pt-BR" sz="1200" noProof="0" dirty="0">
                <a:solidFill>
                  <a:srgbClr val="34495E"/>
                </a:solidFill>
              </a:rPr>
              <a:t>No controle de processos industriais, </a:t>
            </a:r>
            <a:r>
              <a:rPr lang="pt-BR" sz="1100" b="1" noProof="0" dirty="0">
                <a:solidFill>
                  <a:srgbClr val="34495E"/>
                </a:solidFill>
              </a:rPr>
              <a:t>quatro grandezas físicas</a:t>
            </a:r>
            <a:r>
              <a:rPr lang="pt-BR" sz="1200" noProof="0" dirty="0">
                <a:solidFill>
                  <a:srgbClr val="34495E"/>
                </a:solidFill>
              </a:rPr>
              <a:t> são frequentemente monitoradas através de entradas analógicas:</a:t>
            </a:r>
            <a:endParaRPr lang="pt-BR" sz="1200" noProof="0" dirty="0"/>
          </a:p>
        </p:txBody>
      </p:sp>
      <p:sp>
        <p:nvSpPr>
          <p:cNvPr id="5" name="Shape 2"/>
          <p:cNvSpPr/>
          <p:nvPr/>
        </p:nvSpPr>
        <p:spPr>
          <a:xfrm>
            <a:off x="428625" y="1535649"/>
            <a:ext cx="4036219" cy="1143000"/>
          </a:xfrm>
          <a:prstGeom prst="rect">
            <a:avLst/>
          </a:prstGeom>
          <a:solidFill>
            <a:srgbClr val="FAFAFA"/>
          </a:solidFill>
          <a:ln/>
        </p:spPr>
        <p:txBody>
          <a:bodyPr/>
          <a:lstStyle/>
          <a:p>
            <a:endParaRPr lang="pt-BR" noProof="0" dirty="0"/>
          </a:p>
        </p:txBody>
      </p:sp>
      <p:sp>
        <p:nvSpPr>
          <p:cNvPr id="6" name="Shape 3"/>
          <p:cNvSpPr/>
          <p:nvPr/>
        </p:nvSpPr>
        <p:spPr>
          <a:xfrm>
            <a:off x="428625" y="1535649"/>
            <a:ext cx="4036219" cy="35719"/>
          </a:xfrm>
          <a:prstGeom prst="rect">
            <a:avLst/>
          </a:prstGeom>
          <a:solidFill>
            <a:srgbClr val="0066CC"/>
          </a:solidFill>
          <a:ln/>
        </p:spPr>
        <p:txBody>
          <a:bodyPr/>
          <a:lstStyle/>
          <a:p>
            <a:endParaRPr lang="pt-BR" noProof="0" dirty="0"/>
          </a:p>
        </p:txBody>
      </p:sp>
      <p:sp>
        <p:nvSpPr>
          <p:cNvPr id="7" name="Shape 4"/>
          <p:cNvSpPr/>
          <p:nvPr/>
        </p:nvSpPr>
        <p:spPr>
          <a:xfrm>
            <a:off x="4443413" y="1535649"/>
            <a:ext cx="21431" cy="1143000"/>
          </a:xfrm>
          <a:prstGeom prst="rect">
            <a:avLst/>
          </a:prstGeom>
          <a:solidFill>
            <a:srgbClr val="E8E8E8"/>
          </a:solidFill>
          <a:ln/>
        </p:spPr>
        <p:txBody>
          <a:bodyPr/>
          <a:lstStyle/>
          <a:p>
            <a:endParaRPr lang="pt-BR" noProof="0" dirty="0"/>
          </a:p>
        </p:txBody>
      </p:sp>
      <p:sp>
        <p:nvSpPr>
          <p:cNvPr id="8" name="Shape 5"/>
          <p:cNvSpPr/>
          <p:nvPr/>
        </p:nvSpPr>
        <p:spPr>
          <a:xfrm>
            <a:off x="428625" y="2657218"/>
            <a:ext cx="4036219" cy="21431"/>
          </a:xfrm>
          <a:prstGeom prst="rect">
            <a:avLst/>
          </a:prstGeom>
          <a:solidFill>
            <a:srgbClr val="E8E8E8"/>
          </a:solidFill>
          <a:ln/>
        </p:spPr>
        <p:txBody>
          <a:bodyPr/>
          <a:lstStyle/>
          <a:p>
            <a:endParaRPr lang="pt-BR" noProof="0" dirty="0"/>
          </a:p>
        </p:txBody>
      </p:sp>
      <p:sp>
        <p:nvSpPr>
          <p:cNvPr id="9" name="Shape 6"/>
          <p:cNvSpPr/>
          <p:nvPr/>
        </p:nvSpPr>
        <p:spPr>
          <a:xfrm>
            <a:off x="428625" y="1535649"/>
            <a:ext cx="21431" cy="1143000"/>
          </a:xfrm>
          <a:prstGeom prst="rect">
            <a:avLst/>
          </a:prstGeom>
          <a:solidFill>
            <a:srgbClr val="E8E8E8"/>
          </a:solidFill>
          <a:ln/>
        </p:spPr>
        <p:txBody>
          <a:bodyPr/>
          <a:lstStyle/>
          <a:p>
            <a:endParaRPr lang="pt-BR" noProof="0" dirty="0"/>
          </a:p>
        </p:txBody>
      </p:sp>
      <p:pic>
        <p:nvPicPr>
          <p:cNvPr id="10" name="Image 1" descr="preencoded.png"/>
          <p:cNvPicPr>
            <a:picLocks noChangeAspect="1"/>
          </p:cNvPicPr>
          <p:nvPr/>
        </p:nvPicPr>
        <p:blipFill>
          <a:blip r:embed="rId4"/>
          <a:stretch>
            <a:fillRect/>
          </a:stretch>
        </p:blipFill>
        <p:spPr>
          <a:xfrm>
            <a:off x="607219" y="1685668"/>
            <a:ext cx="225028" cy="200025"/>
          </a:xfrm>
          <a:prstGeom prst="rect">
            <a:avLst/>
          </a:prstGeom>
        </p:spPr>
      </p:pic>
      <p:sp>
        <p:nvSpPr>
          <p:cNvPr id="11" name="Text 7"/>
          <p:cNvSpPr/>
          <p:nvPr/>
        </p:nvSpPr>
        <p:spPr>
          <a:xfrm>
            <a:off x="939403" y="1678524"/>
            <a:ext cx="560987" cy="192360"/>
          </a:xfrm>
          <a:prstGeom prst="rect">
            <a:avLst/>
          </a:prstGeom>
          <a:noFill/>
          <a:ln/>
        </p:spPr>
        <p:txBody>
          <a:bodyPr wrap="none" lIns="0" tIns="0" rIns="0" bIns="0" rtlCol="0" anchor="t">
            <a:spAutoFit/>
          </a:bodyPr>
          <a:lstStyle/>
          <a:p>
            <a:pPr marL="0" indent="0" algn="l">
              <a:lnSpc>
                <a:spcPts val="1500"/>
              </a:lnSpc>
              <a:buNone/>
            </a:pPr>
            <a:r>
              <a:rPr lang="pt-BR" sz="1400" b="1" noProof="0" dirty="0">
                <a:solidFill>
                  <a:srgbClr val="2C3E50"/>
                </a:solidFill>
              </a:rPr>
              <a:t>1. Nível</a:t>
            </a:r>
            <a:endParaRPr lang="pt-BR" sz="1090" noProof="0" dirty="0"/>
          </a:p>
        </p:txBody>
      </p:sp>
      <p:sp>
        <p:nvSpPr>
          <p:cNvPr id="12" name="Text 8"/>
          <p:cNvSpPr/>
          <p:nvPr/>
        </p:nvSpPr>
        <p:spPr>
          <a:xfrm>
            <a:off x="607219" y="1978562"/>
            <a:ext cx="3143489" cy="153888"/>
          </a:xfrm>
          <a:prstGeom prst="rect">
            <a:avLst/>
          </a:prstGeom>
          <a:noFill/>
          <a:ln/>
        </p:spPr>
        <p:txBody>
          <a:bodyPr wrap="none" lIns="0" tIns="0" rIns="0" bIns="0" rtlCol="0" anchor="t">
            <a:spAutoFit/>
          </a:bodyPr>
          <a:lstStyle/>
          <a:p>
            <a:pPr marL="0" indent="0" algn="l">
              <a:lnSpc>
                <a:spcPts val="1200"/>
              </a:lnSpc>
              <a:buNone/>
            </a:pPr>
            <a:r>
              <a:rPr lang="pt-BR" sz="1050" noProof="0" dirty="0">
                <a:solidFill>
                  <a:srgbClr val="34495E"/>
                </a:solidFill>
              </a:rPr>
              <a:t>Medição da altura de líquidos em tanques e reservatórios</a:t>
            </a:r>
            <a:endParaRPr lang="pt-BR" sz="1050" noProof="0" dirty="0"/>
          </a:p>
        </p:txBody>
      </p:sp>
      <p:sp>
        <p:nvSpPr>
          <p:cNvPr id="13" name="Text 9"/>
          <p:cNvSpPr/>
          <p:nvPr/>
        </p:nvSpPr>
        <p:spPr>
          <a:xfrm>
            <a:off x="607219" y="2200018"/>
            <a:ext cx="3679031" cy="235834"/>
          </a:xfrm>
          <a:prstGeom prst="rect">
            <a:avLst/>
          </a:prstGeom>
          <a:noFill/>
          <a:ln/>
        </p:spPr>
        <p:txBody>
          <a:bodyPr wrap="square" lIns="0" tIns="0" rIns="0" bIns="0" rtlCol="0" anchor="t">
            <a:spAutoFit/>
          </a:bodyPr>
          <a:lstStyle/>
          <a:p>
            <a:pPr marL="0" indent="0" algn="l">
              <a:lnSpc>
                <a:spcPts val="900"/>
              </a:lnSpc>
              <a:buNone/>
            </a:pPr>
            <a:r>
              <a:rPr lang="pt-BR" sz="1000" b="1" noProof="0" dirty="0">
                <a:solidFill>
                  <a:srgbClr val="0066CC"/>
                </a:solidFill>
              </a:rPr>
              <a:t>Aplicação: controle de estoque, prevenção de transbordamento, dosagem automática</a:t>
            </a:r>
            <a:endParaRPr lang="pt-BR" sz="1000" noProof="0" dirty="0"/>
          </a:p>
        </p:txBody>
      </p:sp>
      <p:sp>
        <p:nvSpPr>
          <p:cNvPr id="14" name="Text 10"/>
          <p:cNvSpPr/>
          <p:nvPr/>
        </p:nvSpPr>
        <p:spPr>
          <a:xfrm>
            <a:off x="607219" y="2489340"/>
            <a:ext cx="3679031" cy="126802"/>
          </a:xfrm>
          <a:prstGeom prst="rect">
            <a:avLst/>
          </a:prstGeom>
          <a:noFill/>
          <a:ln/>
        </p:spPr>
        <p:txBody>
          <a:bodyPr wrap="none" lIns="0" tIns="0" rIns="0" bIns="0" rtlCol="0" anchor="t">
            <a:spAutoFit/>
          </a:bodyPr>
          <a:lstStyle/>
          <a:p>
            <a:pPr marL="0" indent="0" algn="l">
              <a:lnSpc>
                <a:spcPts val="900"/>
              </a:lnSpc>
              <a:buNone/>
            </a:pPr>
            <a:r>
              <a:rPr lang="pt-BR" sz="674" noProof="0" dirty="0">
                <a:solidFill>
                  <a:srgbClr val="34495E"/>
                </a:solidFill>
              </a:rPr>
              <a:t>Unidades: metros (m), centímetros (cm), percentual (%)</a:t>
            </a:r>
            <a:endParaRPr lang="pt-BR" sz="674" noProof="0" dirty="0"/>
          </a:p>
        </p:txBody>
      </p:sp>
      <p:sp>
        <p:nvSpPr>
          <p:cNvPr id="15" name="Shape 11"/>
          <p:cNvSpPr/>
          <p:nvPr/>
        </p:nvSpPr>
        <p:spPr>
          <a:xfrm>
            <a:off x="4679156" y="1535649"/>
            <a:ext cx="4036219" cy="1143000"/>
          </a:xfrm>
          <a:prstGeom prst="rect">
            <a:avLst/>
          </a:prstGeom>
          <a:solidFill>
            <a:srgbClr val="FAFAFA"/>
          </a:solidFill>
          <a:ln/>
        </p:spPr>
        <p:txBody>
          <a:bodyPr/>
          <a:lstStyle/>
          <a:p>
            <a:endParaRPr lang="pt-BR" noProof="0" dirty="0"/>
          </a:p>
        </p:txBody>
      </p:sp>
      <p:sp>
        <p:nvSpPr>
          <p:cNvPr id="16" name="Shape 12"/>
          <p:cNvSpPr/>
          <p:nvPr/>
        </p:nvSpPr>
        <p:spPr>
          <a:xfrm>
            <a:off x="4679156" y="1535649"/>
            <a:ext cx="4036219" cy="35719"/>
          </a:xfrm>
          <a:prstGeom prst="rect">
            <a:avLst/>
          </a:prstGeom>
          <a:solidFill>
            <a:srgbClr val="0066CC"/>
          </a:solidFill>
          <a:ln/>
        </p:spPr>
        <p:txBody>
          <a:bodyPr/>
          <a:lstStyle/>
          <a:p>
            <a:endParaRPr lang="pt-BR" noProof="0" dirty="0"/>
          </a:p>
        </p:txBody>
      </p:sp>
      <p:sp>
        <p:nvSpPr>
          <p:cNvPr id="17" name="Shape 13"/>
          <p:cNvSpPr/>
          <p:nvPr/>
        </p:nvSpPr>
        <p:spPr>
          <a:xfrm>
            <a:off x="8693944" y="1535649"/>
            <a:ext cx="21431" cy="1143000"/>
          </a:xfrm>
          <a:prstGeom prst="rect">
            <a:avLst/>
          </a:prstGeom>
          <a:solidFill>
            <a:srgbClr val="E8E8E8"/>
          </a:solidFill>
          <a:ln/>
        </p:spPr>
        <p:txBody>
          <a:bodyPr/>
          <a:lstStyle/>
          <a:p>
            <a:endParaRPr lang="pt-BR" noProof="0" dirty="0"/>
          </a:p>
        </p:txBody>
      </p:sp>
      <p:sp>
        <p:nvSpPr>
          <p:cNvPr id="18" name="Shape 14"/>
          <p:cNvSpPr/>
          <p:nvPr/>
        </p:nvSpPr>
        <p:spPr>
          <a:xfrm>
            <a:off x="4679156" y="2657218"/>
            <a:ext cx="4036219" cy="21431"/>
          </a:xfrm>
          <a:prstGeom prst="rect">
            <a:avLst/>
          </a:prstGeom>
          <a:solidFill>
            <a:srgbClr val="E8E8E8"/>
          </a:solidFill>
          <a:ln/>
        </p:spPr>
        <p:txBody>
          <a:bodyPr/>
          <a:lstStyle/>
          <a:p>
            <a:endParaRPr lang="pt-BR" noProof="0" dirty="0"/>
          </a:p>
        </p:txBody>
      </p:sp>
      <p:sp>
        <p:nvSpPr>
          <p:cNvPr id="19" name="Shape 15"/>
          <p:cNvSpPr/>
          <p:nvPr/>
        </p:nvSpPr>
        <p:spPr>
          <a:xfrm>
            <a:off x="4679156" y="1535649"/>
            <a:ext cx="21431" cy="1143000"/>
          </a:xfrm>
          <a:prstGeom prst="rect">
            <a:avLst/>
          </a:prstGeom>
          <a:solidFill>
            <a:srgbClr val="E8E8E8"/>
          </a:solidFill>
          <a:ln/>
        </p:spPr>
        <p:txBody>
          <a:bodyPr/>
          <a:lstStyle/>
          <a:p>
            <a:endParaRPr lang="pt-BR" noProof="0" dirty="0"/>
          </a:p>
        </p:txBody>
      </p:sp>
      <p:pic>
        <p:nvPicPr>
          <p:cNvPr id="20" name="Image 2" descr="preencoded.png"/>
          <p:cNvPicPr>
            <a:picLocks noChangeAspect="1"/>
          </p:cNvPicPr>
          <p:nvPr/>
        </p:nvPicPr>
        <p:blipFill>
          <a:blip r:embed="rId5"/>
          <a:stretch>
            <a:fillRect/>
          </a:stretch>
        </p:blipFill>
        <p:spPr>
          <a:xfrm>
            <a:off x="4857750" y="1685668"/>
            <a:ext cx="225028" cy="200025"/>
          </a:xfrm>
          <a:prstGeom prst="rect">
            <a:avLst/>
          </a:prstGeom>
        </p:spPr>
      </p:pic>
      <p:sp>
        <p:nvSpPr>
          <p:cNvPr id="21" name="Text 16"/>
          <p:cNvSpPr/>
          <p:nvPr/>
        </p:nvSpPr>
        <p:spPr>
          <a:xfrm>
            <a:off x="5189934" y="1678524"/>
            <a:ext cx="638417" cy="214313"/>
          </a:xfrm>
          <a:prstGeom prst="rect">
            <a:avLst/>
          </a:prstGeom>
          <a:noFill/>
          <a:ln/>
        </p:spPr>
        <p:txBody>
          <a:bodyPr wrap="none" lIns="0" tIns="0" rIns="0" bIns="0" rtlCol="0" anchor="t">
            <a:spAutoFit/>
          </a:bodyPr>
          <a:lstStyle/>
          <a:p>
            <a:pPr>
              <a:lnSpc>
                <a:spcPts val="1500"/>
              </a:lnSpc>
            </a:pPr>
            <a:r>
              <a:rPr lang="pt-BR" sz="1400" b="1" noProof="0" dirty="0">
                <a:solidFill>
                  <a:srgbClr val="2C3E50"/>
                </a:solidFill>
              </a:rPr>
              <a:t>2. Vazão</a:t>
            </a:r>
          </a:p>
        </p:txBody>
      </p:sp>
      <p:sp>
        <p:nvSpPr>
          <p:cNvPr id="22" name="Text 17"/>
          <p:cNvSpPr/>
          <p:nvPr/>
        </p:nvSpPr>
        <p:spPr>
          <a:xfrm>
            <a:off x="4857750" y="1978562"/>
            <a:ext cx="3679031" cy="150019"/>
          </a:xfrm>
          <a:prstGeom prst="rect">
            <a:avLst/>
          </a:prstGeom>
          <a:noFill/>
          <a:ln/>
        </p:spPr>
        <p:txBody>
          <a:bodyPr wrap="none" lIns="0" tIns="0" rIns="0" bIns="0" rtlCol="0" anchor="t">
            <a:spAutoFit/>
          </a:bodyPr>
          <a:lstStyle/>
          <a:p>
            <a:pPr>
              <a:lnSpc>
                <a:spcPts val="1200"/>
              </a:lnSpc>
            </a:pPr>
            <a:r>
              <a:rPr lang="pt-BR" sz="1050" noProof="0" dirty="0">
                <a:solidFill>
                  <a:srgbClr val="34495E"/>
                </a:solidFill>
              </a:rPr>
              <a:t>Medição do fluxo de fluidos em tubulações</a:t>
            </a:r>
          </a:p>
        </p:txBody>
      </p:sp>
      <p:sp>
        <p:nvSpPr>
          <p:cNvPr id="23" name="Text 18"/>
          <p:cNvSpPr/>
          <p:nvPr/>
        </p:nvSpPr>
        <p:spPr>
          <a:xfrm>
            <a:off x="4857750" y="2200018"/>
            <a:ext cx="3679031" cy="126802"/>
          </a:xfrm>
          <a:prstGeom prst="rect">
            <a:avLst/>
          </a:prstGeom>
          <a:noFill/>
          <a:ln/>
        </p:spPr>
        <p:txBody>
          <a:bodyPr wrap="square" lIns="0" tIns="0" rIns="0" bIns="0" rtlCol="0" anchor="t">
            <a:spAutoFit/>
          </a:bodyPr>
          <a:lstStyle/>
          <a:p>
            <a:pPr>
              <a:lnSpc>
                <a:spcPts val="900"/>
              </a:lnSpc>
            </a:pPr>
            <a:r>
              <a:rPr lang="pt-BR" sz="1000" b="1" noProof="0" dirty="0">
                <a:solidFill>
                  <a:srgbClr val="0066CC"/>
                </a:solidFill>
              </a:rPr>
              <a:t>Aplicação: dosagem precisa, controle de produção, balanço de massa</a:t>
            </a:r>
          </a:p>
        </p:txBody>
      </p:sp>
      <p:sp>
        <p:nvSpPr>
          <p:cNvPr id="24" name="Text 19"/>
          <p:cNvSpPr/>
          <p:nvPr/>
        </p:nvSpPr>
        <p:spPr>
          <a:xfrm>
            <a:off x="4857750" y="2362538"/>
            <a:ext cx="3679031" cy="126802"/>
          </a:xfrm>
          <a:prstGeom prst="rect">
            <a:avLst/>
          </a:prstGeom>
          <a:noFill/>
          <a:ln/>
        </p:spPr>
        <p:txBody>
          <a:bodyPr wrap="none" lIns="0" tIns="0" rIns="0" bIns="0" rtlCol="0" anchor="t">
            <a:spAutoFit/>
          </a:bodyPr>
          <a:lstStyle/>
          <a:p>
            <a:pPr marL="0" indent="0" algn="l">
              <a:lnSpc>
                <a:spcPts val="900"/>
              </a:lnSpc>
              <a:buNone/>
            </a:pPr>
            <a:r>
              <a:rPr lang="pt-BR" sz="674" noProof="0" dirty="0">
                <a:solidFill>
                  <a:srgbClr val="34495E"/>
                </a:solidFill>
              </a:rPr>
              <a:t>Unidades: m³/h, L/min, kg/h</a:t>
            </a:r>
            <a:endParaRPr lang="pt-BR" sz="674" noProof="0" dirty="0"/>
          </a:p>
        </p:txBody>
      </p:sp>
      <p:sp>
        <p:nvSpPr>
          <p:cNvPr id="25" name="Shape 20"/>
          <p:cNvSpPr/>
          <p:nvPr/>
        </p:nvSpPr>
        <p:spPr>
          <a:xfrm>
            <a:off x="428625" y="2900396"/>
            <a:ext cx="4036219" cy="1287661"/>
          </a:xfrm>
          <a:prstGeom prst="rect">
            <a:avLst/>
          </a:prstGeom>
          <a:solidFill>
            <a:srgbClr val="FAFAFA"/>
          </a:solidFill>
          <a:ln/>
        </p:spPr>
        <p:txBody>
          <a:bodyPr/>
          <a:lstStyle/>
          <a:p>
            <a:endParaRPr lang="pt-BR" noProof="0" dirty="0"/>
          </a:p>
        </p:txBody>
      </p:sp>
      <p:sp>
        <p:nvSpPr>
          <p:cNvPr id="26" name="Shape 21"/>
          <p:cNvSpPr/>
          <p:nvPr/>
        </p:nvSpPr>
        <p:spPr>
          <a:xfrm>
            <a:off x="428625" y="2892962"/>
            <a:ext cx="4036219" cy="35719"/>
          </a:xfrm>
          <a:prstGeom prst="rect">
            <a:avLst/>
          </a:prstGeom>
          <a:solidFill>
            <a:srgbClr val="0066CC"/>
          </a:solidFill>
          <a:ln/>
        </p:spPr>
        <p:txBody>
          <a:bodyPr/>
          <a:lstStyle/>
          <a:p>
            <a:endParaRPr lang="pt-BR" noProof="0" dirty="0"/>
          </a:p>
        </p:txBody>
      </p:sp>
      <p:sp>
        <p:nvSpPr>
          <p:cNvPr id="27" name="Shape 22"/>
          <p:cNvSpPr/>
          <p:nvPr/>
        </p:nvSpPr>
        <p:spPr>
          <a:xfrm>
            <a:off x="4443413" y="2892962"/>
            <a:ext cx="21431" cy="1287661"/>
          </a:xfrm>
          <a:prstGeom prst="rect">
            <a:avLst/>
          </a:prstGeom>
          <a:solidFill>
            <a:srgbClr val="E8E8E8"/>
          </a:solidFill>
          <a:ln/>
        </p:spPr>
        <p:txBody>
          <a:bodyPr/>
          <a:lstStyle/>
          <a:p>
            <a:endParaRPr lang="pt-BR" noProof="0" dirty="0"/>
          </a:p>
        </p:txBody>
      </p:sp>
      <p:sp>
        <p:nvSpPr>
          <p:cNvPr id="28" name="Shape 23"/>
          <p:cNvSpPr/>
          <p:nvPr/>
        </p:nvSpPr>
        <p:spPr>
          <a:xfrm>
            <a:off x="428625" y="4159191"/>
            <a:ext cx="4036219" cy="21431"/>
          </a:xfrm>
          <a:prstGeom prst="rect">
            <a:avLst/>
          </a:prstGeom>
          <a:solidFill>
            <a:srgbClr val="E8E8E8"/>
          </a:solidFill>
          <a:ln/>
        </p:spPr>
        <p:txBody>
          <a:bodyPr/>
          <a:lstStyle/>
          <a:p>
            <a:endParaRPr lang="pt-BR" noProof="0" dirty="0"/>
          </a:p>
        </p:txBody>
      </p:sp>
      <p:sp>
        <p:nvSpPr>
          <p:cNvPr id="29" name="Shape 24"/>
          <p:cNvSpPr/>
          <p:nvPr/>
        </p:nvSpPr>
        <p:spPr>
          <a:xfrm>
            <a:off x="428625" y="2892962"/>
            <a:ext cx="21431" cy="1287661"/>
          </a:xfrm>
          <a:prstGeom prst="rect">
            <a:avLst/>
          </a:prstGeom>
          <a:solidFill>
            <a:srgbClr val="E8E8E8"/>
          </a:solidFill>
          <a:ln/>
        </p:spPr>
        <p:txBody>
          <a:bodyPr/>
          <a:lstStyle/>
          <a:p>
            <a:endParaRPr lang="pt-BR" noProof="0" dirty="0"/>
          </a:p>
        </p:txBody>
      </p:sp>
      <p:pic>
        <p:nvPicPr>
          <p:cNvPr id="30" name="Image 3" descr="preencoded.png"/>
          <p:cNvPicPr>
            <a:picLocks noChangeAspect="1"/>
          </p:cNvPicPr>
          <p:nvPr/>
        </p:nvPicPr>
        <p:blipFill>
          <a:blip r:embed="rId6"/>
          <a:stretch>
            <a:fillRect/>
          </a:stretch>
        </p:blipFill>
        <p:spPr>
          <a:xfrm>
            <a:off x="607219" y="3042980"/>
            <a:ext cx="225028" cy="200025"/>
          </a:xfrm>
          <a:prstGeom prst="rect">
            <a:avLst/>
          </a:prstGeom>
        </p:spPr>
      </p:pic>
      <p:sp>
        <p:nvSpPr>
          <p:cNvPr id="31" name="Text 25"/>
          <p:cNvSpPr/>
          <p:nvPr/>
        </p:nvSpPr>
        <p:spPr>
          <a:xfrm>
            <a:off x="939403" y="3035837"/>
            <a:ext cx="783775" cy="214313"/>
          </a:xfrm>
          <a:prstGeom prst="rect">
            <a:avLst/>
          </a:prstGeom>
          <a:noFill/>
          <a:ln/>
        </p:spPr>
        <p:txBody>
          <a:bodyPr wrap="none" lIns="0" tIns="0" rIns="0" bIns="0" rtlCol="0" anchor="t">
            <a:spAutoFit/>
          </a:bodyPr>
          <a:lstStyle/>
          <a:p>
            <a:pPr>
              <a:lnSpc>
                <a:spcPts val="1500"/>
              </a:lnSpc>
            </a:pPr>
            <a:r>
              <a:rPr lang="pt-BR" sz="1400" b="1" noProof="0" dirty="0">
                <a:solidFill>
                  <a:srgbClr val="2C3E50"/>
                </a:solidFill>
              </a:rPr>
              <a:t>3. Pressão</a:t>
            </a:r>
          </a:p>
        </p:txBody>
      </p:sp>
      <p:sp>
        <p:nvSpPr>
          <p:cNvPr id="32" name="Text 26"/>
          <p:cNvSpPr/>
          <p:nvPr/>
        </p:nvSpPr>
        <p:spPr>
          <a:xfrm>
            <a:off x="607219" y="3335874"/>
            <a:ext cx="3550652" cy="307777"/>
          </a:xfrm>
          <a:prstGeom prst="rect">
            <a:avLst/>
          </a:prstGeom>
          <a:noFill/>
          <a:ln/>
        </p:spPr>
        <p:txBody>
          <a:bodyPr wrap="none" lIns="0" tIns="0" rIns="0" bIns="0" rtlCol="0" anchor="t">
            <a:spAutoFit/>
          </a:bodyPr>
          <a:lstStyle/>
          <a:p>
            <a:pPr>
              <a:lnSpc>
                <a:spcPts val="1200"/>
              </a:lnSpc>
            </a:pPr>
            <a:r>
              <a:rPr lang="pt-BR" sz="1050" noProof="0" dirty="0">
                <a:solidFill>
                  <a:srgbClr val="34495E"/>
                </a:solidFill>
              </a:rPr>
              <a:t>Medição de força por unidade de área em sistemas hidráulicos e </a:t>
            </a:r>
          </a:p>
          <a:p>
            <a:pPr>
              <a:lnSpc>
                <a:spcPts val="1200"/>
              </a:lnSpc>
            </a:pPr>
            <a:r>
              <a:rPr lang="pt-BR" sz="1050" noProof="0" dirty="0">
                <a:solidFill>
                  <a:srgbClr val="34495E"/>
                </a:solidFill>
              </a:rPr>
              <a:t>pneumáticos</a:t>
            </a:r>
          </a:p>
        </p:txBody>
      </p:sp>
      <p:sp>
        <p:nvSpPr>
          <p:cNvPr id="33" name="Text 27"/>
          <p:cNvSpPr/>
          <p:nvPr/>
        </p:nvSpPr>
        <p:spPr>
          <a:xfrm>
            <a:off x="607219" y="3683708"/>
            <a:ext cx="4188647" cy="235834"/>
          </a:xfrm>
          <a:prstGeom prst="rect">
            <a:avLst/>
          </a:prstGeom>
          <a:noFill/>
          <a:ln/>
        </p:spPr>
        <p:txBody>
          <a:bodyPr wrap="square" lIns="0" tIns="0" rIns="0" bIns="0" rtlCol="0" anchor="t">
            <a:spAutoFit/>
          </a:bodyPr>
          <a:lstStyle/>
          <a:p>
            <a:pPr>
              <a:lnSpc>
                <a:spcPts val="900"/>
              </a:lnSpc>
            </a:pPr>
            <a:r>
              <a:rPr lang="pt-BR" sz="1000" b="1" noProof="0" dirty="0">
                <a:solidFill>
                  <a:srgbClr val="0066CC"/>
                </a:solidFill>
              </a:rPr>
              <a:t>Aplicação: segurança de processos, controle de bombas, sistemas </a:t>
            </a:r>
          </a:p>
          <a:p>
            <a:pPr>
              <a:lnSpc>
                <a:spcPts val="900"/>
              </a:lnSpc>
            </a:pPr>
            <a:r>
              <a:rPr lang="pt-BR" sz="1000" b="1" noProof="0" dirty="0">
                <a:solidFill>
                  <a:srgbClr val="0066CC"/>
                </a:solidFill>
              </a:rPr>
              <a:t>pneumáticos</a:t>
            </a:r>
          </a:p>
        </p:txBody>
      </p:sp>
      <p:sp>
        <p:nvSpPr>
          <p:cNvPr id="34" name="Text 28"/>
          <p:cNvSpPr/>
          <p:nvPr/>
        </p:nvSpPr>
        <p:spPr>
          <a:xfrm>
            <a:off x="607219" y="3957743"/>
            <a:ext cx="3679031" cy="126802"/>
          </a:xfrm>
          <a:prstGeom prst="rect">
            <a:avLst/>
          </a:prstGeom>
          <a:noFill/>
          <a:ln/>
        </p:spPr>
        <p:txBody>
          <a:bodyPr wrap="none" lIns="0" tIns="0" rIns="0" bIns="0" rtlCol="0" anchor="t">
            <a:spAutoFit/>
          </a:bodyPr>
          <a:lstStyle/>
          <a:p>
            <a:pPr marL="0" indent="0" algn="l">
              <a:lnSpc>
                <a:spcPts val="900"/>
              </a:lnSpc>
              <a:buNone/>
            </a:pPr>
            <a:r>
              <a:rPr lang="pt-BR" sz="674" noProof="0" dirty="0">
                <a:solidFill>
                  <a:srgbClr val="34495E"/>
                </a:solidFill>
              </a:rPr>
              <a:t>Unidades: bar, PSI, kPa, kgf/cm²</a:t>
            </a:r>
            <a:endParaRPr lang="pt-BR" sz="674" noProof="0" dirty="0"/>
          </a:p>
        </p:txBody>
      </p:sp>
      <p:sp>
        <p:nvSpPr>
          <p:cNvPr id="36" name="Shape 30"/>
          <p:cNvSpPr/>
          <p:nvPr/>
        </p:nvSpPr>
        <p:spPr>
          <a:xfrm>
            <a:off x="4679156" y="2892962"/>
            <a:ext cx="4036219" cy="35719"/>
          </a:xfrm>
          <a:prstGeom prst="rect">
            <a:avLst/>
          </a:prstGeom>
          <a:solidFill>
            <a:srgbClr val="0066CC"/>
          </a:solidFill>
          <a:ln/>
        </p:spPr>
        <p:txBody>
          <a:bodyPr/>
          <a:lstStyle/>
          <a:p>
            <a:endParaRPr lang="pt-BR" noProof="0" dirty="0"/>
          </a:p>
        </p:txBody>
      </p:sp>
      <p:sp>
        <p:nvSpPr>
          <p:cNvPr id="37" name="Shape 31"/>
          <p:cNvSpPr/>
          <p:nvPr/>
        </p:nvSpPr>
        <p:spPr>
          <a:xfrm>
            <a:off x="8693944" y="2892962"/>
            <a:ext cx="21431" cy="1143000"/>
          </a:xfrm>
          <a:prstGeom prst="rect">
            <a:avLst/>
          </a:prstGeom>
          <a:solidFill>
            <a:srgbClr val="E8E8E8"/>
          </a:solidFill>
          <a:ln/>
        </p:spPr>
        <p:txBody>
          <a:bodyPr/>
          <a:lstStyle/>
          <a:p>
            <a:endParaRPr lang="pt-BR" noProof="0" dirty="0"/>
          </a:p>
        </p:txBody>
      </p:sp>
      <p:sp>
        <p:nvSpPr>
          <p:cNvPr id="38" name="Shape 32"/>
          <p:cNvSpPr/>
          <p:nvPr/>
        </p:nvSpPr>
        <p:spPr>
          <a:xfrm>
            <a:off x="4679156" y="4014530"/>
            <a:ext cx="4036219" cy="21431"/>
          </a:xfrm>
          <a:prstGeom prst="rect">
            <a:avLst/>
          </a:prstGeom>
          <a:solidFill>
            <a:srgbClr val="E8E8E8"/>
          </a:solidFill>
          <a:ln/>
        </p:spPr>
        <p:txBody>
          <a:bodyPr/>
          <a:lstStyle/>
          <a:p>
            <a:endParaRPr lang="pt-BR" noProof="0" dirty="0"/>
          </a:p>
        </p:txBody>
      </p:sp>
      <p:sp>
        <p:nvSpPr>
          <p:cNvPr id="39" name="Shape 33"/>
          <p:cNvSpPr/>
          <p:nvPr/>
        </p:nvSpPr>
        <p:spPr>
          <a:xfrm>
            <a:off x="4679156" y="2892962"/>
            <a:ext cx="21431" cy="1143000"/>
          </a:xfrm>
          <a:prstGeom prst="rect">
            <a:avLst/>
          </a:prstGeom>
          <a:solidFill>
            <a:srgbClr val="E8E8E8"/>
          </a:solidFill>
          <a:ln/>
        </p:spPr>
        <p:txBody>
          <a:bodyPr/>
          <a:lstStyle/>
          <a:p>
            <a:endParaRPr lang="pt-BR" noProof="0" dirty="0"/>
          </a:p>
        </p:txBody>
      </p:sp>
      <p:pic>
        <p:nvPicPr>
          <p:cNvPr id="40" name="Image 4" descr="preencoded.png"/>
          <p:cNvPicPr>
            <a:picLocks noChangeAspect="1"/>
          </p:cNvPicPr>
          <p:nvPr/>
        </p:nvPicPr>
        <p:blipFill>
          <a:blip r:embed="rId7"/>
          <a:stretch>
            <a:fillRect/>
          </a:stretch>
        </p:blipFill>
        <p:spPr>
          <a:xfrm>
            <a:off x="4857750" y="3042980"/>
            <a:ext cx="200025" cy="200025"/>
          </a:xfrm>
          <a:prstGeom prst="rect">
            <a:avLst/>
          </a:prstGeom>
        </p:spPr>
      </p:pic>
      <p:sp>
        <p:nvSpPr>
          <p:cNvPr id="41" name="Text 34"/>
          <p:cNvSpPr/>
          <p:nvPr/>
        </p:nvSpPr>
        <p:spPr>
          <a:xfrm>
            <a:off x="5164931" y="3035837"/>
            <a:ext cx="1192867" cy="214313"/>
          </a:xfrm>
          <a:prstGeom prst="rect">
            <a:avLst/>
          </a:prstGeom>
          <a:noFill/>
          <a:ln/>
        </p:spPr>
        <p:txBody>
          <a:bodyPr wrap="none" lIns="0" tIns="0" rIns="0" bIns="0" rtlCol="0" anchor="t">
            <a:spAutoFit/>
          </a:bodyPr>
          <a:lstStyle/>
          <a:p>
            <a:pPr>
              <a:lnSpc>
                <a:spcPts val="1500"/>
              </a:lnSpc>
            </a:pPr>
            <a:r>
              <a:rPr lang="pt-BR" sz="1400" b="1" noProof="0" dirty="0">
                <a:solidFill>
                  <a:srgbClr val="2C3E50"/>
                </a:solidFill>
              </a:rPr>
              <a:t>4. Temperatura</a:t>
            </a:r>
          </a:p>
        </p:txBody>
      </p:sp>
      <p:sp>
        <p:nvSpPr>
          <p:cNvPr id="42" name="Text 35"/>
          <p:cNvSpPr/>
          <p:nvPr/>
        </p:nvSpPr>
        <p:spPr>
          <a:xfrm>
            <a:off x="4857750" y="3321006"/>
            <a:ext cx="3316614" cy="307777"/>
          </a:xfrm>
          <a:prstGeom prst="rect">
            <a:avLst/>
          </a:prstGeom>
          <a:noFill/>
          <a:ln/>
        </p:spPr>
        <p:txBody>
          <a:bodyPr wrap="none" lIns="0" tIns="0" rIns="0" bIns="0" rtlCol="0" anchor="t">
            <a:spAutoFit/>
          </a:bodyPr>
          <a:lstStyle/>
          <a:p>
            <a:pPr>
              <a:lnSpc>
                <a:spcPts val="1200"/>
              </a:lnSpc>
            </a:pPr>
            <a:r>
              <a:rPr lang="pt-BR" sz="1050" noProof="0" dirty="0">
                <a:solidFill>
                  <a:srgbClr val="34495E"/>
                </a:solidFill>
              </a:rPr>
              <a:t>Medição térmica em fornos, caldeiras, processos químicos e </a:t>
            </a:r>
          </a:p>
          <a:p>
            <a:pPr>
              <a:lnSpc>
                <a:spcPts val="1200"/>
              </a:lnSpc>
            </a:pPr>
            <a:r>
              <a:rPr lang="pt-BR" sz="1050" noProof="0" dirty="0">
                <a:solidFill>
                  <a:srgbClr val="34495E"/>
                </a:solidFill>
              </a:rPr>
              <a:t>refrigeração</a:t>
            </a:r>
          </a:p>
        </p:txBody>
      </p:sp>
      <p:sp>
        <p:nvSpPr>
          <p:cNvPr id="43" name="Text 36"/>
          <p:cNvSpPr/>
          <p:nvPr/>
        </p:nvSpPr>
        <p:spPr>
          <a:xfrm>
            <a:off x="4857750" y="3646538"/>
            <a:ext cx="4146969" cy="235834"/>
          </a:xfrm>
          <a:prstGeom prst="rect">
            <a:avLst/>
          </a:prstGeom>
          <a:noFill/>
          <a:ln/>
        </p:spPr>
        <p:txBody>
          <a:bodyPr wrap="square" lIns="0" tIns="0" rIns="0" bIns="0" rtlCol="0" anchor="t">
            <a:spAutoFit/>
          </a:bodyPr>
          <a:lstStyle/>
          <a:p>
            <a:pPr>
              <a:lnSpc>
                <a:spcPts val="900"/>
              </a:lnSpc>
            </a:pPr>
            <a:r>
              <a:rPr lang="pt-BR" sz="1000" b="1" noProof="0" dirty="0">
                <a:solidFill>
                  <a:srgbClr val="0066CC"/>
                </a:solidFill>
              </a:rPr>
              <a:t>Aplicação: controle de qualidade, segurança operacional, eficiência </a:t>
            </a:r>
          </a:p>
          <a:p>
            <a:pPr>
              <a:lnSpc>
                <a:spcPts val="900"/>
              </a:lnSpc>
            </a:pPr>
            <a:r>
              <a:rPr lang="pt-BR" sz="1000" b="1" noProof="0" dirty="0">
                <a:solidFill>
                  <a:srgbClr val="0066CC"/>
                </a:solidFill>
              </a:rPr>
              <a:t>energética</a:t>
            </a:r>
          </a:p>
        </p:txBody>
      </p:sp>
      <p:sp>
        <p:nvSpPr>
          <p:cNvPr id="44" name="Text 37"/>
          <p:cNvSpPr/>
          <p:nvPr/>
        </p:nvSpPr>
        <p:spPr>
          <a:xfrm>
            <a:off x="4857750" y="3890833"/>
            <a:ext cx="610745" cy="109389"/>
          </a:xfrm>
          <a:prstGeom prst="rect">
            <a:avLst/>
          </a:prstGeom>
          <a:noFill/>
          <a:ln/>
        </p:spPr>
        <p:txBody>
          <a:bodyPr wrap="none" lIns="0" tIns="0" rIns="0" bIns="0" rtlCol="0" anchor="t">
            <a:spAutoFit/>
          </a:bodyPr>
          <a:lstStyle/>
          <a:p>
            <a:pPr marL="0" indent="0" algn="l">
              <a:lnSpc>
                <a:spcPts val="900"/>
              </a:lnSpc>
              <a:buNone/>
            </a:pPr>
            <a:r>
              <a:rPr lang="pt-BR" sz="674" noProof="0" dirty="0">
                <a:solidFill>
                  <a:srgbClr val="34495E"/>
                </a:solidFill>
              </a:rPr>
              <a:t>Unidades: °C, F, K</a:t>
            </a:r>
            <a:endParaRPr lang="pt-BR" sz="674" noProof="0" dirty="0"/>
          </a:p>
        </p:txBody>
      </p:sp>
      <p:sp>
        <p:nvSpPr>
          <p:cNvPr id="35" name="Shape 0">
            <a:extLst>
              <a:ext uri="{FF2B5EF4-FFF2-40B4-BE49-F238E27FC236}">
                <a16:creationId xmlns:a16="http://schemas.microsoft.com/office/drawing/2014/main" id="{12470D7A-C99E-DB87-2871-236350699F9E}"/>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5" name="Text 1">
            <a:extLst>
              <a:ext uri="{FF2B5EF4-FFF2-40B4-BE49-F238E27FC236}">
                <a16:creationId xmlns:a16="http://schemas.microsoft.com/office/drawing/2014/main" id="{37A8AA76-6912-0140-2625-05545E09AF74}"/>
              </a:ext>
            </a:extLst>
          </p:cNvPr>
          <p:cNvSpPr/>
          <p:nvPr/>
        </p:nvSpPr>
        <p:spPr>
          <a:xfrm>
            <a:off x="428625" y="136624"/>
            <a:ext cx="2063898" cy="314766"/>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Sensores Analógicos</a:t>
            </a:r>
          </a:p>
        </p:txBody>
      </p:sp>
      <p:pic>
        <p:nvPicPr>
          <p:cNvPr id="47" name="Picture 13">
            <a:extLst>
              <a:ext uri="{FF2B5EF4-FFF2-40B4-BE49-F238E27FC236}">
                <a16:creationId xmlns:a16="http://schemas.microsoft.com/office/drawing/2014/main" id="{9B6A665F-E265-1C69-CDE8-867CAC5FB531}"/>
              </a:ext>
            </a:extLst>
          </p:cNvPr>
          <p:cNvPicPr>
            <a:picLocks noChangeAspect="1"/>
          </p:cNvPicPr>
          <p:nvPr/>
        </p:nvPicPr>
        <p:blipFill>
          <a:blip r:embed="rId8"/>
          <a:stretch>
            <a:fillRect/>
          </a:stretch>
        </p:blipFill>
        <p:spPr>
          <a:xfrm>
            <a:off x="8086948" y="4619618"/>
            <a:ext cx="968262" cy="414969"/>
          </a:xfrm>
          <a:prstGeom prst="rect">
            <a:avLst/>
          </a:prstGeom>
        </p:spPr>
      </p:pic>
    </p:spTree>
    <p:extLst>
      <p:ext uri="{BB962C8B-B14F-4D97-AF65-F5344CB8AC3E}">
        <p14:creationId xmlns:p14="http://schemas.microsoft.com/office/powerpoint/2010/main" val="7403272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8D48C7B-57FF-544E-34AB-02282C866F59}"/>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14422781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B2B5197-3B82-ACFB-F963-B2BFB8695FD8}"/>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13592246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B24C6-3FB7-5749-0090-95FEBC701871}"/>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3615DAAA-083E-5B3D-83E7-779A88C68079}"/>
              </a:ext>
            </a:extLst>
          </p:cNvPr>
          <p:cNvPicPr>
            <a:picLocks noChangeAspect="1"/>
          </p:cNvPicPr>
          <p:nvPr/>
        </p:nvPicPr>
        <p:blipFill>
          <a:blip r:embed="rId3"/>
          <a:stretch>
            <a:fillRect/>
          </a:stretch>
        </p:blipFill>
        <p:spPr>
          <a:xfrm>
            <a:off x="9005" y="0"/>
            <a:ext cx="9144000" cy="5143500"/>
          </a:xfrm>
          <a:prstGeom prst="rect">
            <a:avLst/>
          </a:prstGeom>
        </p:spPr>
      </p:pic>
      <p:sp>
        <p:nvSpPr>
          <p:cNvPr id="3" name="Text 0">
            <a:extLst>
              <a:ext uri="{FF2B5EF4-FFF2-40B4-BE49-F238E27FC236}">
                <a16:creationId xmlns:a16="http://schemas.microsoft.com/office/drawing/2014/main" id="{BA396937-D335-3B07-1D27-D98CCA4821E9}"/>
              </a:ext>
            </a:extLst>
          </p:cNvPr>
          <p:cNvSpPr/>
          <p:nvPr/>
        </p:nvSpPr>
        <p:spPr>
          <a:xfrm>
            <a:off x="485775" y="146447"/>
            <a:ext cx="5457518" cy="350044"/>
          </a:xfrm>
          <a:prstGeom prst="rect">
            <a:avLst/>
          </a:prstGeom>
          <a:noFill/>
          <a:ln/>
        </p:spPr>
        <p:txBody>
          <a:bodyPr wrap="none" lIns="0" tIns="0" rIns="0" bIns="0" rtlCol="0" anchor="t">
            <a:spAutoFit/>
          </a:bodyPr>
          <a:lstStyle/>
          <a:p>
            <a:pPr marL="0" indent="0" algn="l">
              <a:lnSpc>
                <a:spcPts val="2400"/>
              </a:lnSpc>
              <a:buNone/>
            </a:pPr>
            <a:r>
              <a:rPr lang="pt-BR" sz="1808" b="1" noProof="0" dirty="0">
                <a:solidFill>
                  <a:srgbClr val="2C3E50"/>
                </a:solidFill>
              </a:rPr>
              <a:t>Processo de Leitura de Entrada Analógica</a:t>
            </a:r>
            <a:endParaRPr lang="pt-BR" sz="1808" noProof="0" dirty="0"/>
          </a:p>
        </p:txBody>
      </p:sp>
      <p:sp>
        <p:nvSpPr>
          <p:cNvPr id="6" name="Text 2">
            <a:extLst>
              <a:ext uri="{FF2B5EF4-FFF2-40B4-BE49-F238E27FC236}">
                <a16:creationId xmlns:a16="http://schemas.microsoft.com/office/drawing/2014/main" id="{B183A028-A8C3-F7B0-AB54-1AE24399729B}"/>
              </a:ext>
            </a:extLst>
          </p:cNvPr>
          <p:cNvSpPr/>
          <p:nvPr/>
        </p:nvSpPr>
        <p:spPr>
          <a:xfrm>
            <a:off x="428625" y="2594876"/>
            <a:ext cx="285750" cy="168059"/>
          </a:xfrm>
          <a:prstGeom prst="rect">
            <a:avLst/>
          </a:prstGeom>
          <a:noFill/>
          <a:ln/>
        </p:spPr>
        <p:txBody>
          <a:bodyPr wrap="square" lIns="0" tIns="0" rIns="0" bIns="0" rtlCol="0" anchor="ctr">
            <a:spAutoFit/>
          </a:bodyPr>
          <a:lstStyle/>
          <a:p>
            <a:pPr marL="0" indent="0" algn="ctr">
              <a:lnSpc>
                <a:spcPts val="1400"/>
              </a:lnSpc>
              <a:buNone/>
            </a:pPr>
            <a:endParaRPr lang="pt-BR" sz="987" noProof="0" dirty="0"/>
          </a:p>
        </p:txBody>
      </p:sp>
      <p:sp>
        <p:nvSpPr>
          <p:cNvPr id="14" name="Text 10">
            <a:extLst>
              <a:ext uri="{FF2B5EF4-FFF2-40B4-BE49-F238E27FC236}">
                <a16:creationId xmlns:a16="http://schemas.microsoft.com/office/drawing/2014/main" id="{8105E7B1-88A3-0C8E-1A72-711D341FA8F3}"/>
              </a:ext>
            </a:extLst>
          </p:cNvPr>
          <p:cNvSpPr/>
          <p:nvPr/>
        </p:nvSpPr>
        <p:spPr>
          <a:xfrm>
            <a:off x="6048356" y="2536031"/>
            <a:ext cx="285750" cy="285750"/>
          </a:xfrm>
          <a:prstGeom prst="rect">
            <a:avLst/>
          </a:prstGeom>
          <a:noFill/>
          <a:ln/>
        </p:spPr>
        <p:txBody>
          <a:bodyPr wrap="square" lIns="0" tIns="0" rIns="0" bIns="0" rtlCol="0" anchor="ctr">
            <a:spAutoFit/>
          </a:bodyPr>
          <a:lstStyle/>
          <a:p>
            <a:pPr marL="0" indent="0" algn="ctr">
              <a:lnSpc>
                <a:spcPts val="1400"/>
              </a:lnSpc>
              <a:buNone/>
            </a:pPr>
            <a:r>
              <a:rPr lang="pt-BR" sz="987" b="1" noProof="0" dirty="0">
                <a:solidFill>
                  <a:srgbClr val="FFFFFF"/>
                </a:solidFill>
              </a:rPr>
              <a:t>3</a:t>
            </a:r>
            <a:endParaRPr lang="pt-BR" sz="987" noProof="0" dirty="0"/>
          </a:p>
        </p:txBody>
      </p:sp>
      <p:sp>
        <p:nvSpPr>
          <p:cNvPr id="18" name="Text 14">
            <a:extLst>
              <a:ext uri="{FF2B5EF4-FFF2-40B4-BE49-F238E27FC236}">
                <a16:creationId xmlns:a16="http://schemas.microsoft.com/office/drawing/2014/main" id="{37E5C64C-E3F0-A4FF-8B0A-D11ECF4007D5}"/>
              </a:ext>
            </a:extLst>
          </p:cNvPr>
          <p:cNvSpPr/>
          <p:nvPr/>
        </p:nvSpPr>
        <p:spPr>
          <a:xfrm>
            <a:off x="428625" y="3679031"/>
            <a:ext cx="285750" cy="285750"/>
          </a:xfrm>
          <a:prstGeom prst="rect">
            <a:avLst/>
          </a:prstGeom>
          <a:noFill/>
          <a:ln/>
        </p:spPr>
        <p:txBody>
          <a:bodyPr wrap="square" lIns="0" tIns="0" rIns="0" bIns="0" rtlCol="0" anchor="ctr">
            <a:spAutoFit/>
          </a:bodyPr>
          <a:lstStyle/>
          <a:p>
            <a:pPr marL="0" indent="0" algn="ctr">
              <a:lnSpc>
                <a:spcPts val="1400"/>
              </a:lnSpc>
              <a:buNone/>
            </a:pPr>
            <a:r>
              <a:rPr lang="pt-BR" sz="987" b="1" noProof="0" dirty="0">
                <a:solidFill>
                  <a:srgbClr val="FFFFFF"/>
                </a:solidFill>
              </a:rPr>
              <a:t>4</a:t>
            </a:r>
            <a:endParaRPr lang="pt-BR" sz="987" noProof="0" dirty="0"/>
          </a:p>
        </p:txBody>
      </p:sp>
      <p:sp>
        <p:nvSpPr>
          <p:cNvPr id="22" name="Text 18">
            <a:extLst>
              <a:ext uri="{FF2B5EF4-FFF2-40B4-BE49-F238E27FC236}">
                <a16:creationId xmlns:a16="http://schemas.microsoft.com/office/drawing/2014/main" id="{849DD153-2C11-C5FD-FFA4-B2C4723BF2B0}"/>
              </a:ext>
            </a:extLst>
          </p:cNvPr>
          <p:cNvSpPr/>
          <p:nvPr/>
        </p:nvSpPr>
        <p:spPr>
          <a:xfrm>
            <a:off x="3238491" y="3679031"/>
            <a:ext cx="285750" cy="285750"/>
          </a:xfrm>
          <a:prstGeom prst="rect">
            <a:avLst/>
          </a:prstGeom>
          <a:noFill/>
          <a:ln/>
        </p:spPr>
        <p:txBody>
          <a:bodyPr wrap="square" lIns="0" tIns="0" rIns="0" bIns="0" rtlCol="0" anchor="ctr">
            <a:spAutoFit/>
          </a:bodyPr>
          <a:lstStyle/>
          <a:p>
            <a:pPr marL="0" indent="0" algn="ctr">
              <a:lnSpc>
                <a:spcPts val="1400"/>
              </a:lnSpc>
              <a:buNone/>
            </a:pPr>
            <a:r>
              <a:rPr lang="pt-BR" sz="987" b="1" noProof="0" dirty="0">
                <a:solidFill>
                  <a:srgbClr val="FFFFFF"/>
                </a:solidFill>
              </a:rPr>
              <a:t>5</a:t>
            </a:r>
            <a:endParaRPr lang="pt-BR" sz="987" noProof="0" dirty="0"/>
          </a:p>
        </p:txBody>
      </p:sp>
      <p:sp>
        <p:nvSpPr>
          <p:cNvPr id="26" name="Text 22">
            <a:extLst>
              <a:ext uri="{FF2B5EF4-FFF2-40B4-BE49-F238E27FC236}">
                <a16:creationId xmlns:a16="http://schemas.microsoft.com/office/drawing/2014/main" id="{E221F78D-441A-A232-6547-AE7E42F80935}"/>
              </a:ext>
            </a:extLst>
          </p:cNvPr>
          <p:cNvSpPr/>
          <p:nvPr/>
        </p:nvSpPr>
        <p:spPr>
          <a:xfrm>
            <a:off x="6048356" y="3679031"/>
            <a:ext cx="285750" cy="285750"/>
          </a:xfrm>
          <a:prstGeom prst="rect">
            <a:avLst/>
          </a:prstGeom>
          <a:noFill/>
          <a:ln/>
        </p:spPr>
        <p:txBody>
          <a:bodyPr wrap="square" lIns="0" tIns="0" rIns="0" bIns="0" rtlCol="0" anchor="ctr">
            <a:spAutoFit/>
          </a:bodyPr>
          <a:lstStyle/>
          <a:p>
            <a:pPr marL="0" indent="0" algn="ctr">
              <a:lnSpc>
                <a:spcPts val="1400"/>
              </a:lnSpc>
              <a:buNone/>
            </a:pPr>
            <a:r>
              <a:rPr lang="pt-BR" sz="987" b="1" noProof="0" dirty="0">
                <a:solidFill>
                  <a:srgbClr val="FFFFFF"/>
                </a:solidFill>
              </a:rPr>
              <a:t>6</a:t>
            </a:r>
            <a:endParaRPr lang="pt-BR" sz="987" noProof="0" dirty="0"/>
          </a:p>
        </p:txBody>
      </p:sp>
      <p:pic>
        <p:nvPicPr>
          <p:cNvPr id="29" name="Picture 13">
            <a:extLst>
              <a:ext uri="{FF2B5EF4-FFF2-40B4-BE49-F238E27FC236}">
                <a16:creationId xmlns:a16="http://schemas.microsoft.com/office/drawing/2014/main" id="{530AC3DC-F625-02FD-17E5-6BDF0CBB8BE7}"/>
              </a:ext>
            </a:extLst>
          </p:cNvPr>
          <p:cNvPicPr>
            <a:picLocks noChangeAspect="1"/>
          </p:cNvPicPr>
          <p:nvPr/>
        </p:nvPicPr>
        <p:blipFill>
          <a:blip r:embed="rId4"/>
          <a:stretch>
            <a:fillRect/>
          </a:stretch>
        </p:blipFill>
        <p:spPr>
          <a:xfrm>
            <a:off x="7727426" y="4516107"/>
            <a:ext cx="1239442" cy="531189"/>
          </a:xfrm>
          <a:prstGeom prst="rect">
            <a:avLst/>
          </a:prstGeom>
        </p:spPr>
      </p:pic>
      <p:pic>
        <p:nvPicPr>
          <p:cNvPr id="30" name="Imagem 29">
            <a:extLst>
              <a:ext uri="{FF2B5EF4-FFF2-40B4-BE49-F238E27FC236}">
                <a16:creationId xmlns:a16="http://schemas.microsoft.com/office/drawing/2014/main" id="{CD2E3936-40A7-DDCE-3542-49A338AB616B}"/>
              </a:ext>
            </a:extLst>
          </p:cNvPr>
          <p:cNvPicPr>
            <a:picLocks noChangeAspect="1"/>
          </p:cNvPicPr>
          <p:nvPr/>
        </p:nvPicPr>
        <p:blipFill>
          <a:blip r:embed="rId5"/>
          <a:stretch>
            <a:fillRect/>
          </a:stretch>
        </p:blipFill>
        <p:spPr>
          <a:xfrm>
            <a:off x="322414" y="1133266"/>
            <a:ext cx="8499172" cy="2843104"/>
          </a:xfrm>
          <a:prstGeom prst="rect">
            <a:avLst/>
          </a:prstGeom>
        </p:spPr>
      </p:pic>
      <p:sp>
        <p:nvSpPr>
          <p:cNvPr id="31" name="Shape 1">
            <a:extLst>
              <a:ext uri="{FF2B5EF4-FFF2-40B4-BE49-F238E27FC236}">
                <a16:creationId xmlns:a16="http://schemas.microsoft.com/office/drawing/2014/main" id="{AB1AE68B-7E4C-816F-70E6-995FC756932F}"/>
              </a:ext>
            </a:extLst>
          </p:cNvPr>
          <p:cNvSpPr/>
          <p:nvPr/>
        </p:nvSpPr>
        <p:spPr>
          <a:xfrm>
            <a:off x="1119197" y="3358980"/>
            <a:ext cx="285750" cy="285750"/>
          </a:xfrm>
          <a:prstGeom prst="rect">
            <a:avLst/>
          </a:prstGeom>
          <a:solidFill>
            <a:srgbClr val="0066CC"/>
          </a:solidFill>
          <a:ln/>
        </p:spPr>
        <p:txBody>
          <a:bodyPr/>
          <a:lstStyle/>
          <a:p>
            <a:r>
              <a:rPr lang="pt-BR" sz="1400" b="1" dirty="0">
                <a:solidFill>
                  <a:srgbClr val="FFFFFF"/>
                </a:solidFill>
              </a:rPr>
              <a:t>1</a:t>
            </a:r>
            <a:endParaRPr lang="pt-BR" sz="1400" dirty="0"/>
          </a:p>
          <a:p>
            <a:r>
              <a:rPr lang="pt-BR" sz="1400" b="1" dirty="0">
                <a:solidFill>
                  <a:srgbClr val="FFFFFF"/>
                </a:solidFill>
              </a:rPr>
              <a:t>1</a:t>
            </a:r>
            <a:endParaRPr lang="pt-BR" dirty="0"/>
          </a:p>
          <a:p>
            <a:endParaRPr lang="pt-BR" noProof="0" dirty="0"/>
          </a:p>
        </p:txBody>
      </p:sp>
      <p:sp>
        <p:nvSpPr>
          <p:cNvPr id="33" name="Shape 1">
            <a:extLst>
              <a:ext uri="{FF2B5EF4-FFF2-40B4-BE49-F238E27FC236}">
                <a16:creationId xmlns:a16="http://schemas.microsoft.com/office/drawing/2014/main" id="{B2FD51B7-8E36-1F55-1209-DAFBC51E0C22}"/>
              </a:ext>
            </a:extLst>
          </p:cNvPr>
          <p:cNvSpPr/>
          <p:nvPr/>
        </p:nvSpPr>
        <p:spPr>
          <a:xfrm>
            <a:off x="2959284" y="3375642"/>
            <a:ext cx="285750" cy="285750"/>
          </a:xfrm>
          <a:prstGeom prst="rect">
            <a:avLst/>
          </a:prstGeom>
          <a:solidFill>
            <a:srgbClr val="0066CC"/>
          </a:solidFill>
          <a:ln/>
        </p:spPr>
        <p:txBody>
          <a:bodyPr/>
          <a:lstStyle/>
          <a:p>
            <a:r>
              <a:rPr lang="pt-BR" sz="1400" b="1" dirty="0">
                <a:solidFill>
                  <a:srgbClr val="FFFFFF"/>
                </a:solidFill>
              </a:rPr>
              <a:t>2</a:t>
            </a:r>
            <a:endParaRPr lang="pt-BR" sz="1400" dirty="0"/>
          </a:p>
          <a:p>
            <a:r>
              <a:rPr lang="pt-BR" sz="1400" b="1" dirty="0">
                <a:solidFill>
                  <a:srgbClr val="FFFFFF"/>
                </a:solidFill>
              </a:rPr>
              <a:t>1</a:t>
            </a:r>
            <a:endParaRPr lang="pt-BR" dirty="0"/>
          </a:p>
          <a:p>
            <a:endParaRPr lang="pt-BR" noProof="0" dirty="0"/>
          </a:p>
        </p:txBody>
      </p:sp>
      <p:sp>
        <p:nvSpPr>
          <p:cNvPr id="34" name="Shape 1">
            <a:extLst>
              <a:ext uri="{FF2B5EF4-FFF2-40B4-BE49-F238E27FC236}">
                <a16:creationId xmlns:a16="http://schemas.microsoft.com/office/drawing/2014/main" id="{45B6D3FD-0D48-90DB-E599-B3735A17DEB2}"/>
              </a:ext>
            </a:extLst>
          </p:cNvPr>
          <p:cNvSpPr/>
          <p:nvPr/>
        </p:nvSpPr>
        <p:spPr>
          <a:xfrm>
            <a:off x="4410793" y="3394703"/>
            <a:ext cx="285750" cy="285750"/>
          </a:xfrm>
          <a:prstGeom prst="rect">
            <a:avLst/>
          </a:prstGeom>
          <a:solidFill>
            <a:srgbClr val="0066CC"/>
          </a:solidFill>
          <a:ln/>
        </p:spPr>
        <p:txBody>
          <a:bodyPr/>
          <a:lstStyle/>
          <a:p>
            <a:r>
              <a:rPr lang="pt-BR" sz="1400" b="1" dirty="0">
                <a:solidFill>
                  <a:srgbClr val="FFFFFF"/>
                </a:solidFill>
              </a:rPr>
              <a:t>3</a:t>
            </a:r>
            <a:endParaRPr lang="pt-BR" sz="1400" dirty="0"/>
          </a:p>
          <a:p>
            <a:r>
              <a:rPr lang="pt-BR" sz="1400" b="1" dirty="0">
                <a:solidFill>
                  <a:srgbClr val="FFFFFF"/>
                </a:solidFill>
              </a:rPr>
              <a:t>1</a:t>
            </a:r>
            <a:endParaRPr lang="pt-BR" dirty="0"/>
          </a:p>
          <a:p>
            <a:endParaRPr lang="pt-BR" noProof="0" dirty="0"/>
          </a:p>
        </p:txBody>
      </p:sp>
      <p:sp>
        <p:nvSpPr>
          <p:cNvPr id="35" name="Shape 1">
            <a:extLst>
              <a:ext uri="{FF2B5EF4-FFF2-40B4-BE49-F238E27FC236}">
                <a16:creationId xmlns:a16="http://schemas.microsoft.com/office/drawing/2014/main" id="{EC444B34-6ABC-5787-F76A-BB47FFC91C88}"/>
              </a:ext>
            </a:extLst>
          </p:cNvPr>
          <p:cNvSpPr/>
          <p:nvPr/>
        </p:nvSpPr>
        <p:spPr>
          <a:xfrm>
            <a:off x="5800418" y="1794836"/>
            <a:ext cx="285750" cy="285750"/>
          </a:xfrm>
          <a:prstGeom prst="rect">
            <a:avLst/>
          </a:prstGeom>
          <a:solidFill>
            <a:srgbClr val="0066CC"/>
          </a:solidFill>
          <a:ln/>
        </p:spPr>
        <p:txBody>
          <a:bodyPr/>
          <a:lstStyle/>
          <a:p>
            <a:r>
              <a:rPr lang="pt-BR" sz="1400" b="1" dirty="0">
                <a:solidFill>
                  <a:srgbClr val="FFFFFF"/>
                </a:solidFill>
              </a:rPr>
              <a:t>4</a:t>
            </a:r>
            <a:endParaRPr lang="pt-BR" sz="1400" dirty="0"/>
          </a:p>
          <a:p>
            <a:r>
              <a:rPr lang="pt-BR" sz="1400" b="1" dirty="0">
                <a:solidFill>
                  <a:srgbClr val="FFFFFF"/>
                </a:solidFill>
              </a:rPr>
              <a:t>1</a:t>
            </a:r>
            <a:endParaRPr lang="pt-BR" dirty="0"/>
          </a:p>
          <a:p>
            <a:endParaRPr lang="pt-BR" noProof="0" dirty="0"/>
          </a:p>
        </p:txBody>
      </p:sp>
      <p:sp>
        <p:nvSpPr>
          <p:cNvPr id="36" name="Shape 1">
            <a:extLst>
              <a:ext uri="{FF2B5EF4-FFF2-40B4-BE49-F238E27FC236}">
                <a16:creationId xmlns:a16="http://schemas.microsoft.com/office/drawing/2014/main" id="{2C8F1A86-300E-B67E-3F44-5E9E2F407525}"/>
              </a:ext>
            </a:extLst>
          </p:cNvPr>
          <p:cNvSpPr/>
          <p:nvPr/>
        </p:nvSpPr>
        <p:spPr>
          <a:xfrm>
            <a:off x="7113251" y="1794836"/>
            <a:ext cx="285750" cy="285750"/>
          </a:xfrm>
          <a:prstGeom prst="rect">
            <a:avLst/>
          </a:prstGeom>
          <a:solidFill>
            <a:srgbClr val="0066CC"/>
          </a:solidFill>
          <a:ln/>
        </p:spPr>
        <p:txBody>
          <a:bodyPr/>
          <a:lstStyle/>
          <a:p>
            <a:r>
              <a:rPr lang="pt-BR" sz="1400" b="1" dirty="0">
                <a:solidFill>
                  <a:srgbClr val="FFFFFF"/>
                </a:solidFill>
              </a:rPr>
              <a:t>5</a:t>
            </a:r>
            <a:endParaRPr lang="pt-BR" sz="1400" dirty="0"/>
          </a:p>
          <a:p>
            <a:r>
              <a:rPr lang="pt-BR" sz="1400" b="1" dirty="0">
                <a:solidFill>
                  <a:srgbClr val="FFFFFF"/>
                </a:solidFill>
              </a:rPr>
              <a:t>1</a:t>
            </a:r>
            <a:endParaRPr lang="pt-BR" dirty="0"/>
          </a:p>
          <a:p>
            <a:endParaRPr lang="pt-BR" noProof="0" dirty="0"/>
          </a:p>
        </p:txBody>
      </p:sp>
      <p:sp>
        <p:nvSpPr>
          <p:cNvPr id="37" name="Shape 1">
            <a:extLst>
              <a:ext uri="{FF2B5EF4-FFF2-40B4-BE49-F238E27FC236}">
                <a16:creationId xmlns:a16="http://schemas.microsoft.com/office/drawing/2014/main" id="{475692F2-CE4C-9609-6CB1-E16BE7EF3456}"/>
              </a:ext>
            </a:extLst>
          </p:cNvPr>
          <p:cNvSpPr/>
          <p:nvPr/>
        </p:nvSpPr>
        <p:spPr>
          <a:xfrm>
            <a:off x="8140334" y="1640857"/>
            <a:ext cx="285750" cy="285750"/>
          </a:xfrm>
          <a:prstGeom prst="rect">
            <a:avLst/>
          </a:prstGeom>
          <a:solidFill>
            <a:srgbClr val="0066CC"/>
          </a:solidFill>
          <a:ln/>
        </p:spPr>
        <p:txBody>
          <a:bodyPr/>
          <a:lstStyle/>
          <a:p>
            <a:r>
              <a:rPr lang="pt-BR" sz="1400" b="1" dirty="0">
                <a:solidFill>
                  <a:srgbClr val="FFFFFF"/>
                </a:solidFill>
              </a:rPr>
              <a:t>6</a:t>
            </a:r>
            <a:endParaRPr lang="pt-BR" dirty="0"/>
          </a:p>
          <a:p>
            <a:endParaRPr lang="pt-BR" noProof="0" dirty="0"/>
          </a:p>
        </p:txBody>
      </p:sp>
    </p:spTree>
    <p:extLst>
      <p:ext uri="{BB962C8B-B14F-4D97-AF65-F5344CB8AC3E}">
        <p14:creationId xmlns:p14="http://schemas.microsoft.com/office/powerpoint/2010/main" val="3936984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2744982-3F88-4F6D-BFBB-6801B813C1EB}"/>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1426317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CE3C-242A-7E0D-77E1-1B9D521F7F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7AB39DE-5053-DD98-6428-191834BE0FDB}"/>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80F69BFB-80C9-41E1-DC09-3EC7D0F34458}"/>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 name="Text 1">
            <a:extLst>
              <a:ext uri="{FF2B5EF4-FFF2-40B4-BE49-F238E27FC236}">
                <a16:creationId xmlns:a16="http://schemas.microsoft.com/office/drawing/2014/main" id="{E4CE189B-BE67-FFF3-5CD9-C338C92600DB}"/>
              </a:ext>
            </a:extLst>
          </p:cNvPr>
          <p:cNvSpPr/>
          <p:nvPr/>
        </p:nvSpPr>
        <p:spPr>
          <a:xfrm>
            <a:off x="428625" y="136624"/>
            <a:ext cx="4311180" cy="314766"/>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Controladores Lógicos Programáveis (CLP)</a:t>
            </a:r>
            <a:endParaRPr lang="pt-BR" sz="1912" noProof="0" dirty="0"/>
          </a:p>
        </p:txBody>
      </p:sp>
      <p:pic>
        <p:nvPicPr>
          <p:cNvPr id="22" name="Imagem 21">
            <a:extLst>
              <a:ext uri="{FF2B5EF4-FFF2-40B4-BE49-F238E27FC236}">
                <a16:creationId xmlns:a16="http://schemas.microsoft.com/office/drawing/2014/main" id="{734048EC-5098-CB3D-DA96-88463A62939C}"/>
              </a:ext>
            </a:extLst>
          </p:cNvPr>
          <p:cNvPicPr>
            <a:picLocks noChangeAspect="1"/>
          </p:cNvPicPr>
          <p:nvPr/>
        </p:nvPicPr>
        <p:blipFill>
          <a:blip r:embed="rId4"/>
          <a:stretch>
            <a:fillRect/>
          </a:stretch>
        </p:blipFill>
        <p:spPr>
          <a:xfrm>
            <a:off x="378619" y="2144683"/>
            <a:ext cx="186928" cy="1066868"/>
          </a:xfrm>
          <a:prstGeom prst="rect">
            <a:avLst/>
          </a:prstGeom>
        </p:spPr>
      </p:pic>
      <p:pic>
        <p:nvPicPr>
          <p:cNvPr id="23" name="Imagem 22">
            <a:extLst>
              <a:ext uri="{FF2B5EF4-FFF2-40B4-BE49-F238E27FC236}">
                <a16:creationId xmlns:a16="http://schemas.microsoft.com/office/drawing/2014/main" id="{798B3796-1250-BD47-6772-903CD3BCE562}"/>
              </a:ext>
            </a:extLst>
          </p:cNvPr>
          <p:cNvPicPr>
            <a:picLocks noChangeAspect="1"/>
          </p:cNvPicPr>
          <p:nvPr/>
        </p:nvPicPr>
        <p:blipFill>
          <a:blip r:embed="rId4"/>
          <a:stretch>
            <a:fillRect/>
          </a:stretch>
        </p:blipFill>
        <p:spPr>
          <a:xfrm>
            <a:off x="4542814" y="956057"/>
            <a:ext cx="186928" cy="2270361"/>
          </a:xfrm>
          <a:prstGeom prst="rect">
            <a:avLst/>
          </a:prstGeom>
        </p:spPr>
      </p:pic>
      <p:pic>
        <p:nvPicPr>
          <p:cNvPr id="27" name="Picture 13">
            <a:extLst>
              <a:ext uri="{FF2B5EF4-FFF2-40B4-BE49-F238E27FC236}">
                <a16:creationId xmlns:a16="http://schemas.microsoft.com/office/drawing/2014/main" id="{5EDED477-AABC-0D95-35B9-08D51700CDD6}"/>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5" name="CaixaDeTexto 3">
            <a:extLst>
              <a:ext uri="{FF2B5EF4-FFF2-40B4-BE49-F238E27FC236}">
                <a16:creationId xmlns:a16="http://schemas.microsoft.com/office/drawing/2014/main" id="{7BE5AC77-E7D0-E5BE-4D97-AAC73B4C118E}"/>
              </a:ext>
            </a:extLst>
          </p:cNvPr>
          <p:cNvSpPr txBox="1"/>
          <p:nvPr/>
        </p:nvSpPr>
        <p:spPr>
          <a:xfrm>
            <a:off x="565547" y="718093"/>
            <a:ext cx="8199834" cy="1077218"/>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O CLP nasceu dentro da General Motors, em 1968, devido a grande dificuldade de mudar a lógica de controle dos painéis de comando a cada mudança na linha de montagem. É um equipamento eletrônico digital com hardware e software compatíveis com aplicações industriais (ABNT).</a:t>
            </a:r>
          </a:p>
        </p:txBody>
      </p:sp>
      <p:pic>
        <p:nvPicPr>
          <p:cNvPr id="9" name="Picture 8">
            <a:extLst>
              <a:ext uri="{FF2B5EF4-FFF2-40B4-BE49-F238E27FC236}">
                <a16:creationId xmlns:a16="http://schemas.microsoft.com/office/drawing/2014/main" id="{BD0E649C-CBDB-ECED-AC8B-8BB98615CA24}"/>
              </a:ext>
            </a:extLst>
          </p:cNvPr>
          <p:cNvPicPr>
            <a:picLocks noChangeAspect="1"/>
          </p:cNvPicPr>
          <p:nvPr/>
        </p:nvPicPr>
        <p:blipFill>
          <a:blip r:embed="rId6"/>
          <a:stretch>
            <a:fillRect/>
          </a:stretch>
        </p:blipFill>
        <p:spPr>
          <a:xfrm>
            <a:off x="456774" y="2909731"/>
            <a:ext cx="1928408" cy="1707905"/>
          </a:xfrm>
          <a:prstGeom prst="rect">
            <a:avLst/>
          </a:prstGeom>
        </p:spPr>
      </p:pic>
      <p:pic>
        <p:nvPicPr>
          <p:cNvPr id="11" name="Picture 10">
            <a:extLst>
              <a:ext uri="{FF2B5EF4-FFF2-40B4-BE49-F238E27FC236}">
                <a16:creationId xmlns:a16="http://schemas.microsoft.com/office/drawing/2014/main" id="{0AA19E4E-7649-A1E1-DD13-82F6C211578C}"/>
              </a:ext>
            </a:extLst>
          </p:cNvPr>
          <p:cNvPicPr>
            <a:picLocks noChangeAspect="1"/>
          </p:cNvPicPr>
          <p:nvPr/>
        </p:nvPicPr>
        <p:blipFill>
          <a:blip r:embed="rId7"/>
          <a:stretch>
            <a:fillRect/>
          </a:stretch>
        </p:blipFill>
        <p:spPr>
          <a:xfrm>
            <a:off x="2785658" y="3763684"/>
            <a:ext cx="1313238" cy="1323445"/>
          </a:xfrm>
          <a:prstGeom prst="rect">
            <a:avLst/>
          </a:prstGeom>
        </p:spPr>
      </p:pic>
      <p:sp>
        <p:nvSpPr>
          <p:cNvPr id="6" name="CaixaDeTexto 3">
            <a:extLst>
              <a:ext uri="{FF2B5EF4-FFF2-40B4-BE49-F238E27FC236}">
                <a16:creationId xmlns:a16="http://schemas.microsoft.com/office/drawing/2014/main" id="{7C439D48-BC41-5A3F-8CF3-6E0BE08EA5ED}"/>
              </a:ext>
            </a:extLst>
          </p:cNvPr>
          <p:cNvSpPr txBox="1"/>
          <p:nvPr/>
        </p:nvSpPr>
        <p:spPr>
          <a:xfrm>
            <a:off x="536361" y="1781988"/>
            <a:ext cx="8199834" cy="830997"/>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Aparelho eletrônico digital que utiliza uma memória programável para armazenar internamente instruções e para implementar funções específicas, controlando, por meio de módulos de entradas e saídas, vários tipos de máquinas ou processos (NEMA).</a:t>
            </a:r>
          </a:p>
        </p:txBody>
      </p:sp>
      <p:pic>
        <p:nvPicPr>
          <p:cNvPr id="8" name="Picture 7">
            <a:extLst>
              <a:ext uri="{FF2B5EF4-FFF2-40B4-BE49-F238E27FC236}">
                <a16:creationId xmlns:a16="http://schemas.microsoft.com/office/drawing/2014/main" id="{19EE76EE-F569-A4B6-0943-86DB0ED17819}"/>
              </a:ext>
            </a:extLst>
          </p:cNvPr>
          <p:cNvPicPr>
            <a:picLocks noChangeAspect="1"/>
          </p:cNvPicPr>
          <p:nvPr/>
        </p:nvPicPr>
        <p:blipFill>
          <a:blip r:embed="rId8"/>
          <a:stretch>
            <a:fillRect/>
          </a:stretch>
        </p:blipFill>
        <p:spPr>
          <a:xfrm>
            <a:off x="4499372" y="2891266"/>
            <a:ext cx="2992987" cy="1837799"/>
          </a:xfrm>
          <a:prstGeom prst="rect">
            <a:avLst/>
          </a:prstGeom>
        </p:spPr>
      </p:pic>
    </p:spTree>
    <p:extLst>
      <p:ext uri="{BB962C8B-B14F-4D97-AF65-F5344CB8AC3E}">
        <p14:creationId xmlns:p14="http://schemas.microsoft.com/office/powerpoint/2010/main" val="9824502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CE3C-242A-7E0D-77E1-1B9D521F7F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7AB39DE-5053-DD98-6428-191834BE0FDB}"/>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80F69BFB-80C9-41E1-DC09-3EC7D0F34458}"/>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 name="Text 1">
            <a:extLst>
              <a:ext uri="{FF2B5EF4-FFF2-40B4-BE49-F238E27FC236}">
                <a16:creationId xmlns:a16="http://schemas.microsoft.com/office/drawing/2014/main" id="{E4CE189B-BE67-FFF3-5CD9-C338C92600DB}"/>
              </a:ext>
            </a:extLst>
          </p:cNvPr>
          <p:cNvSpPr/>
          <p:nvPr/>
        </p:nvSpPr>
        <p:spPr>
          <a:xfrm>
            <a:off x="428625" y="136624"/>
            <a:ext cx="4248664" cy="314766"/>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Controladores Lógicos Programáveis (CLP)</a:t>
            </a:r>
            <a:endParaRPr lang="pt-BR" sz="1912" noProof="0" dirty="0"/>
          </a:p>
        </p:txBody>
      </p:sp>
      <p:pic>
        <p:nvPicPr>
          <p:cNvPr id="22" name="Imagem 21">
            <a:extLst>
              <a:ext uri="{FF2B5EF4-FFF2-40B4-BE49-F238E27FC236}">
                <a16:creationId xmlns:a16="http://schemas.microsoft.com/office/drawing/2014/main" id="{734048EC-5098-CB3D-DA96-88463A62939C}"/>
              </a:ext>
            </a:extLst>
          </p:cNvPr>
          <p:cNvPicPr>
            <a:picLocks noChangeAspect="1"/>
          </p:cNvPicPr>
          <p:nvPr/>
        </p:nvPicPr>
        <p:blipFill>
          <a:blip r:embed="rId4"/>
          <a:stretch>
            <a:fillRect/>
          </a:stretch>
        </p:blipFill>
        <p:spPr>
          <a:xfrm>
            <a:off x="170358" y="956057"/>
            <a:ext cx="395189" cy="2255494"/>
          </a:xfrm>
          <a:prstGeom prst="rect">
            <a:avLst/>
          </a:prstGeom>
        </p:spPr>
      </p:pic>
      <p:pic>
        <p:nvPicPr>
          <p:cNvPr id="23" name="Imagem 22">
            <a:extLst>
              <a:ext uri="{FF2B5EF4-FFF2-40B4-BE49-F238E27FC236}">
                <a16:creationId xmlns:a16="http://schemas.microsoft.com/office/drawing/2014/main" id="{798B3796-1250-BD47-6772-903CD3BCE562}"/>
              </a:ext>
            </a:extLst>
          </p:cNvPr>
          <p:cNvPicPr>
            <a:picLocks noChangeAspect="1"/>
          </p:cNvPicPr>
          <p:nvPr/>
        </p:nvPicPr>
        <p:blipFill>
          <a:blip r:embed="rId4"/>
          <a:stretch>
            <a:fillRect/>
          </a:stretch>
        </p:blipFill>
        <p:spPr>
          <a:xfrm>
            <a:off x="4542814" y="956057"/>
            <a:ext cx="186928" cy="2270361"/>
          </a:xfrm>
          <a:prstGeom prst="rect">
            <a:avLst/>
          </a:prstGeom>
        </p:spPr>
      </p:pic>
      <p:pic>
        <p:nvPicPr>
          <p:cNvPr id="6" name="Picture 8" descr="CLP SIMATIC S7-1200 | Controladores SIMATIC | Siemens Siemens Brasil">
            <a:extLst>
              <a:ext uri="{FF2B5EF4-FFF2-40B4-BE49-F238E27FC236}">
                <a16:creationId xmlns:a16="http://schemas.microsoft.com/office/drawing/2014/main" id="{11EF6F6F-3FD2-8E4F-649F-484D6AC9D68C}"/>
              </a:ext>
            </a:extLst>
          </p:cNvPr>
          <p:cNvPicPr>
            <a:picLocks noChangeAspect="1" noChangeArrowheads="1"/>
          </p:cNvPicPr>
          <p:nvPr/>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l="15689" r="12695"/>
          <a:stretch/>
        </p:blipFill>
        <p:spPr bwMode="auto">
          <a:xfrm>
            <a:off x="138169" y="1122521"/>
            <a:ext cx="3417161" cy="268053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Ilustração sobre a evolução tecnológica dos CLPs. Lemos o texto: 1969 - 1971. 1ª Geração: substituir quadros de relés. 1971 - 1976. 2ª Geração: substituir contadores, substituir temporizadores, executar operações aritméticas, impressão de documentação/relatórios, controle em malha fechada (PID). 1976 - 1981. 3ª Geração: comunicação entre CLPs, controle de posicionamento. 1981 - 1985. 4ª Geração: rede de periféricos, unidades remotas, redundância de CPU. 1985 - atual. 5ª Geração: interface homem-máquina (IHM), sistemas supervisórios. (fim da descrição)">
            <a:extLst>
              <a:ext uri="{FF2B5EF4-FFF2-40B4-BE49-F238E27FC236}">
                <a16:creationId xmlns:a16="http://schemas.microsoft.com/office/drawing/2014/main" id="{0182381B-8AFE-0DC7-9DEA-0098157B196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34314" y="1078214"/>
            <a:ext cx="4679799" cy="3630010"/>
          </a:xfrm>
          <a:prstGeom prst="rect">
            <a:avLst/>
          </a:prstGeom>
          <a:noFill/>
          <a:extLst>
            <a:ext uri="{909E8E84-426E-40DD-AFC4-6F175D3DCCD1}">
              <a14:hiddenFill xmlns:a14="http://schemas.microsoft.com/office/drawing/2010/main">
                <a:solidFill>
                  <a:srgbClr val="FFFFFF"/>
                </a:solidFill>
              </a14:hiddenFill>
            </a:ext>
          </a:extLst>
        </p:spPr>
      </p:pic>
      <p:sp>
        <p:nvSpPr>
          <p:cNvPr id="9" name="Text 16">
            <a:extLst>
              <a:ext uri="{FF2B5EF4-FFF2-40B4-BE49-F238E27FC236}">
                <a16:creationId xmlns:a16="http://schemas.microsoft.com/office/drawing/2014/main" id="{A8CB0822-358B-181A-B8E0-5DDEB812F01E}"/>
              </a:ext>
            </a:extLst>
          </p:cNvPr>
          <p:cNvSpPr/>
          <p:nvPr/>
        </p:nvSpPr>
        <p:spPr>
          <a:xfrm>
            <a:off x="300774" y="3994606"/>
            <a:ext cx="3204427" cy="369332"/>
          </a:xfrm>
          <a:prstGeom prst="rect">
            <a:avLst/>
          </a:prstGeom>
          <a:noFill/>
          <a:ln/>
        </p:spPr>
        <p:txBody>
          <a:bodyPr wrap="square" lIns="0" tIns="0" rIns="0" bIns="0" rtlCol="0" anchor="t">
            <a:spAutoFit/>
          </a:bodyPr>
          <a:lstStyle/>
          <a:p>
            <a:pPr algn="just" defTabSz="914400"/>
            <a:r>
              <a:rPr lang="pt-BR" altLang="pt-BR" sz="800" dirty="0">
                <a:latin typeface="Trebuchet MS" panose="020B0603020202020204" pitchFamily="34" charset="0"/>
                <a:cs typeface="Calibri" panose="020F0502020204030204" pitchFamily="34" charset="0"/>
              </a:rPr>
              <a:t>A evolução dos </a:t>
            </a:r>
            <a:r>
              <a:rPr lang="pt-BR" altLang="pt-BR" sz="800" dirty="0" err="1">
                <a:latin typeface="Trebuchet MS" panose="020B0603020202020204" pitchFamily="34" charset="0"/>
                <a:cs typeface="Calibri" panose="020F0502020204030204" pitchFamily="34" charset="0"/>
              </a:rPr>
              <a:t>CLPs</a:t>
            </a:r>
            <a:r>
              <a:rPr lang="pt-BR" altLang="pt-BR" sz="800" dirty="0">
                <a:latin typeface="Trebuchet MS" panose="020B0603020202020204" pitchFamily="34" charset="0"/>
                <a:cs typeface="Calibri" panose="020F0502020204030204" pitchFamily="34" charset="0"/>
              </a:rPr>
              <a:t> foi dividida em cinco gerações, nas quais incorporaram-se novas funcionalidades tecnológicas impulsionadas principalmente pelos novos sistemas de programação. </a:t>
            </a:r>
            <a:endParaRPr lang="pt-BR" altLang="pt-BR" sz="800" dirty="0">
              <a:solidFill>
                <a:srgbClr val="FF0000"/>
              </a:solidFill>
              <a:latin typeface="Trebuchet MS" panose="020B0603020202020204" pitchFamily="34" charset="0"/>
              <a:cs typeface="Calibri" panose="020F0502020204030204" pitchFamily="34" charset="0"/>
            </a:endParaRPr>
          </a:p>
        </p:txBody>
      </p:sp>
    </p:spTree>
    <p:extLst>
      <p:ext uri="{BB962C8B-B14F-4D97-AF65-F5344CB8AC3E}">
        <p14:creationId xmlns:p14="http://schemas.microsoft.com/office/powerpoint/2010/main" val="19278936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CE3C-242A-7E0D-77E1-1B9D521F7F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7AB39DE-5053-DD98-6428-191834BE0FDB}"/>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80F69BFB-80C9-41E1-DC09-3EC7D0F34458}"/>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 name="Text 1">
            <a:extLst>
              <a:ext uri="{FF2B5EF4-FFF2-40B4-BE49-F238E27FC236}">
                <a16:creationId xmlns:a16="http://schemas.microsoft.com/office/drawing/2014/main" id="{E4CE189B-BE67-FFF3-5CD9-C338C92600DB}"/>
              </a:ext>
            </a:extLst>
          </p:cNvPr>
          <p:cNvSpPr/>
          <p:nvPr/>
        </p:nvSpPr>
        <p:spPr>
          <a:xfrm>
            <a:off x="428625" y="136624"/>
            <a:ext cx="4248664" cy="314766"/>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Controladores Lógicos Programáveis (CLP)</a:t>
            </a:r>
            <a:endParaRPr lang="pt-BR" sz="1912" noProof="0" dirty="0"/>
          </a:p>
        </p:txBody>
      </p:sp>
      <p:pic>
        <p:nvPicPr>
          <p:cNvPr id="22" name="Imagem 21">
            <a:extLst>
              <a:ext uri="{FF2B5EF4-FFF2-40B4-BE49-F238E27FC236}">
                <a16:creationId xmlns:a16="http://schemas.microsoft.com/office/drawing/2014/main" id="{734048EC-5098-CB3D-DA96-88463A62939C}"/>
              </a:ext>
            </a:extLst>
          </p:cNvPr>
          <p:cNvPicPr>
            <a:picLocks noChangeAspect="1"/>
          </p:cNvPicPr>
          <p:nvPr/>
        </p:nvPicPr>
        <p:blipFill>
          <a:blip r:embed="rId4"/>
          <a:stretch>
            <a:fillRect/>
          </a:stretch>
        </p:blipFill>
        <p:spPr>
          <a:xfrm>
            <a:off x="4471424" y="1006857"/>
            <a:ext cx="395189" cy="2255494"/>
          </a:xfrm>
          <a:prstGeom prst="rect">
            <a:avLst/>
          </a:prstGeom>
        </p:spPr>
      </p:pic>
      <p:sp>
        <p:nvSpPr>
          <p:cNvPr id="5" name="CaixaDeTexto 3">
            <a:extLst>
              <a:ext uri="{FF2B5EF4-FFF2-40B4-BE49-F238E27FC236}">
                <a16:creationId xmlns:a16="http://schemas.microsoft.com/office/drawing/2014/main" id="{345FCE43-E699-026C-39B3-E300FD8EF371}"/>
              </a:ext>
            </a:extLst>
          </p:cNvPr>
          <p:cNvSpPr txBox="1"/>
          <p:nvPr/>
        </p:nvSpPr>
        <p:spPr>
          <a:xfrm>
            <a:off x="625658" y="1109771"/>
            <a:ext cx="7993409" cy="2062103"/>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A arquitetura dos </a:t>
            </a:r>
            <a:r>
              <a:rPr kumimoji="0" lang="pt-BR" altLang="pt-BR" sz="1600" b="0" i="0" u="none" strike="noStrike" cap="none" normalizeH="0" baseline="0" dirty="0" err="1">
                <a:ln>
                  <a:noFill/>
                </a:ln>
                <a:solidFill>
                  <a:schemeClr val="tx1"/>
                </a:solidFill>
                <a:effectLst/>
                <a:latin typeface="Trebuchet MS" panose="020B0603020202020204" pitchFamily="34" charset="0"/>
                <a:cs typeface="Calibri" panose="020F0502020204030204" pitchFamily="34" charset="0"/>
              </a:rPr>
              <a:t>CLPs</a:t>
            </a:r>
            <a:r>
              <a:rPr kumimoji="0" lang="pt-BR" altLang="pt-BR" sz="16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é o arranjo tecnológico que permite ler os sinais que chegam nas entradas do controlador, comparar com as informações que estão guardadas em suas memórias e atualizar os comandos enviados nas saídas.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pt-BR" altLang="pt-BR" sz="16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pt-BR" altLang="pt-BR" sz="16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Todos os CLP, independentemente do seu porte físico, apresentam uma arquitetura básica  composta de fonte de alimentação, CPU, interfaces de comunicação e módulos de entrada e saída.</a:t>
            </a:r>
          </a:p>
        </p:txBody>
      </p:sp>
      <p:pic>
        <p:nvPicPr>
          <p:cNvPr id="7" name="Imagem 2">
            <a:extLst>
              <a:ext uri="{FF2B5EF4-FFF2-40B4-BE49-F238E27FC236}">
                <a16:creationId xmlns:a16="http://schemas.microsoft.com/office/drawing/2014/main" id="{6AE1F6FA-3DD9-B85C-A13F-C80307D11D51}"/>
              </a:ext>
            </a:extLst>
          </p:cNvPr>
          <p:cNvPicPr>
            <a:picLocks noChangeAspect="1"/>
          </p:cNvPicPr>
          <p:nvPr/>
        </p:nvPicPr>
        <p:blipFill>
          <a:blip r:embed="rId5"/>
          <a:stretch>
            <a:fillRect/>
          </a:stretch>
        </p:blipFill>
        <p:spPr>
          <a:xfrm>
            <a:off x="793887" y="3366444"/>
            <a:ext cx="2482120" cy="1214863"/>
          </a:xfrm>
          <a:prstGeom prst="rect">
            <a:avLst/>
          </a:prstGeom>
        </p:spPr>
      </p:pic>
      <p:pic>
        <p:nvPicPr>
          <p:cNvPr id="10" name="Imagem 3">
            <a:extLst>
              <a:ext uri="{FF2B5EF4-FFF2-40B4-BE49-F238E27FC236}">
                <a16:creationId xmlns:a16="http://schemas.microsoft.com/office/drawing/2014/main" id="{227197B2-23F9-310F-FB3E-CCF66D92CD43}"/>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t="17653" b="15234"/>
          <a:stretch/>
        </p:blipFill>
        <p:spPr>
          <a:xfrm>
            <a:off x="3623922" y="3274788"/>
            <a:ext cx="2090192" cy="1402782"/>
          </a:xfrm>
          <a:prstGeom prst="rect">
            <a:avLst/>
          </a:prstGeom>
        </p:spPr>
      </p:pic>
      <p:pic>
        <p:nvPicPr>
          <p:cNvPr id="11" name="Imagem 1">
            <a:extLst>
              <a:ext uri="{FF2B5EF4-FFF2-40B4-BE49-F238E27FC236}">
                <a16:creationId xmlns:a16="http://schemas.microsoft.com/office/drawing/2014/main" id="{72F14AB9-C50E-76C2-BD70-699B7757DCD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74844" y="3239033"/>
            <a:ext cx="2549830" cy="1589392"/>
          </a:xfrm>
          <a:prstGeom prst="rect">
            <a:avLst/>
          </a:prstGeom>
        </p:spPr>
      </p:pic>
      <p:sp>
        <p:nvSpPr>
          <p:cNvPr id="12" name="Text 16">
            <a:extLst>
              <a:ext uri="{FF2B5EF4-FFF2-40B4-BE49-F238E27FC236}">
                <a16:creationId xmlns:a16="http://schemas.microsoft.com/office/drawing/2014/main" id="{5AEF80AE-5E3F-1D00-34D4-37609CF80934}"/>
              </a:ext>
            </a:extLst>
          </p:cNvPr>
          <p:cNvSpPr/>
          <p:nvPr/>
        </p:nvSpPr>
        <p:spPr>
          <a:xfrm>
            <a:off x="1941096" y="4786090"/>
            <a:ext cx="5261807" cy="246221"/>
          </a:xfrm>
          <a:prstGeom prst="rect">
            <a:avLst/>
          </a:prstGeom>
          <a:noFill/>
          <a:ln/>
        </p:spPr>
        <p:txBody>
          <a:bodyPr wrap="square" lIns="0" tIns="0" rIns="0" bIns="0" rtlCol="0" anchor="t">
            <a:spAutoFit/>
          </a:bodyPr>
          <a:lstStyle/>
          <a:p>
            <a:pPr algn="just"/>
            <a:r>
              <a:rPr lang="pt-BR" altLang="pt-BR" sz="800" dirty="0">
                <a:latin typeface="Trebuchet MS" panose="020B0603020202020204" pitchFamily="34" charset="0"/>
                <a:cs typeface="Calibri" panose="020F0502020204030204" pitchFamily="34" charset="0"/>
              </a:rPr>
              <a:t>A indústria assim como outros setores tecnológicos adotam sinais padronizados de comando e controle, isto permite que o CLP possa ser reprogramado para um novo processo com pouca ou nenhuma  inclusão de hardware.</a:t>
            </a:r>
            <a:endParaRPr lang="pt-BR" altLang="pt-BR" sz="800" dirty="0">
              <a:solidFill>
                <a:srgbClr val="FF0000"/>
              </a:solidFill>
              <a:latin typeface="Trebuchet MS" panose="020B0603020202020204" pitchFamily="34" charset="0"/>
              <a:cs typeface="Calibri" panose="020F0502020204030204" pitchFamily="34" charset="0"/>
            </a:endParaRPr>
          </a:p>
        </p:txBody>
      </p:sp>
    </p:spTree>
    <p:extLst>
      <p:ext uri="{BB962C8B-B14F-4D97-AF65-F5344CB8AC3E}">
        <p14:creationId xmlns:p14="http://schemas.microsoft.com/office/powerpoint/2010/main" val="3958604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CE3C-242A-7E0D-77E1-1B9D521F7F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7AB39DE-5053-DD98-6428-191834BE0FDB}"/>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80F69BFB-80C9-41E1-DC09-3EC7D0F34458}"/>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 name="Text 1">
            <a:extLst>
              <a:ext uri="{FF2B5EF4-FFF2-40B4-BE49-F238E27FC236}">
                <a16:creationId xmlns:a16="http://schemas.microsoft.com/office/drawing/2014/main" id="{E4CE189B-BE67-FFF3-5CD9-C338C92600DB}"/>
              </a:ext>
            </a:extLst>
          </p:cNvPr>
          <p:cNvSpPr/>
          <p:nvPr/>
        </p:nvSpPr>
        <p:spPr>
          <a:xfrm>
            <a:off x="428625" y="136624"/>
            <a:ext cx="2273058" cy="314766"/>
          </a:xfrm>
          <a:prstGeom prst="rect">
            <a:avLst/>
          </a:prstGeom>
          <a:noFill/>
          <a:ln/>
        </p:spPr>
        <p:txBody>
          <a:bodyPr wrap="none" lIns="0" tIns="0" rIns="0" bIns="0" rtlCol="0" anchor="t">
            <a:spAutoFit/>
          </a:bodyPr>
          <a:lstStyle/>
          <a:p>
            <a:pPr marL="0" indent="0" algn="l">
              <a:lnSpc>
                <a:spcPts val="2600"/>
              </a:lnSpc>
              <a:buNone/>
            </a:pPr>
            <a:r>
              <a:rPr lang="pt-BR" sz="1912" b="1" noProof="0" dirty="0">
                <a:solidFill>
                  <a:srgbClr val="FFFFFF"/>
                </a:solidFill>
              </a:rPr>
              <a:t>Classificação dos </a:t>
            </a:r>
            <a:r>
              <a:rPr lang="pt-BR" sz="1912" b="1" noProof="0" dirty="0" err="1">
                <a:solidFill>
                  <a:srgbClr val="FFFFFF"/>
                </a:solidFill>
              </a:rPr>
              <a:t>CLP’s</a:t>
            </a:r>
            <a:endParaRPr lang="pt-BR" sz="1912" b="1" noProof="0" dirty="0">
              <a:solidFill>
                <a:srgbClr val="FFFFFF"/>
              </a:solidFill>
            </a:endParaRPr>
          </a:p>
        </p:txBody>
      </p:sp>
      <p:pic>
        <p:nvPicPr>
          <p:cNvPr id="22" name="Imagem 21">
            <a:extLst>
              <a:ext uri="{FF2B5EF4-FFF2-40B4-BE49-F238E27FC236}">
                <a16:creationId xmlns:a16="http://schemas.microsoft.com/office/drawing/2014/main" id="{734048EC-5098-CB3D-DA96-88463A62939C}"/>
              </a:ext>
            </a:extLst>
          </p:cNvPr>
          <p:cNvPicPr>
            <a:picLocks noChangeAspect="1"/>
          </p:cNvPicPr>
          <p:nvPr/>
        </p:nvPicPr>
        <p:blipFill>
          <a:blip r:embed="rId4"/>
          <a:stretch>
            <a:fillRect/>
          </a:stretch>
        </p:blipFill>
        <p:spPr>
          <a:xfrm>
            <a:off x="378619" y="2144683"/>
            <a:ext cx="186928" cy="1066868"/>
          </a:xfrm>
          <a:prstGeom prst="rect">
            <a:avLst/>
          </a:prstGeom>
        </p:spPr>
      </p:pic>
      <p:pic>
        <p:nvPicPr>
          <p:cNvPr id="23" name="Imagem 22">
            <a:extLst>
              <a:ext uri="{FF2B5EF4-FFF2-40B4-BE49-F238E27FC236}">
                <a16:creationId xmlns:a16="http://schemas.microsoft.com/office/drawing/2014/main" id="{798B3796-1250-BD47-6772-903CD3BCE562}"/>
              </a:ext>
            </a:extLst>
          </p:cNvPr>
          <p:cNvPicPr>
            <a:picLocks noChangeAspect="1"/>
          </p:cNvPicPr>
          <p:nvPr/>
        </p:nvPicPr>
        <p:blipFill>
          <a:blip r:embed="rId4"/>
          <a:stretch>
            <a:fillRect/>
          </a:stretch>
        </p:blipFill>
        <p:spPr>
          <a:xfrm>
            <a:off x="4542814" y="956057"/>
            <a:ext cx="186928" cy="2270361"/>
          </a:xfrm>
          <a:prstGeom prst="rect">
            <a:avLst/>
          </a:prstGeom>
        </p:spPr>
      </p:pic>
      <p:pic>
        <p:nvPicPr>
          <p:cNvPr id="27" name="Picture 13">
            <a:extLst>
              <a:ext uri="{FF2B5EF4-FFF2-40B4-BE49-F238E27FC236}">
                <a16:creationId xmlns:a16="http://schemas.microsoft.com/office/drawing/2014/main" id="{5EDED477-AABC-0D95-35B9-08D51700CDD6}"/>
              </a:ext>
            </a:extLst>
          </p:cNvPr>
          <p:cNvPicPr>
            <a:picLocks noChangeAspect="1"/>
          </p:cNvPicPr>
          <p:nvPr/>
        </p:nvPicPr>
        <p:blipFill>
          <a:blip r:embed="rId5"/>
          <a:stretch>
            <a:fillRect/>
          </a:stretch>
        </p:blipFill>
        <p:spPr>
          <a:xfrm>
            <a:off x="7727426" y="4404597"/>
            <a:ext cx="1239442" cy="531189"/>
          </a:xfrm>
          <a:prstGeom prst="rect">
            <a:avLst/>
          </a:prstGeom>
        </p:spPr>
      </p:pic>
      <p:sp>
        <p:nvSpPr>
          <p:cNvPr id="5" name="CaixaDeTexto 3">
            <a:extLst>
              <a:ext uri="{FF2B5EF4-FFF2-40B4-BE49-F238E27FC236}">
                <a16:creationId xmlns:a16="http://schemas.microsoft.com/office/drawing/2014/main" id="{7BE5AC77-E7D0-E5BE-4D97-AAC73B4C118E}"/>
              </a:ext>
            </a:extLst>
          </p:cNvPr>
          <p:cNvSpPr txBox="1"/>
          <p:nvPr/>
        </p:nvSpPr>
        <p:spPr>
          <a:xfrm>
            <a:off x="565547" y="1122138"/>
            <a:ext cx="8199834" cy="338554"/>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Os </a:t>
            </a:r>
            <a:r>
              <a:rPr kumimoji="0" lang="pt-BR" altLang="pt-BR" sz="1600" b="0" i="0" u="none" strike="noStrike" cap="none" normalizeH="0" baseline="0" dirty="0" err="1">
                <a:ln>
                  <a:noFill/>
                </a:ln>
                <a:solidFill>
                  <a:schemeClr val="tx1"/>
                </a:solidFill>
                <a:effectLst/>
                <a:latin typeface="Trebuchet MS" panose="020B0603020202020204" pitchFamily="34" charset="0"/>
                <a:cs typeface="Calibri" panose="020F0502020204030204" pitchFamily="34" charset="0"/>
              </a:rPr>
              <a:t>CLP’s</a:t>
            </a:r>
            <a:r>
              <a:rPr kumimoji="0" lang="pt-BR" altLang="pt-BR" sz="1600" b="0" i="0" u="none" strike="noStrike" cap="none" normalizeH="0" baseline="0" dirty="0">
                <a:ln>
                  <a:noFill/>
                </a:ln>
                <a:solidFill>
                  <a:schemeClr val="tx1"/>
                </a:solidFill>
                <a:effectLst/>
                <a:latin typeface="Trebuchet MS" panose="020B0603020202020204" pitchFamily="34" charset="0"/>
                <a:cs typeface="Calibri" panose="020F0502020204030204" pitchFamily="34" charset="0"/>
              </a:rPr>
              <a:t> podem ser classificados pelo seu porte:</a:t>
            </a:r>
          </a:p>
        </p:txBody>
      </p:sp>
      <p:pic>
        <p:nvPicPr>
          <p:cNvPr id="6" name="Picture 4" descr="Compre Clp Logo Siemens V8 6ed1052 1md08 0ba0 12/24rce Ethernet aqui na  Movi Automação | A melhor empresa de Equipamentos de Automação.">
            <a:extLst>
              <a:ext uri="{FF2B5EF4-FFF2-40B4-BE49-F238E27FC236}">
                <a16:creationId xmlns:a16="http://schemas.microsoft.com/office/drawing/2014/main" id="{D0967C3F-E1A6-8515-9E36-FB0A5EF78316}"/>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526574" y="1992283"/>
            <a:ext cx="1689814" cy="172078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Controladores Lógico Programáveis (CLP) WEG - Clic02 - CLW-02 12HR-D 3RD">
            <a:extLst>
              <a:ext uri="{FF2B5EF4-FFF2-40B4-BE49-F238E27FC236}">
                <a16:creationId xmlns:a16="http://schemas.microsoft.com/office/drawing/2014/main" id="{70C94760-C1CB-C0C4-ADBC-5AF1B30B375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79" y="1361170"/>
            <a:ext cx="1720789" cy="172078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CLP SR2B121FU - Relé Inteligente C/ Display C/ Relógio 8 [...] - Coopera -  Soluções Elétricas">
            <a:extLst>
              <a:ext uri="{FF2B5EF4-FFF2-40B4-BE49-F238E27FC236}">
                <a16:creationId xmlns:a16="http://schemas.microsoft.com/office/drawing/2014/main" id="{FDAD19C4-DF29-54E6-C54D-903A11974FB3}"/>
              </a:ext>
            </a:extLst>
          </p:cNvPr>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1881" y="2896636"/>
            <a:ext cx="1571155" cy="1571155"/>
          </a:xfrm>
          <a:prstGeom prst="rect">
            <a:avLst/>
          </a:prstGeom>
          <a:noFill/>
          <a:extLst>
            <a:ext uri="{909E8E84-426E-40DD-AFC4-6F175D3DCCD1}">
              <a14:hiddenFill xmlns:a14="http://schemas.microsoft.com/office/drawing/2010/main">
                <a:solidFill>
                  <a:srgbClr val="FFFFFF"/>
                </a:solidFill>
              </a14:hiddenFill>
            </a:ext>
          </a:extLst>
        </p:spPr>
      </p:pic>
      <p:sp>
        <p:nvSpPr>
          <p:cNvPr id="10" name="CaixaDeTexto 9">
            <a:extLst>
              <a:ext uri="{FF2B5EF4-FFF2-40B4-BE49-F238E27FC236}">
                <a16:creationId xmlns:a16="http://schemas.microsoft.com/office/drawing/2014/main" id="{81A2E3E4-2B13-E59E-C0E0-F0EC47F0B178}"/>
              </a:ext>
            </a:extLst>
          </p:cNvPr>
          <p:cNvSpPr txBox="1"/>
          <p:nvPr/>
        </p:nvSpPr>
        <p:spPr>
          <a:xfrm>
            <a:off x="1244653" y="3739965"/>
            <a:ext cx="2129108" cy="830997"/>
          </a:xfrm>
          <a:prstGeom prst="rect">
            <a:avLst/>
          </a:prstGeom>
          <a:noFill/>
        </p:spPr>
        <p:txBody>
          <a:bodyPr wrap="square" rtlCol="0">
            <a:spAutoFit/>
          </a:bodyPr>
          <a:lstStyle/>
          <a:p>
            <a:pPr algn="ctr"/>
            <a:r>
              <a:rPr lang="pt-BR" sz="1600" b="1" dirty="0">
                <a:latin typeface="Agency FB" panose="020B0503020202020204" pitchFamily="34" charset="0"/>
              </a:rPr>
              <a:t>PEQUENO PORTE</a:t>
            </a:r>
          </a:p>
          <a:p>
            <a:pPr algn="ctr"/>
            <a:r>
              <a:rPr lang="pt-BR" sz="1400" b="1" dirty="0">
                <a:latin typeface="Agency FB" panose="020B0503020202020204" pitchFamily="34" charset="0"/>
              </a:rPr>
              <a:t>Micro</a:t>
            </a:r>
            <a:r>
              <a:rPr lang="pt-BR" sz="1600" b="1" dirty="0">
                <a:latin typeface="Agency FB" panose="020B0503020202020204" pitchFamily="34" charset="0"/>
              </a:rPr>
              <a:t> CLP</a:t>
            </a:r>
          </a:p>
          <a:p>
            <a:pPr algn="ctr"/>
            <a:r>
              <a:rPr lang="pt-BR" sz="1600" b="1" dirty="0">
                <a:latin typeface="Agency FB" panose="020B0503020202020204" pitchFamily="34" charset="0"/>
              </a:rPr>
              <a:t>Rele programável </a:t>
            </a:r>
          </a:p>
        </p:txBody>
      </p:sp>
      <p:pic>
        <p:nvPicPr>
          <p:cNvPr id="11" name="Picture 8" descr="CLP SIMATIC S7-1200 | Controladores SIMATIC | Siemens Siemens Brasil">
            <a:extLst>
              <a:ext uri="{FF2B5EF4-FFF2-40B4-BE49-F238E27FC236}">
                <a16:creationId xmlns:a16="http://schemas.microsoft.com/office/drawing/2014/main" id="{9F4C4271-0F93-F6A5-3058-D6E35661CA81}"/>
              </a:ext>
            </a:extLst>
          </p:cNvPr>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47363" y="2864974"/>
            <a:ext cx="3156522" cy="1773264"/>
          </a:xfrm>
          <a:prstGeom prst="rect">
            <a:avLst/>
          </a:prstGeom>
          <a:noFill/>
          <a:extLst>
            <a:ext uri="{909E8E84-426E-40DD-AFC4-6F175D3DCCD1}">
              <a14:hiddenFill xmlns:a14="http://schemas.microsoft.com/office/drawing/2010/main">
                <a:solidFill>
                  <a:srgbClr val="FFFFFF"/>
                </a:solidFill>
              </a14:hiddenFill>
            </a:ext>
          </a:extLst>
        </p:spPr>
      </p:pic>
      <p:sp>
        <p:nvSpPr>
          <p:cNvPr id="12" name="CaixaDeTexto 10">
            <a:extLst>
              <a:ext uri="{FF2B5EF4-FFF2-40B4-BE49-F238E27FC236}">
                <a16:creationId xmlns:a16="http://schemas.microsoft.com/office/drawing/2014/main" id="{A51B8F2E-CF39-4CA5-7BA6-700360BAAD4D}"/>
              </a:ext>
            </a:extLst>
          </p:cNvPr>
          <p:cNvSpPr txBox="1"/>
          <p:nvPr/>
        </p:nvSpPr>
        <p:spPr>
          <a:xfrm>
            <a:off x="4330937" y="2544900"/>
            <a:ext cx="989373" cy="307777"/>
          </a:xfrm>
          <a:prstGeom prst="rect">
            <a:avLst/>
          </a:prstGeom>
          <a:noFill/>
        </p:spPr>
        <p:txBody>
          <a:bodyPr wrap="none" rtlCol="0">
            <a:spAutoFit/>
          </a:bodyPr>
          <a:lstStyle/>
          <a:p>
            <a:pPr algn="ctr"/>
            <a:r>
              <a:rPr lang="pt-BR" sz="1400" b="1" dirty="0">
                <a:latin typeface="Agency FB" panose="020B0503020202020204" pitchFamily="34" charset="0"/>
              </a:rPr>
              <a:t>MÉDIO PORTE</a:t>
            </a:r>
          </a:p>
        </p:txBody>
      </p:sp>
      <p:pic>
        <p:nvPicPr>
          <p:cNvPr id="13" name="Picture 12" descr="Central processing units | SIMATIC S7-1500 | Siemens Global">
            <a:extLst>
              <a:ext uri="{FF2B5EF4-FFF2-40B4-BE49-F238E27FC236}">
                <a16:creationId xmlns:a16="http://schemas.microsoft.com/office/drawing/2014/main" id="{891DF520-1985-590A-6584-C41C11AD6907}"/>
              </a:ext>
            </a:extLst>
          </p:cNvPr>
          <p:cNvPicPr>
            <a:picLocks noChangeAspect="1" noChangeArrowheads="1"/>
          </p:cNvPicPr>
          <p:nvPr/>
        </p:nvPicPr>
        <p:blipFill>
          <a:blip r:embed="rId10">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525228" y="0"/>
            <a:ext cx="3976178" cy="2385774"/>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4" descr="Série Nexto | Produtos | Altus">
            <a:extLst>
              <a:ext uri="{FF2B5EF4-FFF2-40B4-BE49-F238E27FC236}">
                <a16:creationId xmlns:a16="http://schemas.microsoft.com/office/drawing/2014/main" id="{C96B22FD-A944-8A62-3A48-AF16BBD1B4B8}"/>
              </a:ext>
            </a:extLst>
          </p:cNvPr>
          <p:cNvPicPr>
            <a:picLocks noChangeAspect="1" noChangeArrowheads="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362026" y="1729167"/>
            <a:ext cx="2629184" cy="1567494"/>
          </a:xfrm>
          <a:prstGeom prst="rect">
            <a:avLst/>
          </a:prstGeom>
          <a:noFill/>
          <a:extLst>
            <a:ext uri="{909E8E84-426E-40DD-AFC4-6F175D3DCCD1}">
              <a14:hiddenFill xmlns:a14="http://schemas.microsoft.com/office/drawing/2010/main">
                <a:solidFill>
                  <a:srgbClr val="FFFFFF"/>
                </a:solidFill>
              </a14:hiddenFill>
            </a:ext>
          </a:extLst>
        </p:spPr>
      </p:pic>
      <p:sp>
        <p:nvSpPr>
          <p:cNvPr id="15" name="CaixaDeTexto 11">
            <a:extLst>
              <a:ext uri="{FF2B5EF4-FFF2-40B4-BE49-F238E27FC236}">
                <a16:creationId xmlns:a16="http://schemas.microsoft.com/office/drawing/2014/main" id="{ADD68897-EDB5-8EC9-E9A7-6D9D2F555CE0}"/>
              </a:ext>
            </a:extLst>
          </p:cNvPr>
          <p:cNvSpPr txBox="1"/>
          <p:nvPr/>
        </p:nvSpPr>
        <p:spPr>
          <a:xfrm>
            <a:off x="7119207" y="3210393"/>
            <a:ext cx="1067789" cy="523220"/>
          </a:xfrm>
          <a:prstGeom prst="rect">
            <a:avLst/>
          </a:prstGeom>
          <a:noFill/>
        </p:spPr>
        <p:txBody>
          <a:bodyPr wrap="square" rtlCol="0">
            <a:spAutoFit/>
          </a:bodyPr>
          <a:lstStyle/>
          <a:p>
            <a:pPr algn="ctr"/>
            <a:r>
              <a:rPr lang="pt-BR" sz="1400" b="1" dirty="0">
                <a:latin typeface="Agency FB" panose="020B0503020202020204" pitchFamily="34" charset="0"/>
              </a:rPr>
              <a:t>GRANDE PORTE</a:t>
            </a:r>
          </a:p>
        </p:txBody>
      </p:sp>
    </p:spTree>
    <p:extLst>
      <p:ext uri="{BB962C8B-B14F-4D97-AF65-F5344CB8AC3E}">
        <p14:creationId xmlns:p14="http://schemas.microsoft.com/office/powerpoint/2010/main" val="18676908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B24C6-3FB7-5749-0090-95FEBC701871}"/>
            </a:ext>
          </a:extLst>
        </p:cNvPr>
        <p:cNvGrpSpPr/>
        <p:nvPr/>
      </p:nvGrpSpPr>
      <p:grpSpPr>
        <a:xfrm>
          <a:off x="0" y="0"/>
          <a:ext cx="0" cy="0"/>
          <a:chOff x="0" y="0"/>
          <a:chExt cx="0" cy="0"/>
        </a:xfrm>
      </p:grpSpPr>
      <p:sp>
        <p:nvSpPr>
          <p:cNvPr id="18" name="Text 14">
            <a:extLst>
              <a:ext uri="{FF2B5EF4-FFF2-40B4-BE49-F238E27FC236}">
                <a16:creationId xmlns:a16="http://schemas.microsoft.com/office/drawing/2014/main" id="{37E5C64C-E3F0-A4FF-8B0A-D11ECF4007D5}"/>
              </a:ext>
            </a:extLst>
          </p:cNvPr>
          <p:cNvSpPr/>
          <p:nvPr/>
        </p:nvSpPr>
        <p:spPr>
          <a:xfrm>
            <a:off x="428625" y="3679031"/>
            <a:ext cx="285750" cy="285750"/>
          </a:xfrm>
          <a:prstGeom prst="rect">
            <a:avLst/>
          </a:prstGeom>
          <a:noFill/>
          <a:ln/>
        </p:spPr>
        <p:txBody>
          <a:bodyPr wrap="square" lIns="0" tIns="0" rIns="0" bIns="0" rtlCol="0" anchor="ctr">
            <a:spAutoFit/>
          </a:bodyPr>
          <a:lstStyle/>
          <a:p>
            <a:pPr marL="0" indent="0" algn="ctr">
              <a:lnSpc>
                <a:spcPts val="1400"/>
              </a:lnSpc>
              <a:buNone/>
            </a:pPr>
            <a:r>
              <a:rPr lang="pt-BR" sz="987" b="1" noProof="0" dirty="0">
                <a:solidFill>
                  <a:srgbClr val="FFFFFF"/>
                </a:solidFill>
              </a:rPr>
              <a:t>4</a:t>
            </a:r>
            <a:endParaRPr lang="pt-BR" sz="987" noProof="0" dirty="0"/>
          </a:p>
        </p:txBody>
      </p:sp>
      <p:sp>
        <p:nvSpPr>
          <p:cNvPr id="22" name="Text 18">
            <a:extLst>
              <a:ext uri="{FF2B5EF4-FFF2-40B4-BE49-F238E27FC236}">
                <a16:creationId xmlns:a16="http://schemas.microsoft.com/office/drawing/2014/main" id="{849DD153-2C11-C5FD-FFA4-B2C4723BF2B0}"/>
              </a:ext>
            </a:extLst>
          </p:cNvPr>
          <p:cNvSpPr/>
          <p:nvPr/>
        </p:nvSpPr>
        <p:spPr>
          <a:xfrm>
            <a:off x="3238491" y="3679031"/>
            <a:ext cx="285750" cy="285750"/>
          </a:xfrm>
          <a:prstGeom prst="rect">
            <a:avLst/>
          </a:prstGeom>
          <a:noFill/>
          <a:ln/>
        </p:spPr>
        <p:txBody>
          <a:bodyPr wrap="square" lIns="0" tIns="0" rIns="0" bIns="0" rtlCol="0" anchor="ctr">
            <a:spAutoFit/>
          </a:bodyPr>
          <a:lstStyle/>
          <a:p>
            <a:pPr marL="0" indent="0" algn="ctr">
              <a:lnSpc>
                <a:spcPts val="1400"/>
              </a:lnSpc>
              <a:buNone/>
            </a:pPr>
            <a:r>
              <a:rPr lang="pt-BR" sz="987" b="1" noProof="0" dirty="0">
                <a:solidFill>
                  <a:srgbClr val="FFFFFF"/>
                </a:solidFill>
              </a:rPr>
              <a:t>5</a:t>
            </a:r>
            <a:endParaRPr lang="pt-BR" sz="987" noProof="0" dirty="0"/>
          </a:p>
        </p:txBody>
      </p:sp>
      <p:sp>
        <p:nvSpPr>
          <p:cNvPr id="26" name="Text 22">
            <a:extLst>
              <a:ext uri="{FF2B5EF4-FFF2-40B4-BE49-F238E27FC236}">
                <a16:creationId xmlns:a16="http://schemas.microsoft.com/office/drawing/2014/main" id="{E221F78D-441A-A232-6547-AE7E42F80935}"/>
              </a:ext>
            </a:extLst>
          </p:cNvPr>
          <p:cNvSpPr/>
          <p:nvPr/>
        </p:nvSpPr>
        <p:spPr>
          <a:xfrm>
            <a:off x="6048356" y="3679031"/>
            <a:ext cx="285750" cy="285750"/>
          </a:xfrm>
          <a:prstGeom prst="rect">
            <a:avLst/>
          </a:prstGeom>
          <a:noFill/>
          <a:ln/>
        </p:spPr>
        <p:txBody>
          <a:bodyPr wrap="square" lIns="0" tIns="0" rIns="0" bIns="0" rtlCol="0" anchor="ctr">
            <a:spAutoFit/>
          </a:bodyPr>
          <a:lstStyle/>
          <a:p>
            <a:pPr marL="0" indent="0" algn="ctr">
              <a:lnSpc>
                <a:spcPts val="1400"/>
              </a:lnSpc>
              <a:buNone/>
            </a:pPr>
            <a:r>
              <a:rPr lang="pt-BR" sz="987" b="1" noProof="0" dirty="0">
                <a:solidFill>
                  <a:srgbClr val="FFFFFF"/>
                </a:solidFill>
              </a:rPr>
              <a:t>6</a:t>
            </a:r>
            <a:endParaRPr lang="pt-BR" sz="987" noProof="0" dirty="0"/>
          </a:p>
        </p:txBody>
      </p:sp>
      <p:pic>
        <p:nvPicPr>
          <p:cNvPr id="3" name="Picture 2">
            <a:extLst>
              <a:ext uri="{FF2B5EF4-FFF2-40B4-BE49-F238E27FC236}">
                <a16:creationId xmlns:a16="http://schemas.microsoft.com/office/drawing/2014/main" id="{03367827-54ED-B04A-F14B-1800E31C246E}"/>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1153132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642938"/>
          </a:xfrm>
          <a:prstGeom prst="rect">
            <a:avLst/>
          </a:prstGeom>
          <a:solidFill>
            <a:srgbClr val="004A99"/>
          </a:solidFill>
          <a:ln/>
        </p:spPr>
        <p:txBody>
          <a:bodyPr/>
          <a:lstStyle/>
          <a:p>
            <a:endParaRPr lang="pt-BR"/>
          </a:p>
        </p:txBody>
      </p:sp>
      <p:sp>
        <p:nvSpPr>
          <p:cNvPr id="4" name="Text 1"/>
          <p:cNvSpPr/>
          <p:nvPr/>
        </p:nvSpPr>
        <p:spPr>
          <a:xfrm>
            <a:off x="428625" y="170557"/>
            <a:ext cx="5709642" cy="301823"/>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FFFF"/>
                </a:solidFill>
                <a:latin typeface="Roboto" pitchFamily="34" charset="0"/>
                <a:ea typeface="Roboto" pitchFamily="34" charset="-122"/>
                <a:cs typeface="Roboto" pitchFamily="34" charset="-120"/>
              </a:rPr>
              <a:t>Redes Industriais: Conectando o Chão de Fábrica</a:t>
            </a:r>
            <a:endParaRPr lang="en-US" sz="1808" dirty="0"/>
          </a:p>
        </p:txBody>
      </p:sp>
      <p:sp>
        <p:nvSpPr>
          <p:cNvPr id="5" name="Text 2"/>
          <p:cNvSpPr/>
          <p:nvPr/>
        </p:nvSpPr>
        <p:spPr>
          <a:xfrm>
            <a:off x="428625" y="857250"/>
            <a:ext cx="5200650" cy="151805"/>
          </a:xfrm>
          <a:prstGeom prst="rect">
            <a:avLst/>
          </a:prstGeom>
          <a:noFill/>
          <a:ln/>
        </p:spPr>
        <p:txBody>
          <a:bodyPr wrap="none" lIns="127508" tIns="0" rIns="0" bIns="0" rtlCol="0" anchor="t">
            <a:spAutoFit/>
          </a:bodyPr>
          <a:lstStyle/>
          <a:p>
            <a:pPr marL="0" indent="0" algn="l">
              <a:lnSpc>
                <a:spcPts val="1200"/>
              </a:lnSpc>
              <a:buNone/>
            </a:pPr>
            <a:r>
              <a:rPr lang="en-US" sz="885" b="1" kern="0" spc="1" dirty="0">
                <a:solidFill>
                  <a:srgbClr val="0066CC"/>
                </a:solidFill>
                <a:latin typeface="Roboto" pitchFamily="34" charset="0"/>
                <a:ea typeface="Roboto" pitchFamily="34" charset="-122"/>
                <a:cs typeface="Roboto" pitchFamily="34" charset="-120"/>
              </a:rPr>
              <a:t>TOPOLOGIAS DE REDE</a:t>
            </a:r>
            <a:endParaRPr lang="en-US" sz="885" dirty="0"/>
          </a:p>
        </p:txBody>
      </p:sp>
      <p:sp>
        <p:nvSpPr>
          <p:cNvPr id="6" name="Shape 3"/>
          <p:cNvSpPr/>
          <p:nvPr/>
        </p:nvSpPr>
        <p:spPr>
          <a:xfrm>
            <a:off x="428625" y="1116211"/>
            <a:ext cx="5200650" cy="642547"/>
          </a:xfrm>
          <a:prstGeom prst="rect">
            <a:avLst/>
          </a:prstGeom>
          <a:solidFill>
            <a:srgbClr val="F8F9FA"/>
          </a:solidFill>
          <a:ln w="9144">
            <a:solidFill>
              <a:srgbClr val="E0E0E0"/>
            </a:solidFill>
            <a:prstDash val="solid"/>
          </a:ln>
        </p:spPr>
        <p:txBody>
          <a:bodyPr/>
          <a:lstStyle/>
          <a:p>
            <a:endParaRPr lang="pt-BR"/>
          </a:p>
        </p:txBody>
      </p:sp>
      <p:pic>
        <p:nvPicPr>
          <p:cNvPr id="7" name="Image 1" descr="preencoded.png"/>
          <p:cNvPicPr>
            <a:picLocks noChangeAspect="1"/>
          </p:cNvPicPr>
          <p:nvPr/>
        </p:nvPicPr>
        <p:blipFill>
          <a:blip r:embed="rId4"/>
          <a:stretch>
            <a:fillRect/>
          </a:stretch>
        </p:blipFill>
        <p:spPr>
          <a:xfrm>
            <a:off x="538516" y="1232297"/>
            <a:ext cx="192881" cy="171450"/>
          </a:xfrm>
          <a:prstGeom prst="rect">
            <a:avLst/>
          </a:prstGeom>
        </p:spPr>
      </p:pic>
      <p:sp>
        <p:nvSpPr>
          <p:cNvPr id="8" name="Text 4"/>
          <p:cNvSpPr/>
          <p:nvPr/>
        </p:nvSpPr>
        <p:spPr>
          <a:xfrm>
            <a:off x="877035" y="1223367"/>
            <a:ext cx="4645084" cy="133945"/>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2C3E50"/>
                </a:solidFill>
                <a:latin typeface="Roboto" pitchFamily="34" charset="0"/>
                <a:ea typeface="Roboto" pitchFamily="34" charset="-122"/>
                <a:cs typeface="Roboto" pitchFamily="34" charset="-120"/>
              </a:rPr>
              <a:t>Topologia em Estrela</a:t>
            </a:r>
            <a:endParaRPr lang="en-US" sz="784" dirty="0"/>
          </a:p>
        </p:txBody>
      </p:sp>
      <p:sp>
        <p:nvSpPr>
          <p:cNvPr id="9" name="Text 5"/>
          <p:cNvSpPr/>
          <p:nvPr/>
        </p:nvSpPr>
        <p:spPr>
          <a:xfrm>
            <a:off x="877035" y="1393031"/>
            <a:ext cx="4645084"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34495E"/>
                </a:solidFill>
                <a:latin typeface="Roboto" pitchFamily="34" charset="0"/>
                <a:ea typeface="Roboto" pitchFamily="34" charset="-122"/>
                <a:cs typeface="Roboto" pitchFamily="34" charset="-120"/>
              </a:rPr>
              <a:t>Dispositivos conectados a um </a:t>
            </a:r>
            <a:r>
              <a:rPr lang="en-US" sz="683" b="1" dirty="0">
                <a:solidFill>
                  <a:srgbClr val="34495E"/>
                </a:solidFill>
                <a:latin typeface="Roboto" pitchFamily="34" charset="0"/>
                <a:ea typeface="Roboto" pitchFamily="34" charset="-122"/>
                <a:cs typeface="Roboto" pitchFamily="34" charset="-120"/>
              </a:rPr>
              <a:t>switch central</a:t>
            </a:r>
            <a:r>
              <a:rPr lang="en-US" sz="727" dirty="0">
                <a:solidFill>
                  <a:srgbClr val="34495E"/>
                </a:solidFill>
                <a:latin typeface="Roboto" pitchFamily="34" charset="0"/>
                <a:ea typeface="Roboto" pitchFamily="34" charset="-122"/>
                <a:cs typeface="Roboto" pitchFamily="34" charset="-120"/>
              </a:rPr>
              <a:t>. Facilita o diagnóstico e isolamento de falhas em cabos individuais.</a:t>
            </a:r>
            <a:endParaRPr lang="en-US" sz="727" dirty="0"/>
          </a:p>
        </p:txBody>
      </p:sp>
      <p:sp>
        <p:nvSpPr>
          <p:cNvPr id="10" name="Shape 6"/>
          <p:cNvSpPr/>
          <p:nvPr/>
        </p:nvSpPr>
        <p:spPr>
          <a:xfrm>
            <a:off x="428625" y="1851627"/>
            <a:ext cx="5200650" cy="642547"/>
          </a:xfrm>
          <a:prstGeom prst="rect">
            <a:avLst/>
          </a:prstGeom>
          <a:solidFill>
            <a:srgbClr val="F8F9FA"/>
          </a:solidFill>
          <a:ln w="9144">
            <a:solidFill>
              <a:srgbClr val="E0E0E0"/>
            </a:solidFill>
            <a:prstDash val="solid"/>
          </a:ln>
        </p:spPr>
        <p:txBody>
          <a:bodyPr/>
          <a:lstStyle/>
          <a:p>
            <a:endParaRPr lang="pt-BR"/>
          </a:p>
        </p:txBody>
      </p:sp>
      <p:pic>
        <p:nvPicPr>
          <p:cNvPr id="11" name="Image 2" descr="preencoded.png"/>
          <p:cNvPicPr>
            <a:picLocks noChangeAspect="1"/>
          </p:cNvPicPr>
          <p:nvPr/>
        </p:nvPicPr>
        <p:blipFill>
          <a:blip r:embed="rId5"/>
          <a:stretch>
            <a:fillRect/>
          </a:stretch>
        </p:blipFill>
        <p:spPr>
          <a:xfrm>
            <a:off x="542869" y="1967712"/>
            <a:ext cx="171450" cy="171450"/>
          </a:xfrm>
          <a:prstGeom prst="rect">
            <a:avLst/>
          </a:prstGeom>
        </p:spPr>
      </p:pic>
      <p:sp>
        <p:nvSpPr>
          <p:cNvPr id="12" name="Text 7"/>
          <p:cNvSpPr/>
          <p:nvPr/>
        </p:nvSpPr>
        <p:spPr>
          <a:xfrm>
            <a:off x="864282" y="1958783"/>
            <a:ext cx="4657837" cy="133945"/>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2C3E50"/>
                </a:solidFill>
                <a:latin typeface="Roboto" pitchFamily="34" charset="0"/>
                <a:ea typeface="Roboto" pitchFamily="34" charset="-122"/>
                <a:cs typeface="Roboto" pitchFamily="34" charset="-120"/>
              </a:rPr>
              <a:t>Topologia em Anel</a:t>
            </a:r>
            <a:endParaRPr lang="en-US" sz="784" dirty="0"/>
          </a:p>
        </p:txBody>
      </p:sp>
      <p:sp>
        <p:nvSpPr>
          <p:cNvPr id="13" name="Text 8"/>
          <p:cNvSpPr/>
          <p:nvPr/>
        </p:nvSpPr>
        <p:spPr>
          <a:xfrm>
            <a:off x="864282" y="2128447"/>
            <a:ext cx="4657837"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34495E"/>
                </a:solidFill>
                <a:latin typeface="Roboto" pitchFamily="34" charset="0"/>
                <a:ea typeface="Roboto" pitchFamily="34" charset="-122"/>
                <a:cs typeface="Roboto" pitchFamily="34" charset="-120"/>
              </a:rPr>
              <a:t>Conexão em série fechando um círculo. Oferece </a:t>
            </a:r>
            <a:r>
              <a:rPr lang="en-US" sz="683" b="1" dirty="0">
                <a:solidFill>
                  <a:srgbClr val="34495E"/>
                </a:solidFill>
                <a:latin typeface="Roboto" pitchFamily="34" charset="0"/>
                <a:ea typeface="Roboto" pitchFamily="34" charset="-122"/>
                <a:cs typeface="Roboto" pitchFamily="34" charset="-120"/>
              </a:rPr>
              <a:t>redundância</a:t>
            </a:r>
            <a:r>
              <a:rPr lang="en-US" sz="727" dirty="0">
                <a:solidFill>
                  <a:srgbClr val="34495E"/>
                </a:solidFill>
                <a:latin typeface="Roboto" pitchFamily="34" charset="0"/>
                <a:ea typeface="Roboto" pitchFamily="34" charset="-122"/>
                <a:cs typeface="Roboto" pitchFamily="34" charset="-120"/>
              </a:rPr>
              <a:t>: se um cabo falha, a comunicação continua pelo outro lado.</a:t>
            </a:r>
            <a:endParaRPr lang="en-US" sz="727" dirty="0"/>
          </a:p>
        </p:txBody>
      </p:sp>
      <p:sp>
        <p:nvSpPr>
          <p:cNvPr id="14" name="Text 9"/>
          <p:cNvSpPr/>
          <p:nvPr/>
        </p:nvSpPr>
        <p:spPr>
          <a:xfrm>
            <a:off x="428625" y="2658480"/>
            <a:ext cx="5200650" cy="151805"/>
          </a:xfrm>
          <a:prstGeom prst="rect">
            <a:avLst/>
          </a:prstGeom>
          <a:noFill/>
          <a:ln/>
        </p:spPr>
        <p:txBody>
          <a:bodyPr wrap="none" lIns="127508" tIns="0" rIns="0" bIns="0" rtlCol="0" anchor="t">
            <a:spAutoFit/>
          </a:bodyPr>
          <a:lstStyle/>
          <a:p>
            <a:pPr marL="0" indent="0" algn="l">
              <a:lnSpc>
                <a:spcPts val="1200"/>
              </a:lnSpc>
              <a:buNone/>
            </a:pPr>
            <a:r>
              <a:rPr lang="en-US" sz="885" b="1" kern="0" spc="1" dirty="0">
                <a:solidFill>
                  <a:srgbClr val="0066CC"/>
                </a:solidFill>
                <a:latin typeface="Roboto" pitchFamily="34" charset="0"/>
                <a:ea typeface="Roboto" pitchFamily="34" charset="-122"/>
                <a:cs typeface="Roboto" pitchFamily="34" charset="-120"/>
              </a:rPr>
              <a:t>MODELOS DE COMUNICAÇÃO</a:t>
            </a:r>
            <a:endParaRPr lang="en-US" sz="885" dirty="0"/>
          </a:p>
        </p:txBody>
      </p:sp>
      <p:sp>
        <p:nvSpPr>
          <p:cNvPr id="15" name="Shape 10"/>
          <p:cNvSpPr/>
          <p:nvPr/>
        </p:nvSpPr>
        <p:spPr>
          <a:xfrm>
            <a:off x="428625" y="2917441"/>
            <a:ext cx="5200650" cy="502546"/>
          </a:xfrm>
          <a:prstGeom prst="rect">
            <a:avLst/>
          </a:prstGeom>
          <a:solidFill>
            <a:srgbClr val="F8F9FA"/>
          </a:solidFill>
          <a:ln w="9144">
            <a:solidFill>
              <a:srgbClr val="E0E0E0"/>
            </a:solidFill>
            <a:prstDash val="solid"/>
          </a:ln>
        </p:spPr>
        <p:txBody>
          <a:bodyPr/>
          <a:lstStyle/>
          <a:p>
            <a:endParaRPr lang="pt-BR"/>
          </a:p>
        </p:txBody>
      </p:sp>
      <p:pic>
        <p:nvPicPr>
          <p:cNvPr id="16" name="Image 3" descr="preencoded.png"/>
          <p:cNvPicPr>
            <a:picLocks noChangeAspect="1"/>
          </p:cNvPicPr>
          <p:nvPr/>
        </p:nvPicPr>
        <p:blipFill>
          <a:blip r:embed="rId6"/>
          <a:stretch>
            <a:fillRect/>
          </a:stretch>
        </p:blipFill>
        <p:spPr>
          <a:xfrm>
            <a:off x="557213" y="3033526"/>
            <a:ext cx="171450" cy="171450"/>
          </a:xfrm>
          <a:prstGeom prst="rect">
            <a:avLst/>
          </a:prstGeom>
        </p:spPr>
      </p:pic>
      <p:sp>
        <p:nvSpPr>
          <p:cNvPr id="17" name="Text 11"/>
          <p:cNvSpPr/>
          <p:nvPr/>
        </p:nvSpPr>
        <p:spPr>
          <a:xfrm>
            <a:off x="892969" y="3024597"/>
            <a:ext cx="4246959" cy="133945"/>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2C3E50"/>
                </a:solidFill>
                <a:latin typeface="Roboto" pitchFamily="34" charset="0"/>
                <a:ea typeface="Roboto" pitchFamily="34" charset="-122"/>
                <a:cs typeface="Roboto" pitchFamily="34" charset="-120"/>
              </a:rPr>
              <a:t>Cliente-Servidor</a:t>
            </a:r>
            <a:endParaRPr lang="en-US" sz="784" dirty="0"/>
          </a:p>
        </p:txBody>
      </p:sp>
      <p:sp>
        <p:nvSpPr>
          <p:cNvPr id="18" name="Text 12"/>
          <p:cNvSpPr/>
          <p:nvPr/>
        </p:nvSpPr>
        <p:spPr>
          <a:xfrm>
            <a:off x="892969" y="3194261"/>
            <a:ext cx="4246959" cy="14000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34495E"/>
                </a:solidFill>
                <a:latin typeface="Roboto" pitchFamily="34" charset="0"/>
                <a:ea typeface="Roboto" pitchFamily="34" charset="-122"/>
                <a:cs typeface="Roboto" pitchFamily="34" charset="-120"/>
              </a:rPr>
              <a:t>O </a:t>
            </a:r>
            <a:r>
              <a:rPr lang="en-US" sz="683" b="1" dirty="0">
                <a:solidFill>
                  <a:srgbClr val="34495E"/>
                </a:solidFill>
                <a:latin typeface="Roboto" pitchFamily="34" charset="0"/>
                <a:ea typeface="Roboto" pitchFamily="34" charset="-122"/>
                <a:cs typeface="Roboto" pitchFamily="34" charset="-120"/>
              </a:rPr>
              <a:t>Cliente</a:t>
            </a:r>
            <a:r>
              <a:rPr lang="en-US" sz="727" dirty="0">
                <a:solidFill>
                  <a:srgbClr val="34495E"/>
                </a:solidFill>
                <a:latin typeface="Roboto" pitchFamily="34" charset="0"/>
                <a:ea typeface="Roboto" pitchFamily="34" charset="-122"/>
                <a:cs typeface="Roboto" pitchFamily="34" charset="-120"/>
              </a:rPr>
              <a:t> (ex: IHM) solicita dados e o </a:t>
            </a:r>
            <a:r>
              <a:rPr lang="en-US" sz="683" b="1" dirty="0">
                <a:solidFill>
                  <a:srgbClr val="34495E"/>
                </a:solidFill>
                <a:latin typeface="Roboto" pitchFamily="34" charset="0"/>
                <a:ea typeface="Roboto" pitchFamily="34" charset="-122"/>
                <a:cs typeface="Roboto" pitchFamily="34" charset="-120"/>
              </a:rPr>
              <a:t>Servidor</a:t>
            </a:r>
            <a:r>
              <a:rPr lang="en-US" sz="727" dirty="0">
                <a:solidFill>
                  <a:srgbClr val="34495E"/>
                </a:solidFill>
                <a:latin typeface="Roboto" pitchFamily="34" charset="0"/>
                <a:ea typeface="Roboto" pitchFamily="34" charset="-122"/>
                <a:cs typeface="Roboto" pitchFamily="34" charset="-120"/>
              </a:rPr>
              <a:t> (ex: CLP) responde com a informação solicitada.</a:t>
            </a:r>
            <a:endParaRPr lang="en-US" sz="727" dirty="0"/>
          </a:p>
        </p:txBody>
      </p:sp>
      <p:sp>
        <p:nvSpPr>
          <p:cNvPr id="19" name="Shape 13"/>
          <p:cNvSpPr/>
          <p:nvPr/>
        </p:nvSpPr>
        <p:spPr>
          <a:xfrm>
            <a:off x="428625" y="3512855"/>
            <a:ext cx="5200650" cy="642547"/>
          </a:xfrm>
          <a:prstGeom prst="rect">
            <a:avLst/>
          </a:prstGeom>
          <a:solidFill>
            <a:srgbClr val="F8F9FA"/>
          </a:solidFill>
          <a:ln w="9144">
            <a:solidFill>
              <a:srgbClr val="E0E0E0"/>
            </a:solidFill>
            <a:prstDash val="solid"/>
          </a:ln>
        </p:spPr>
        <p:txBody>
          <a:bodyPr/>
          <a:lstStyle/>
          <a:p>
            <a:endParaRPr lang="pt-BR"/>
          </a:p>
        </p:txBody>
      </p:sp>
      <p:pic>
        <p:nvPicPr>
          <p:cNvPr id="20" name="Image 4" descr="preencoded.png"/>
          <p:cNvPicPr>
            <a:picLocks noChangeAspect="1"/>
          </p:cNvPicPr>
          <p:nvPr/>
        </p:nvPicPr>
        <p:blipFill>
          <a:blip r:embed="rId7"/>
          <a:stretch>
            <a:fillRect/>
          </a:stretch>
        </p:blipFill>
        <p:spPr>
          <a:xfrm>
            <a:off x="567872" y="3628941"/>
            <a:ext cx="150019" cy="171450"/>
          </a:xfrm>
          <a:prstGeom prst="rect">
            <a:avLst/>
          </a:prstGeom>
        </p:spPr>
      </p:pic>
      <p:sp>
        <p:nvSpPr>
          <p:cNvPr id="21" name="Text 14"/>
          <p:cNvSpPr/>
          <p:nvPr/>
        </p:nvSpPr>
        <p:spPr>
          <a:xfrm>
            <a:off x="892885" y="3620012"/>
            <a:ext cx="4629234" cy="133945"/>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2C3E50"/>
                </a:solidFill>
                <a:latin typeface="Roboto" pitchFamily="34" charset="0"/>
                <a:ea typeface="Roboto" pitchFamily="34" charset="-122"/>
                <a:cs typeface="Roboto" pitchFamily="34" charset="-120"/>
              </a:rPr>
              <a:t>Mestre-Escravo</a:t>
            </a:r>
            <a:endParaRPr lang="en-US" sz="784" dirty="0"/>
          </a:p>
        </p:txBody>
      </p:sp>
      <p:sp>
        <p:nvSpPr>
          <p:cNvPr id="22" name="Text 15"/>
          <p:cNvSpPr/>
          <p:nvPr/>
        </p:nvSpPr>
        <p:spPr>
          <a:xfrm>
            <a:off x="892885" y="3789676"/>
            <a:ext cx="4629234"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34495E"/>
                </a:solidFill>
                <a:latin typeface="Roboto" pitchFamily="34" charset="0"/>
                <a:ea typeface="Roboto" pitchFamily="34" charset="-122"/>
                <a:cs typeface="Roboto" pitchFamily="34" charset="-120"/>
              </a:rPr>
              <a:t>O </a:t>
            </a:r>
            <a:r>
              <a:rPr lang="en-US" sz="683" b="1" dirty="0">
                <a:solidFill>
                  <a:srgbClr val="34495E"/>
                </a:solidFill>
                <a:latin typeface="Roboto" pitchFamily="34" charset="0"/>
                <a:ea typeface="Roboto" pitchFamily="34" charset="-122"/>
                <a:cs typeface="Roboto" pitchFamily="34" charset="-120"/>
              </a:rPr>
              <a:t>Mestre</a:t>
            </a:r>
            <a:r>
              <a:rPr lang="en-US" sz="727" dirty="0">
                <a:solidFill>
                  <a:srgbClr val="34495E"/>
                </a:solidFill>
                <a:latin typeface="Roboto" pitchFamily="34" charset="0"/>
                <a:ea typeface="Roboto" pitchFamily="34" charset="-122"/>
                <a:cs typeface="Roboto" pitchFamily="34" charset="-120"/>
              </a:rPr>
              <a:t> controla o tráfego na rede e os </a:t>
            </a:r>
            <a:r>
              <a:rPr lang="en-US" sz="683" b="1" dirty="0">
                <a:solidFill>
                  <a:srgbClr val="34495E"/>
                </a:solidFill>
                <a:latin typeface="Roboto" pitchFamily="34" charset="0"/>
                <a:ea typeface="Roboto" pitchFamily="34" charset="-122"/>
                <a:cs typeface="Roboto" pitchFamily="34" charset="-120"/>
              </a:rPr>
              <a:t>Escravos</a:t>
            </a:r>
            <a:r>
              <a:rPr lang="en-US" sz="727" dirty="0">
                <a:solidFill>
                  <a:srgbClr val="34495E"/>
                </a:solidFill>
                <a:latin typeface="Roboto" pitchFamily="34" charset="0"/>
                <a:ea typeface="Roboto" pitchFamily="34" charset="-122"/>
                <a:cs typeface="Roboto" pitchFamily="34" charset="-120"/>
              </a:rPr>
              <a:t> respondem apenas quando interrogados pelo mestre.</a:t>
            </a:r>
            <a:endParaRPr lang="en-US" sz="727" dirty="0"/>
          </a:p>
        </p:txBody>
      </p:sp>
      <p:sp>
        <p:nvSpPr>
          <p:cNvPr id="23" name="Shape 16"/>
          <p:cNvSpPr/>
          <p:nvPr/>
        </p:nvSpPr>
        <p:spPr>
          <a:xfrm>
            <a:off x="5915025" y="857250"/>
            <a:ext cx="2800350" cy="2857500"/>
          </a:xfrm>
          <a:prstGeom prst="rect">
            <a:avLst/>
          </a:prstGeom>
          <a:solidFill>
            <a:srgbClr val="FFFFFF"/>
          </a:solidFill>
          <a:ln w="18288">
            <a:solidFill>
              <a:srgbClr val="0066CC"/>
            </a:solidFill>
            <a:prstDash val="solid"/>
          </a:ln>
        </p:spPr>
        <p:txBody>
          <a:bodyPr/>
          <a:lstStyle/>
          <a:p>
            <a:endParaRPr lang="pt-BR"/>
          </a:p>
        </p:txBody>
      </p:sp>
      <p:pic>
        <p:nvPicPr>
          <p:cNvPr id="24" name="Image 5" descr="preencoded.png"/>
          <p:cNvPicPr>
            <a:picLocks noChangeAspect="1"/>
          </p:cNvPicPr>
          <p:nvPr/>
        </p:nvPicPr>
        <p:blipFill>
          <a:blip r:embed="rId8"/>
          <a:stretch>
            <a:fillRect/>
          </a:stretch>
        </p:blipFill>
        <p:spPr>
          <a:xfrm>
            <a:off x="5915025" y="857250"/>
            <a:ext cx="2800350" cy="2857500"/>
          </a:xfrm>
          <a:prstGeom prst="rect">
            <a:avLst/>
          </a:prstGeom>
        </p:spPr>
      </p:pic>
      <p:sp>
        <p:nvSpPr>
          <p:cNvPr id="25" name="Text 17"/>
          <p:cNvSpPr/>
          <p:nvPr/>
        </p:nvSpPr>
        <p:spPr>
          <a:xfrm>
            <a:off x="6112371" y="3821906"/>
            <a:ext cx="2405658" cy="108942"/>
          </a:xfrm>
          <a:prstGeom prst="rect">
            <a:avLst/>
          </a:prstGeom>
          <a:noFill/>
          <a:ln/>
        </p:spPr>
        <p:txBody>
          <a:bodyPr wrap="none" lIns="0" tIns="0" rIns="0" bIns="0" rtlCol="0" anchor="t">
            <a:spAutoFit/>
          </a:bodyPr>
          <a:lstStyle/>
          <a:p>
            <a:pPr marL="0" indent="0" algn="ctr">
              <a:lnSpc>
                <a:spcPts val="900"/>
              </a:lnSpc>
              <a:buNone/>
            </a:pPr>
            <a:r>
              <a:rPr lang="en-US" sz="634" b="1" dirty="0">
                <a:solidFill>
                  <a:srgbClr val="0066CC"/>
                </a:solidFill>
                <a:latin typeface="Roboto" pitchFamily="34" charset="0"/>
                <a:ea typeface="Roboto" pitchFamily="34" charset="-122"/>
                <a:cs typeface="Roboto" pitchFamily="34" charset="-120"/>
              </a:rPr>
              <a:t>Configuração de Interface e Endereçamento no TIA Portal</a:t>
            </a:r>
            <a:endParaRPr lang="en-US" sz="634" dirty="0"/>
          </a:p>
        </p:txBody>
      </p:sp>
      <p:sp>
        <p:nvSpPr>
          <p:cNvPr id="26" name="Shape 18"/>
          <p:cNvSpPr/>
          <p:nvPr/>
        </p:nvSpPr>
        <p:spPr>
          <a:xfrm>
            <a:off x="5915025" y="4002286"/>
            <a:ext cx="2800350" cy="597201"/>
          </a:xfrm>
          <a:prstGeom prst="rect">
            <a:avLst/>
          </a:prstGeom>
          <a:solidFill>
            <a:srgbClr val="FFF5ED"/>
          </a:solidFill>
          <a:ln w="18288">
            <a:solidFill>
              <a:srgbClr val="FF6600"/>
            </a:solidFill>
            <a:prstDash val="solid"/>
          </a:ln>
        </p:spPr>
        <p:txBody>
          <a:bodyPr/>
          <a:lstStyle/>
          <a:p>
            <a:endParaRPr lang="pt-BR"/>
          </a:p>
        </p:txBody>
      </p:sp>
      <p:sp>
        <p:nvSpPr>
          <p:cNvPr id="27" name="Text 19"/>
          <p:cNvSpPr/>
          <p:nvPr/>
        </p:nvSpPr>
        <p:spPr>
          <a:xfrm>
            <a:off x="6057900" y="4109442"/>
            <a:ext cx="2514600" cy="390032"/>
          </a:xfrm>
          <a:prstGeom prst="rect">
            <a:avLst/>
          </a:prstGeom>
          <a:noFill/>
          <a:ln/>
        </p:spPr>
        <p:txBody>
          <a:bodyPr wrap="square" lIns="0" tIns="0" rIns="0" bIns="0" rtlCol="0" anchor="t">
            <a:spAutoFit/>
          </a:bodyPr>
          <a:lstStyle/>
          <a:p>
            <a:pPr marL="0" indent="0" algn="l">
              <a:lnSpc>
                <a:spcPts val="1000"/>
              </a:lnSpc>
              <a:buNone/>
            </a:pPr>
            <a:r>
              <a:rPr lang="en-US" sz="634" b="1" dirty="0">
                <a:solidFill>
                  <a:srgbClr val="FF6600"/>
                </a:solidFill>
                <a:latin typeface="Roboto" pitchFamily="34" charset="0"/>
                <a:ea typeface="Roboto" pitchFamily="34" charset="-122"/>
                <a:cs typeface="Roboto" pitchFamily="34" charset="-120"/>
              </a:rPr>
              <a:t>Dica Técnica:</a:t>
            </a:r>
            <a:r>
              <a:rPr lang="en-US" sz="674" dirty="0">
                <a:solidFill>
                  <a:srgbClr val="2C3E50"/>
                </a:solidFill>
                <a:latin typeface="Roboto" pitchFamily="34" charset="0"/>
                <a:ea typeface="Roboto" pitchFamily="34" charset="-122"/>
                <a:cs typeface="Roboto" pitchFamily="34" charset="-120"/>
              </a:rPr>
              <a:t> A escolha da topologia impacta diretamente na </a:t>
            </a:r>
            <a:r>
              <a:rPr lang="en-US" sz="634" b="1" dirty="0">
                <a:solidFill>
                  <a:srgbClr val="FF6600"/>
                </a:solidFill>
                <a:latin typeface="Roboto" pitchFamily="34" charset="0"/>
                <a:ea typeface="Roboto" pitchFamily="34" charset="-122"/>
                <a:cs typeface="Roboto" pitchFamily="34" charset="-120"/>
              </a:rPr>
              <a:t>disponibilidade</a:t>
            </a:r>
            <a:r>
              <a:rPr lang="en-US" sz="674" dirty="0">
                <a:solidFill>
                  <a:srgbClr val="2C3E50"/>
                </a:solidFill>
                <a:latin typeface="Roboto" pitchFamily="34" charset="0"/>
                <a:ea typeface="Roboto" pitchFamily="34" charset="-122"/>
                <a:cs typeface="Roboto" pitchFamily="34" charset="-120"/>
              </a:rPr>
              <a:t> do sistema. Redes em anel são preferidas para processos críticos.</a:t>
            </a:r>
            <a:endParaRPr lang="en-US" sz="634"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642938"/>
          </a:xfrm>
          <a:prstGeom prst="rect">
            <a:avLst/>
          </a:prstGeom>
          <a:solidFill>
            <a:srgbClr val="004A99"/>
          </a:solidFill>
          <a:ln/>
        </p:spPr>
        <p:txBody>
          <a:bodyPr/>
          <a:lstStyle/>
          <a:p>
            <a:endParaRPr lang="pt-BR"/>
          </a:p>
        </p:txBody>
      </p:sp>
      <p:sp>
        <p:nvSpPr>
          <p:cNvPr id="4" name="Text 1"/>
          <p:cNvSpPr/>
          <p:nvPr/>
        </p:nvSpPr>
        <p:spPr>
          <a:xfrm>
            <a:off x="428625" y="170557"/>
            <a:ext cx="5602486" cy="301823"/>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FFFF"/>
                </a:solidFill>
                <a:latin typeface="Roboto" pitchFamily="34" charset="0"/>
                <a:ea typeface="Roboto" pitchFamily="34" charset="-122"/>
                <a:cs typeface="Roboto" pitchFamily="34" charset="-120"/>
              </a:rPr>
              <a:t>PROFINET: O Padrão de Comunicação Industrial</a:t>
            </a:r>
            <a:endParaRPr lang="en-US" sz="1808" dirty="0"/>
          </a:p>
        </p:txBody>
      </p:sp>
      <p:sp>
        <p:nvSpPr>
          <p:cNvPr id="5" name="Shape 2"/>
          <p:cNvSpPr/>
          <p:nvPr/>
        </p:nvSpPr>
        <p:spPr>
          <a:xfrm>
            <a:off x="428625" y="857250"/>
            <a:ext cx="4036219" cy="1571625"/>
          </a:xfrm>
          <a:prstGeom prst="rect">
            <a:avLst/>
          </a:prstGeom>
          <a:solidFill>
            <a:srgbClr val="F8F9FA"/>
          </a:solidFill>
          <a:ln/>
        </p:spPr>
        <p:txBody>
          <a:bodyPr/>
          <a:lstStyle/>
          <a:p>
            <a:endParaRPr lang="pt-BR"/>
          </a:p>
        </p:txBody>
      </p:sp>
      <p:sp>
        <p:nvSpPr>
          <p:cNvPr id="6" name="Shape 3"/>
          <p:cNvSpPr/>
          <p:nvPr/>
        </p:nvSpPr>
        <p:spPr>
          <a:xfrm>
            <a:off x="428625" y="857250"/>
            <a:ext cx="4036219" cy="35719"/>
          </a:xfrm>
          <a:prstGeom prst="rect">
            <a:avLst/>
          </a:prstGeom>
          <a:solidFill>
            <a:srgbClr val="0066CC"/>
          </a:solidFill>
          <a:ln/>
        </p:spPr>
        <p:txBody>
          <a:bodyPr/>
          <a:lstStyle/>
          <a:p>
            <a:endParaRPr lang="pt-BR"/>
          </a:p>
        </p:txBody>
      </p:sp>
      <p:pic>
        <p:nvPicPr>
          <p:cNvPr id="7" name="Image 1" descr="preencoded.png"/>
          <p:cNvPicPr>
            <a:picLocks noChangeAspect="1"/>
          </p:cNvPicPr>
          <p:nvPr/>
        </p:nvPicPr>
        <p:blipFill>
          <a:blip r:embed="rId4"/>
          <a:stretch>
            <a:fillRect/>
          </a:stretch>
        </p:blipFill>
        <p:spPr>
          <a:xfrm>
            <a:off x="571500" y="1000125"/>
            <a:ext cx="214313" cy="171450"/>
          </a:xfrm>
          <a:prstGeom prst="rect">
            <a:avLst/>
          </a:prstGeom>
        </p:spPr>
      </p:pic>
      <p:sp>
        <p:nvSpPr>
          <p:cNvPr id="8" name="Text 4"/>
          <p:cNvSpPr/>
          <p:nvPr/>
        </p:nvSpPr>
        <p:spPr>
          <a:xfrm>
            <a:off x="892969" y="1001911"/>
            <a:ext cx="784027" cy="167878"/>
          </a:xfrm>
          <a:prstGeom prst="rect">
            <a:avLst/>
          </a:prstGeom>
          <a:noFill/>
          <a:ln/>
        </p:spPr>
        <p:txBody>
          <a:bodyPr wrap="none" lIns="0" tIns="0" rIns="0" bIns="0" rtlCol="0" anchor="t">
            <a:spAutoFit/>
          </a:bodyPr>
          <a:lstStyle/>
          <a:p>
            <a:pPr marL="0" indent="0" algn="l">
              <a:lnSpc>
                <a:spcPts val="1400"/>
              </a:lnSpc>
              <a:buNone/>
            </a:pPr>
            <a:r>
              <a:rPr lang="en-US" sz="987" b="1" kern="0" spc="1" dirty="0">
                <a:solidFill>
                  <a:srgbClr val="2C3E50"/>
                </a:solidFill>
                <a:latin typeface="Roboto" pitchFamily="34" charset="0"/>
                <a:ea typeface="Roboto" pitchFamily="34" charset="-122"/>
                <a:cs typeface="Roboto" pitchFamily="34" charset="-120"/>
              </a:rPr>
              <a:t>DEFINIÇÃO</a:t>
            </a:r>
            <a:endParaRPr lang="en-US" sz="987" dirty="0"/>
          </a:p>
        </p:txBody>
      </p:sp>
      <p:sp>
        <p:nvSpPr>
          <p:cNvPr id="9" name="Text 5"/>
          <p:cNvSpPr/>
          <p:nvPr/>
        </p:nvSpPr>
        <p:spPr>
          <a:xfrm>
            <a:off x="571500" y="1278731"/>
            <a:ext cx="3750469" cy="514350"/>
          </a:xfrm>
          <a:prstGeom prst="rect">
            <a:avLst/>
          </a:prstGeom>
          <a:noFill/>
          <a:ln/>
        </p:spPr>
        <p:txBody>
          <a:bodyPr wrap="square" lIns="0" tIns="0" rIns="0" bIns="0" rtlCol="0" anchor="t">
            <a:spAutoFit/>
          </a:bodyPr>
          <a:lstStyle/>
          <a:p>
            <a:pPr marL="0" indent="0" algn="l">
              <a:lnSpc>
                <a:spcPts val="1400"/>
              </a:lnSpc>
              <a:buNone/>
            </a:pPr>
            <a:r>
              <a:rPr lang="en-US" sz="780" dirty="0">
                <a:solidFill>
                  <a:srgbClr val="34495E"/>
                </a:solidFill>
                <a:latin typeface="Roboto" pitchFamily="34" charset="0"/>
                <a:ea typeface="Roboto" pitchFamily="34" charset="-122"/>
                <a:cs typeface="Roboto" pitchFamily="34" charset="-120"/>
              </a:rPr>
              <a:t>Protocolo baseado em </a:t>
            </a:r>
            <a:r>
              <a:rPr lang="en-US" sz="734" b="1" dirty="0">
                <a:solidFill>
                  <a:srgbClr val="0066CC"/>
                </a:solidFill>
                <a:latin typeface="Roboto" pitchFamily="34" charset="0"/>
                <a:ea typeface="Roboto" pitchFamily="34" charset="-122"/>
                <a:cs typeface="Roboto" pitchFamily="34" charset="-120"/>
              </a:rPr>
              <a:t>Ethernet Industrial</a:t>
            </a:r>
            <a:r>
              <a:rPr lang="en-US" sz="780" dirty="0">
                <a:solidFill>
                  <a:srgbClr val="34495E"/>
                </a:solidFill>
                <a:latin typeface="Roboto" pitchFamily="34" charset="0"/>
                <a:ea typeface="Roboto" pitchFamily="34" charset="-122"/>
                <a:cs typeface="Roboto" pitchFamily="34" charset="-120"/>
              </a:rPr>
              <a:t>, amplamente utilizado em sistemas Siemens. É o sucessor do PROFIBUS, trazendo a flexibilidade da rede Ethernet para o chão de fábrica.</a:t>
            </a:r>
            <a:endParaRPr lang="en-US" sz="780" dirty="0"/>
          </a:p>
        </p:txBody>
      </p:sp>
      <p:sp>
        <p:nvSpPr>
          <p:cNvPr id="10" name="Shape 6"/>
          <p:cNvSpPr/>
          <p:nvPr/>
        </p:nvSpPr>
        <p:spPr>
          <a:xfrm>
            <a:off x="4679156" y="857250"/>
            <a:ext cx="4036219" cy="1571625"/>
          </a:xfrm>
          <a:prstGeom prst="rect">
            <a:avLst/>
          </a:prstGeom>
          <a:solidFill>
            <a:srgbClr val="F8F9FA"/>
          </a:solidFill>
          <a:ln/>
        </p:spPr>
        <p:txBody>
          <a:bodyPr/>
          <a:lstStyle/>
          <a:p>
            <a:endParaRPr lang="pt-BR"/>
          </a:p>
        </p:txBody>
      </p:sp>
      <p:sp>
        <p:nvSpPr>
          <p:cNvPr id="11" name="Shape 7"/>
          <p:cNvSpPr/>
          <p:nvPr/>
        </p:nvSpPr>
        <p:spPr>
          <a:xfrm>
            <a:off x="4679156" y="857250"/>
            <a:ext cx="4036219" cy="35719"/>
          </a:xfrm>
          <a:prstGeom prst="rect">
            <a:avLst/>
          </a:prstGeom>
          <a:solidFill>
            <a:srgbClr val="0066CC"/>
          </a:solidFill>
          <a:ln/>
        </p:spPr>
        <p:txBody>
          <a:bodyPr/>
          <a:lstStyle/>
          <a:p>
            <a:endParaRPr lang="pt-BR"/>
          </a:p>
        </p:txBody>
      </p:sp>
      <p:pic>
        <p:nvPicPr>
          <p:cNvPr id="12" name="Image 2" descr="preencoded.png"/>
          <p:cNvPicPr>
            <a:picLocks noChangeAspect="1"/>
          </p:cNvPicPr>
          <p:nvPr/>
        </p:nvPicPr>
        <p:blipFill>
          <a:blip r:embed="rId5"/>
          <a:stretch>
            <a:fillRect/>
          </a:stretch>
        </p:blipFill>
        <p:spPr>
          <a:xfrm>
            <a:off x="4822031" y="1000125"/>
            <a:ext cx="128588" cy="171450"/>
          </a:xfrm>
          <a:prstGeom prst="rect">
            <a:avLst/>
          </a:prstGeom>
        </p:spPr>
      </p:pic>
      <p:sp>
        <p:nvSpPr>
          <p:cNvPr id="13" name="Text 8"/>
          <p:cNvSpPr/>
          <p:nvPr/>
        </p:nvSpPr>
        <p:spPr>
          <a:xfrm>
            <a:off x="5057775" y="1001911"/>
            <a:ext cx="889397" cy="167878"/>
          </a:xfrm>
          <a:prstGeom prst="rect">
            <a:avLst/>
          </a:prstGeom>
          <a:noFill/>
          <a:ln/>
        </p:spPr>
        <p:txBody>
          <a:bodyPr wrap="none" lIns="0" tIns="0" rIns="0" bIns="0" rtlCol="0" anchor="t">
            <a:spAutoFit/>
          </a:bodyPr>
          <a:lstStyle/>
          <a:p>
            <a:pPr marL="0" indent="0" algn="l">
              <a:lnSpc>
                <a:spcPts val="1400"/>
              </a:lnSpc>
              <a:buNone/>
            </a:pPr>
            <a:r>
              <a:rPr lang="en-US" sz="987" b="1" kern="0" spc="1" dirty="0">
                <a:solidFill>
                  <a:srgbClr val="2C3E50"/>
                </a:solidFill>
                <a:latin typeface="Roboto" pitchFamily="34" charset="0"/>
                <a:ea typeface="Roboto" pitchFamily="34" charset="-122"/>
                <a:cs typeface="Roboto" pitchFamily="34" charset="-120"/>
              </a:rPr>
              <a:t>VANTAGENS</a:t>
            </a:r>
            <a:endParaRPr lang="en-US" sz="987" dirty="0"/>
          </a:p>
        </p:txBody>
      </p:sp>
      <p:sp>
        <p:nvSpPr>
          <p:cNvPr id="14" name="Text 9"/>
          <p:cNvSpPr/>
          <p:nvPr/>
        </p:nvSpPr>
        <p:spPr>
          <a:xfrm>
            <a:off x="4822031" y="1278731"/>
            <a:ext cx="3750469" cy="342900"/>
          </a:xfrm>
          <a:prstGeom prst="rect">
            <a:avLst/>
          </a:prstGeom>
          <a:noFill/>
          <a:ln/>
        </p:spPr>
        <p:txBody>
          <a:bodyPr wrap="square" lIns="0" tIns="0" rIns="0" bIns="0" rtlCol="0" anchor="t">
            <a:spAutoFit/>
          </a:bodyPr>
          <a:lstStyle/>
          <a:p>
            <a:pPr marL="0" indent="0" algn="l">
              <a:lnSpc>
                <a:spcPts val="1400"/>
              </a:lnSpc>
              <a:buNone/>
            </a:pPr>
            <a:r>
              <a:rPr lang="en-US" sz="780" dirty="0">
                <a:solidFill>
                  <a:srgbClr val="34495E"/>
                </a:solidFill>
                <a:latin typeface="Roboto" pitchFamily="34" charset="0"/>
                <a:ea typeface="Roboto" pitchFamily="34" charset="-122"/>
                <a:cs typeface="Roboto" pitchFamily="34" charset="-120"/>
              </a:rPr>
              <a:t>Oferece </a:t>
            </a:r>
            <a:r>
              <a:rPr lang="en-US" sz="734" b="1" dirty="0">
                <a:solidFill>
                  <a:srgbClr val="0066CC"/>
                </a:solidFill>
                <a:latin typeface="Roboto" pitchFamily="34" charset="0"/>
                <a:ea typeface="Roboto" pitchFamily="34" charset="-122"/>
                <a:cs typeface="Roboto" pitchFamily="34" charset="-120"/>
              </a:rPr>
              <a:t>alta velocidade</a:t>
            </a:r>
            <a:r>
              <a:rPr lang="en-US" sz="780" dirty="0">
                <a:solidFill>
                  <a:srgbClr val="34495E"/>
                </a:solidFill>
                <a:latin typeface="Roboto" pitchFamily="34" charset="0"/>
                <a:ea typeface="Roboto" pitchFamily="34" charset="-122"/>
                <a:cs typeface="Roboto" pitchFamily="34" charset="-120"/>
              </a:rPr>
              <a:t> de transmissão, integração total com redes corporativas e </a:t>
            </a:r>
            <a:r>
              <a:rPr lang="en-US" sz="734" b="1" dirty="0">
                <a:solidFill>
                  <a:srgbClr val="FF6600"/>
                </a:solidFill>
                <a:latin typeface="Roboto" pitchFamily="34" charset="0"/>
                <a:ea typeface="Roboto" pitchFamily="34" charset="-122"/>
                <a:cs typeface="Roboto" pitchFamily="34" charset="-120"/>
              </a:rPr>
              <a:t>diagnóstico avançado</a:t>
            </a:r>
            <a:r>
              <a:rPr lang="en-US" sz="780" dirty="0">
                <a:solidFill>
                  <a:srgbClr val="34495E"/>
                </a:solidFill>
                <a:latin typeface="Roboto" pitchFamily="34" charset="0"/>
                <a:ea typeface="Roboto" pitchFamily="34" charset="-122"/>
                <a:cs typeface="Roboto" pitchFamily="34" charset="-120"/>
              </a:rPr>
              <a:t> de dispositivos em tempo real.</a:t>
            </a:r>
            <a:endParaRPr lang="en-US" sz="780" dirty="0"/>
          </a:p>
        </p:txBody>
      </p:sp>
      <p:sp>
        <p:nvSpPr>
          <p:cNvPr id="15" name="Shape 10"/>
          <p:cNvSpPr/>
          <p:nvPr/>
        </p:nvSpPr>
        <p:spPr>
          <a:xfrm>
            <a:off x="428625" y="2643188"/>
            <a:ext cx="4036219" cy="1571625"/>
          </a:xfrm>
          <a:prstGeom prst="rect">
            <a:avLst/>
          </a:prstGeom>
          <a:solidFill>
            <a:srgbClr val="F8F9FA"/>
          </a:solidFill>
          <a:ln/>
        </p:spPr>
        <p:txBody>
          <a:bodyPr/>
          <a:lstStyle/>
          <a:p>
            <a:endParaRPr lang="pt-BR"/>
          </a:p>
        </p:txBody>
      </p:sp>
      <p:sp>
        <p:nvSpPr>
          <p:cNvPr id="16" name="Shape 11"/>
          <p:cNvSpPr/>
          <p:nvPr/>
        </p:nvSpPr>
        <p:spPr>
          <a:xfrm>
            <a:off x="428625" y="2643188"/>
            <a:ext cx="4036219" cy="35719"/>
          </a:xfrm>
          <a:prstGeom prst="rect">
            <a:avLst/>
          </a:prstGeom>
          <a:solidFill>
            <a:srgbClr val="0066CC"/>
          </a:solidFill>
          <a:ln/>
        </p:spPr>
        <p:txBody>
          <a:bodyPr/>
          <a:lstStyle/>
          <a:p>
            <a:endParaRPr lang="pt-BR"/>
          </a:p>
        </p:txBody>
      </p:sp>
      <p:pic>
        <p:nvPicPr>
          <p:cNvPr id="17" name="Image 3" descr="preencoded.png"/>
          <p:cNvPicPr>
            <a:picLocks noChangeAspect="1"/>
          </p:cNvPicPr>
          <p:nvPr/>
        </p:nvPicPr>
        <p:blipFill>
          <a:blip r:embed="rId6"/>
          <a:stretch>
            <a:fillRect/>
          </a:stretch>
        </p:blipFill>
        <p:spPr>
          <a:xfrm>
            <a:off x="571500" y="2786063"/>
            <a:ext cx="214313" cy="171450"/>
          </a:xfrm>
          <a:prstGeom prst="rect">
            <a:avLst/>
          </a:prstGeom>
        </p:spPr>
      </p:pic>
      <p:sp>
        <p:nvSpPr>
          <p:cNvPr id="18" name="Text 12"/>
          <p:cNvSpPr/>
          <p:nvPr/>
        </p:nvSpPr>
        <p:spPr>
          <a:xfrm>
            <a:off x="892969" y="2787848"/>
            <a:ext cx="1598414" cy="167878"/>
          </a:xfrm>
          <a:prstGeom prst="rect">
            <a:avLst/>
          </a:prstGeom>
          <a:noFill/>
          <a:ln/>
        </p:spPr>
        <p:txBody>
          <a:bodyPr wrap="none" lIns="0" tIns="0" rIns="0" bIns="0" rtlCol="0" anchor="t">
            <a:spAutoFit/>
          </a:bodyPr>
          <a:lstStyle/>
          <a:p>
            <a:pPr marL="0" indent="0" algn="l">
              <a:lnSpc>
                <a:spcPts val="1400"/>
              </a:lnSpc>
              <a:buNone/>
            </a:pPr>
            <a:r>
              <a:rPr lang="en-US" sz="987" b="1" kern="0" spc="1" dirty="0">
                <a:solidFill>
                  <a:srgbClr val="2C3E50"/>
                </a:solidFill>
                <a:latin typeface="Roboto" pitchFamily="34" charset="0"/>
                <a:ea typeface="Roboto" pitchFamily="34" charset="-122"/>
                <a:cs typeface="Roboto" pitchFamily="34" charset="-120"/>
              </a:rPr>
              <a:t>INTEROPERABILIDADE</a:t>
            </a:r>
            <a:endParaRPr lang="en-US" sz="987" dirty="0"/>
          </a:p>
        </p:txBody>
      </p:sp>
      <p:sp>
        <p:nvSpPr>
          <p:cNvPr id="19" name="Text 13"/>
          <p:cNvSpPr/>
          <p:nvPr/>
        </p:nvSpPr>
        <p:spPr>
          <a:xfrm>
            <a:off x="571500" y="3064669"/>
            <a:ext cx="3750469" cy="514350"/>
          </a:xfrm>
          <a:prstGeom prst="rect">
            <a:avLst/>
          </a:prstGeom>
          <a:noFill/>
          <a:ln/>
        </p:spPr>
        <p:txBody>
          <a:bodyPr wrap="square" lIns="0" tIns="0" rIns="0" bIns="0" rtlCol="0" anchor="t">
            <a:spAutoFit/>
          </a:bodyPr>
          <a:lstStyle/>
          <a:p>
            <a:pPr marL="0" indent="0" algn="l">
              <a:lnSpc>
                <a:spcPts val="1400"/>
              </a:lnSpc>
              <a:buNone/>
            </a:pPr>
            <a:r>
              <a:rPr lang="en-US" sz="780" dirty="0">
                <a:solidFill>
                  <a:srgbClr val="34495E"/>
                </a:solidFill>
                <a:latin typeface="Roboto" pitchFamily="34" charset="0"/>
                <a:ea typeface="Roboto" pitchFamily="34" charset="-122"/>
                <a:cs typeface="Roboto" pitchFamily="34" charset="-120"/>
              </a:rPr>
              <a:t>Permite a conexão de dispositivos de </a:t>
            </a:r>
            <a:r>
              <a:rPr lang="en-US" sz="734" b="1" dirty="0">
                <a:solidFill>
                  <a:srgbClr val="0066CC"/>
                </a:solidFill>
                <a:latin typeface="Roboto" pitchFamily="34" charset="0"/>
                <a:ea typeface="Roboto" pitchFamily="34" charset="-122"/>
                <a:cs typeface="Roboto" pitchFamily="34" charset="-120"/>
              </a:rPr>
              <a:t>diferentes fabricantes</a:t>
            </a:r>
            <a:r>
              <a:rPr lang="en-US" sz="780" dirty="0">
                <a:solidFill>
                  <a:srgbClr val="34495E"/>
                </a:solidFill>
                <a:latin typeface="Roboto" pitchFamily="34" charset="0"/>
                <a:ea typeface="Roboto" pitchFamily="34" charset="-122"/>
                <a:cs typeface="Roboto" pitchFamily="34" charset="-120"/>
              </a:rPr>
              <a:t> em uma mesma rede, garantindo que sensores, CLPs e IHMs troquem dados sem barreiras tecnológicas.</a:t>
            </a:r>
            <a:endParaRPr lang="en-US" sz="780" dirty="0"/>
          </a:p>
        </p:txBody>
      </p:sp>
      <p:sp>
        <p:nvSpPr>
          <p:cNvPr id="20" name="Shape 14"/>
          <p:cNvSpPr/>
          <p:nvPr/>
        </p:nvSpPr>
        <p:spPr>
          <a:xfrm>
            <a:off x="4679156" y="2643188"/>
            <a:ext cx="4036219" cy="1571625"/>
          </a:xfrm>
          <a:prstGeom prst="rect">
            <a:avLst/>
          </a:prstGeom>
          <a:solidFill>
            <a:srgbClr val="F8F9FA"/>
          </a:solidFill>
          <a:ln/>
        </p:spPr>
        <p:txBody>
          <a:bodyPr/>
          <a:lstStyle/>
          <a:p>
            <a:endParaRPr lang="pt-BR"/>
          </a:p>
        </p:txBody>
      </p:sp>
      <p:sp>
        <p:nvSpPr>
          <p:cNvPr id="21" name="Shape 15"/>
          <p:cNvSpPr/>
          <p:nvPr/>
        </p:nvSpPr>
        <p:spPr>
          <a:xfrm>
            <a:off x="4679156" y="2643188"/>
            <a:ext cx="4036219" cy="35719"/>
          </a:xfrm>
          <a:prstGeom prst="rect">
            <a:avLst/>
          </a:prstGeom>
          <a:solidFill>
            <a:srgbClr val="0066CC"/>
          </a:solidFill>
          <a:ln/>
        </p:spPr>
        <p:txBody>
          <a:bodyPr/>
          <a:lstStyle/>
          <a:p>
            <a:endParaRPr lang="pt-BR"/>
          </a:p>
        </p:txBody>
      </p:sp>
      <p:pic>
        <p:nvPicPr>
          <p:cNvPr id="22" name="Image 4" descr="preencoded.png"/>
          <p:cNvPicPr>
            <a:picLocks noChangeAspect="1"/>
          </p:cNvPicPr>
          <p:nvPr/>
        </p:nvPicPr>
        <p:blipFill>
          <a:blip r:embed="rId7"/>
          <a:stretch>
            <a:fillRect/>
          </a:stretch>
        </p:blipFill>
        <p:spPr>
          <a:xfrm>
            <a:off x="4822031" y="2786063"/>
            <a:ext cx="171450" cy="171450"/>
          </a:xfrm>
          <a:prstGeom prst="rect">
            <a:avLst/>
          </a:prstGeom>
        </p:spPr>
      </p:pic>
      <p:sp>
        <p:nvSpPr>
          <p:cNvPr id="23" name="Text 16"/>
          <p:cNvSpPr/>
          <p:nvPr/>
        </p:nvSpPr>
        <p:spPr>
          <a:xfrm>
            <a:off x="5100638" y="2787848"/>
            <a:ext cx="1285875" cy="167878"/>
          </a:xfrm>
          <a:prstGeom prst="rect">
            <a:avLst/>
          </a:prstGeom>
          <a:noFill/>
          <a:ln/>
        </p:spPr>
        <p:txBody>
          <a:bodyPr wrap="none" lIns="0" tIns="0" rIns="0" bIns="0" rtlCol="0" anchor="t">
            <a:spAutoFit/>
          </a:bodyPr>
          <a:lstStyle/>
          <a:p>
            <a:pPr marL="0" indent="0" algn="l">
              <a:lnSpc>
                <a:spcPts val="1400"/>
              </a:lnSpc>
              <a:buNone/>
            </a:pPr>
            <a:r>
              <a:rPr lang="en-US" sz="987" b="1" kern="0" spc="1" dirty="0">
                <a:solidFill>
                  <a:srgbClr val="2C3E50"/>
                </a:solidFill>
                <a:latin typeface="Roboto" pitchFamily="34" charset="0"/>
                <a:ea typeface="Roboto" pitchFamily="34" charset="-122"/>
                <a:cs typeface="Roboto" pitchFamily="34" charset="-120"/>
              </a:rPr>
              <a:t>TEMPO REAL (RT)</a:t>
            </a:r>
            <a:endParaRPr lang="en-US" sz="987" dirty="0"/>
          </a:p>
        </p:txBody>
      </p:sp>
      <p:sp>
        <p:nvSpPr>
          <p:cNvPr id="24" name="Text 17"/>
          <p:cNvSpPr/>
          <p:nvPr/>
        </p:nvSpPr>
        <p:spPr>
          <a:xfrm>
            <a:off x="4822031" y="3064669"/>
            <a:ext cx="3750469" cy="514350"/>
          </a:xfrm>
          <a:prstGeom prst="rect">
            <a:avLst/>
          </a:prstGeom>
          <a:noFill/>
          <a:ln/>
        </p:spPr>
        <p:txBody>
          <a:bodyPr wrap="square" lIns="0" tIns="0" rIns="0" bIns="0" rtlCol="0" anchor="t">
            <a:spAutoFit/>
          </a:bodyPr>
          <a:lstStyle/>
          <a:p>
            <a:pPr marL="0" indent="0" algn="l">
              <a:lnSpc>
                <a:spcPts val="1400"/>
              </a:lnSpc>
              <a:buNone/>
            </a:pPr>
            <a:r>
              <a:rPr lang="en-US" sz="780" dirty="0">
                <a:solidFill>
                  <a:srgbClr val="34495E"/>
                </a:solidFill>
                <a:latin typeface="Roboto" pitchFamily="34" charset="0"/>
                <a:ea typeface="Roboto" pitchFamily="34" charset="-122"/>
                <a:cs typeface="Roboto" pitchFamily="34" charset="-120"/>
              </a:rPr>
              <a:t>Utiliza mecanismos de </a:t>
            </a:r>
            <a:r>
              <a:rPr lang="en-US" sz="734" b="1" dirty="0">
                <a:solidFill>
                  <a:srgbClr val="FF6600"/>
                </a:solidFill>
                <a:latin typeface="Roboto" pitchFamily="34" charset="0"/>
                <a:ea typeface="Roboto" pitchFamily="34" charset="-122"/>
                <a:cs typeface="Roboto" pitchFamily="34" charset="-120"/>
              </a:rPr>
              <a:t>Real-Time (RT)</a:t>
            </a:r>
            <a:r>
              <a:rPr lang="en-US" sz="780" dirty="0">
                <a:solidFill>
                  <a:srgbClr val="34495E"/>
                </a:solidFill>
                <a:latin typeface="Roboto" pitchFamily="34" charset="0"/>
                <a:ea typeface="Roboto" pitchFamily="34" charset="-122"/>
                <a:cs typeface="Roboto" pitchFamily="34" charset="-120"/>
              </a:rPr>
              <a:t> para garantir que os dados críticos de controle cheguem no tempo necessário para o processo, sem atrasos imprevisíveis.</a:t>
            </a:r>
            <a:endParaRPr lang="en-US" sz="780" dirty="0"/>
          </a:p>
        </p:txBody>
      </p:sp>
      <p:pic>
        <p:nvPicPr>
          <p:cNvPr id="25" name="Picture 13">
            <a:extLst>
              <a:ext uri="{FF2B5EF4-FFF2-40B4-BE49-F238E27FC236}">
                <a16:creationId xmlns:a16="http://schemas.microsoft.com/office/drawing/2014/main" id="{4C43917A-F86E-6D7D-096C-42F0B9298D48}"/>
              </a:ext>
            </a:extLst>
          </p:cNvPr>
          <p:cNvPicPr>
            <a:picLocks noChangeAspect="1"/>
          </p:cNvPicPr>
          <p:nvPr/>
        </p:nvPicPr>
        <p:blipFill>
          <a:blip r:embed="rId8"/>
          <a:stretch>
            <a:fillRect/>
          </a:stretch>
        </p:blipFill>
        <p:spPr>
          <a:xfrm>
            <a:off x="8086948" y="4619618"/>
            <a:ext cx="968262" cy="41496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CE3C-242A-7E0D-77E1-1B9D521F7F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7AB39DE-5053-DD98-6428-191834BE0FDB}"/>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80F69BFB-80C9-41E1-DC09-3EC7D0F34458}"/>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 name="Text 1">
            <a:extLst>
              <a:ext uri="{FF2B5EF4-FFF2-40B4-BE49-F238E27FC236}">
                <a16:creationId xmlns:a16="http://schemas.microsoft.com/office/drawing/2014/main" id="{E4CE189B-BE67-FFF3-5CD9-C338C92600DB}"/>
              </a:ext>
            </a:extLst>
          </p:cNvPr>
          <p:cNvSpPr/>
          <p:nvPr/>
        </p:nvSpPr>
        <p:spPr>
          <a:xfrm>
            <a:off x="428625" y="136624"/>
            <a:ext cx="5552802" cy="307777"/>
          </a:xfrm>
          <a:prstGeom prst="rect">
            <a:avLst/>
          </a:prstGeom>
          <a:noFill/>
          <a:ln/>
        </p:spPr>
        <p:txBody>
          <a:bodyPr wrap="none" lIns="0" tIns="0" rIns="0" bIns="0" rtlCol="0" anchor="t">
            <a:spAutoFit/>
          </a:bodyPr>
          <a:lstStyle/>
          <a:p>
            <a:pPr marL="0" indent="0" algn="l">
              <a:lnSpc>
                <a:spcPts val="2400"/>
              </a:lnSpc>
              <a:buNone/>
            </a:pPr>
            <a:r>
              <a:rPr lang="en-US" sz="2000" b="1" dirty="0">
                <a:solidFill>
                  <a:srgbClr val="FFFFFF"/>
                </a:solidFill>
                <a:latin typeface="Roboto" pitchFamily="34" charset="0"/>
                <a:ea typeface="Roboto" pitchFamily="34" charset="-122"/>
                <a:cs typeface="Roboto" pitchFamily="34" charset="-120"/>
              </a:rPr>
              <a:t>PROFINET: O </a:t>
            </a:r>
            <a:r>
              <a:rPr lang="en-US" sz="2000" b="1" dirty="0" err="1">
                <a:solidFill>
                  <a:srgbClr val="FFFFFF"/>
                </a:solidFill>
                <a:latin typeface="Roboto" pitchFamily="34" charset="0"/>
                <a:ea typeface="Roboto" pitchFamily="34" charset="-122"/>
                <a:cs typeface="Roboto" pitchFamily="34" charset="-120"/>
              </a:rPr>
              <a:t>Padrão</a:t>
            </a:r>
            <a:r>
              <a:rPr lang="en-US" sz="2000" b="1" dirty="0">
                <a:solidFill>
                  <a:srgbClr val="FFFFFF"/>
                </a:solidFill>
                <a:latin typeface="Roboto" pitchFamily="34" charset="0"/>
                <a:ea typeface="Roboto" pitchFamily="34" charset="-122"/>
                <a:cs typeface="Roboto" pitchFamily="34" charset="-120"/>
              </a:rPr>
              <a:t> de </a:t>
            </a:r>
            <a:r>
              <a:rPr lang="en-US" sz="2000" b="1" dirty="0" err="1">
                <a:solidFill>
                  <a:srgbClr val="FFFFFF"/>
                </a:solidFill>
                <a:latin typeface="Roboto" pitchFamily="34" charset="0"/>
                <a:ea typeface="Roboto" pitchFamily="34" charset="-122"/>
                <a:cs typeface="Roboto" pitchFamily="34" charset="-120"/>
              </a:rPr>
              <a:t>Comunicação</a:t>
            </a:r>
            <a:r>
              <a:rPr lang="en-US" sz="2000" b="1" dirty="0">
                <a:solidFill>
                  <a:srgbClr val="FFFFFF"/>
                </a:solidFill>
                <a:latin typeface="Roboto" pitchFamily="34" charset="0"/>
                <a:ea typeface="Roboto" pitchFamily="34" charset="-122"/>
                <a:cs typeface="Roboto" pitchFamily="34" charset="-120"/>
              </a:rPr>
              <a:t> Industrial</a:t>
            </a:r>
            <a:endParaRPr lang="en-US" sz="2000" dirty="0"/>
          </a:p>
        </p:txBody>
      </p:sp>
      <p:pic>
        <p:nvPicPr>
          <p:cNvPr id="22" name="Imagem 21">
            <a:extLst>
              <a:ext uri="{FF2B5EF4-FFF2-40B4-BE49-F238E27FC236}">
                <a16:creationId xmlns:a16="http://schemas.microsoft.com/office/drawing/2014/main" id="{734048EC-5098-CB3D-DA96-88463A62939C}"/>
              </a:ext>
            </a:extLst>
          </p:cNvPr>
          <p:cNvPicPr>
            <a:picLocks noChangeAspect="1"/>
          </p:cNvPicPr>
          <p:nvPr/>
        </p:nvPicPr>
        <p:blipFill>
          <a:blip r:embed="rId4"/>
          <a:stretch>
            <a:fillRect/>
          </a:stretch>
        </p:blipFill>
        <p:spPr>
          <a:xfrm>
            <a:off x="4471424" y="1006857"/>
            <a:ext cx="395189" cy="2255494"/>
          </a:xfrm>
          <a:prstGeom prst="rect">
            <a:avLst/>
          </a:prstGeom>
        </p:spPr>
      </p:pic>
      <p:pic>
        <p:nvPicPr>
          <p:cNvPr id="6" name="Imagem 2" descr="Texto&#10;&#10;Descrição gerada automaticamente com confiança média">
            <a:extLst>
              <a:ext uri="{FF2B5EF4-FFF2-40B4-BE49-F238E27FC236}">
                <a16:creationId xmlns:a16="http://schemas.microsoft.com/office/drawing/2014/main" id="{4EAC6CC8-19FC-172F-CD22-CAA87CEBF9CD}"/>
              </a:ext>
            </a:extLst>
          </p:cNvPr>
          <p:cNvPicPr>
            <a:picLocks noChangeAspect="1"/>
          </p:cNvPicPr>
          <p:nvPr/>
        </p:nvPicPr>
        <p:blipFill>
          <a:blip r:embed="rId5"/>
          <a:stretch>
            <a:fillRect/>
          </a:stretch>
        </p:blipFill>
        <p:spPr>
          <a:xfrm>
            <a:off x="516118" y="642938"/>
            <a:ext cx="8305800" cy="3072623"/>
          </a:xfrm>
          <a:prstGeom prst="rect">
            <a:avLst/>
          </a:prstGeom>
        </p:spPr>
      </p:pic>
      <p:pic>
        <p:nvPicPr>
          <p:cNvPr id="8" name="Picture 13">
            <a:extLst>
              <a:ext uri="{FF2B5EF4-FFF2-40B4-BE49-F238E27FC236}">
                <a16:creationId xmlns:a16="http://schemas.microsoft.com/office/drawing/2014/main" id="{A9649683-CD23-B1D3-269A-7C53494546FB}"/>
              </a:ext>
            </a:extLst>
          </p:cNvPr>
          <p:cNvPicPr>
            <a:picLocks noChangeAspect="1"/>
          </p:cNvPicPr>
          <p:nvPr/>
        </p:nvPicPr>
        <p:blipFill>
          <a:blip r:embed="rId6"/>
          <a:stretch>
            <a:fillRect/>
          </a:stretch>
        </p:blipFill>
        <p:spPr>
          <a:xfrm>
            <a:off x="8086948" y="4619618"/>
            <a:ext cx="968262" cy="414969"/>
          </a:xfrm>
          <a:prstGeom prst="rect">
            <a:avLst/>
          </a:prstGeom>
        </p:spPr>
      </p:pic>
    </p:spTree>
    <p:extLst>
      <p:ext uri="{BB962C8B-B14F-4D97-AF65-F5344CB8AC3E}">
        <p14:creationId xmlns:p14="http://schemas.microsoft.com/office/powerpoint/2010/main" val="15934951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CE3C-242A-7E0D-77E1-1B9D521F7F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7AB39DE-5053-DD98-6428-191834BE0FDB}"/>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80F69BFB-80C9-41E1-DC09-3EC7D0F34458}"/>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 name="Text 1">
            <a:extLst>
              <a:ext uri="{FF2B5EF4-FFF2-40B4-BE49-F238E27FC236}">
                <a16:creationId xmlns:a16="http://schemas.microsoft.com/office/drawing/2014/main" id="{E4CE189B-BE67-FFF3-5CD9-C338C92600DB}"/>
              </a:ext>
            </a:extLst>
          </p:cNvPr>
          <p:cNvSpPr/>
          <p:nvPr/>
        </p:nvSpPr>
        <p:spPr>
          <a:xfrm>
            <a:off x="428625" y="136624"/>
            <a:ext cx="5552802" cy="307777"/>
          </a:xfrm>
          <a:prstGeom prst="rect">
            <a:avLst/>
          </a:prstGeom>
          <a:noFill/>
          <a:ln/>
        </p:spPr>
        <p:txBody>
          <a:bodyPr wrap="none" lIns="0" tIns="0" rIns="0" bIns="0" rtlCol="0" anchor="t">
            <a:spAutoFit/>
          </a:bodyPr>
          <a:lstStyle/>
          <a:p>
            <a:pPr marL="0" indent="0" algn="l">
              <a:lnSpc>
                <a:spcPts val="2400"/>
              </a:lnSpc>
              <a:buNone/>
            </a:pPr>
            <a:r>
              <a:rPr lang="en-US" sz="2000" b="1" dirty="0">
                <a:solidFill>
                  <a:srgbClr val="FFFFFF"/>
                </a:solidFill>
                <a:latin typeface="Roboto" pitchFamily="34" charset="0"/>
                <a:ea typeface="Roboto" pitchFamily="34" charset="-122"/>
                <a:cs typeface="Roboto" pitchFamily="34" charset="-120"/>
              </a:rPr>
              <a:t>PROFINET: O </a:t>
            </a:r>
            <a:r>
              <a:rPr lang="en-US" sz="2000" b="1" dirty="0" err="1">
                <a:solidFill>
                  <a:srgbClr val="FFFFFF"/>
                </a:solidFill>
                <a:latin typeface="Roboto" pitchFamily="34" charset="0"/>
                <a:ea typeface="Roboto" pitchFamily="34" charset="-122"/>
                <a:cs typeface="Roboto" pitchFamily="34" charset="-120"/>
              </a:rPr>
              <a:t>Padrão</a:t>
            </a:r>
            <a:r>
              <a:rPr lang="en-US" sz="2000" b="1" dirty="0">
                <a:solidFill>
                  <a:srgbClr val="FFFFFF"/>
                </a:solidFill>
                <a:latin typeface="Roboto" pitchFamily="34" charset="0"/>
                <a:ea typeface="Roboto" pitchFamily="34" charset="-122"/>
                <a:cs typeface="Roboto" pitchFamily="34" charset="-120"/>
              </a:rPr>
              <a:t> de </a:t>
            </a:r>
            <a:r>
              <a:rPr lang="en-US" sz="2000" b="1" dirty="0" err="1">
                <a:solidFill>
                  <a:srgbClr val="FFFFFF"/>
                </a:solidFill>
                <a:latin typeface="Roboto" pitchFamily="34" charset="0"/>
                <a:ea typeface="Roboto" pitchFamily="34" charset="-122"/>
                <a:cs typeface="Roboto" pitchFamily="34" charset="-120"/>
              </a:rPr>
              <a:t>Comunicação</a:t>
            </a:r>
            <a:r>
              <a:rPr lang="en-US" sz="2000" b="1" dirty="0">
                <a:solidFill>
                  <a:srgbClr val="FFFFFF"/>
                </a:solidFill>
                <a:latin typeface="Roboto" pitchFamily="34" charset="0"/>
                <a:ea typeface="Roboto" pitchFamily="34" charset="-122"/>
                <a:cs typeface="Roboto" pitchFamily="34" charset="-120"/>
              </a:rPr>
              <a:t> Industrial</a:t>
            </a:r>
            <a:endParaRPr lang="en-US" sz="2000" dirty="0"/>
          </a:p>
        </p:txBody>
      </p:sp>
      <p:pic>
        <p:nvPicPr>
          <p:cNvPr id="22" name="Imagem 21">
            <a:extLst>
              <a:ext uri="{FF2B5EF4-FFF2-40B4-BE49-F238E27FC236}">
                <a16:creationId xmlns:a16="http://schemas.microsoft.com/office/drawing/2014/main" id="{734048EC-5098-CB3D-DA96-88463A62939C}"/>
              </a:ext>
            </a:extLst>
          </p:cNvPr>
          <p:cNvPicPr>
            <a:picLocks noChangeAspect="1"/>
          </p:cNvPicPr>
          <p:nvPr/>
        </p:nvPicPr>
        <p:blipFill>
          <a:blip r:embed="rId4"/>
          <a:stretch>
            <a:fillRect/>
          </a:stretch>
        </p:blipFill>
        <p:spPr>
          <a:xfrm>
            <a:off x="4471424" y="1006857"/>
            <a:ext cx="395189" cy="2255494"/>
          </a:xfrm>
          <a:prstGeom prst="rect">
            <a:avLst/>
          </a:prstGeom>
        </p:spPr>
      </p:pic>
      <p:pic>
        <p:nvPicPr>
          <p:cNvPr id="8" name="Picture 13">
            <a:extLst>
              <a:ext uri="{FF2B5EF4-FFF2-40B4-BE49-F238E27FC236}">
                <a16:creationId xmlns:a16="http://schemas.microsoft.com/office/drawing/2014/main" id="{A9649683-CD23-B1D3-269A-7C53494546FB}"/>
              </a:ext>
            </a:extLst>
          </p:cNvPr>
          <p:cNvPicPr>
            <a:picLocks noChangeAspect="1"/>
          </p:cNvPicPr>
          <p:nvPr/>
        </p:nvPicPr>
        <p:blipFill>
          <a:blip r:embed="rId5"/>
          <a:stretch>
            <a:fillRect/>
          </a:stretch>
        </p:blipFill>
        <p:spPr>
          <a:xfrm>
            <a:off x="8086948" y="4619618"/>
            <a:ext cx="968262" cy="414969"/>
          </a:xfrm>
          <a:prstGeom prst="rect">
            <a:avLst/>
          </a:prstGeom>
        </p:spPr>
      </p:pic>
      <p:pic>
        <p:nvPicPr>
          <p:cNvPr id="5" name="Imagem 2">
            <a:extLst>
              <a:ext uri="{FF2B5EF4-FFF2-40B4-BE49-F238E27FC236}">
                <a16:creationId xmlns:a16="http://schemas.microsoft.com/office/drawing/2014/main" id="{9C90BA18-9900-DE6F-4D11-5A7740C236F4}"/>
              </a:ext>
            </a:extLst>
          </p:cNvPr>
          <p:cNvPicPr>
            <a:picLocks noChangeAspect="1"/>
          </p:cNvPicPr>
          <p:nvPr/>
        </p:nvPicPr>
        <p:blipFill>
          <a:blip r:embed="rId6"/>
          <a:stretch>
            <a:fillRect/>
          </a:stretch>
        </p:blipFill>
        <p:spPr>
          <a:xfrm>
            <a:off x="705713" y="749639"/>
            <a:ext cx="5275714" cy="4189744"/>
          </a:xfrm>
          <a:prstGeom prst="rect">
            <a:avLst/>
          </a:prstGeom>
        </p:spPr>
      </p:pic>
      <p:sp>
        <p:nvSpPr>
          <p:cNvPr id="7" name="Retângulo: Cantos Arredondados 3">
            <a:extLst>
              <a:ext uri="{FF2B5EF4-FFF2-40B4-BE49-F238E27FC236}">
                <a16:creationId xmlns:a16="http://schemas.microsoft.com/office/drawing/2014/main" id="{D4C02376-601B-3E01-7E57-41369EBF7001}"/>
              </a:ext>
            </a:extLst>
          </p:cNvPr>
          <p:cNvSpPr/>
          <p:nvPr/>
        </p:nvSpPr>
        <p:spPr>
          <a:xfrm>
            <a:off x="6253089" y="977705"/>
            <a:ext cx="2679896" cy="151227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pt-BR" dirty="0"/>
              <a:t>Estrutura Rede Profinet</a:t>
            </a:r>
          </a:p>
        </p:txBody>
      </p:sp>
    </p:spTree>
    <p:extLst>
      <p:ext uri="{BB962C8B-B14F-4D97-AF65-F5344CB8AC3E}">
        <p14:creationId xmlns:p14="http://schemas.microsoft.com/office/powerpoint/2010/main" val="41442548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CE3C-242A-7E0D-77E1-1B9D521F7F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7AB39DE-5053-DD98-6428-191834BE0FDB}"/>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80F69BFB-80C9-41E1-DC09-3EC7D0F34458}"/>
              </a:ext>
            </a:extLst>
          </p:cNvPr>
          <p:cNvSpPr/>
          <p:nvPr/>
        </p:nvSpPr>
        <p:spPr>
          <a:xfrm>
            <a:off x="0" y="0"/>
            <a:ext cx="9144000" cy="642938"/>
          </a:xfrm>
          <a:prstGeom prst="rect">
            <a:avLst/>
          </a:prstGeom>
          <a:solidFill>
            <a:srgbClr val="004A99"/>
          </a:solidFill>
          <a:ln/>
        </p:spPr>
        <p:txBody>
          <a:bodyPr/>
          <a:lstStyle/>
          <a:p>
            <a:endParaRPr lang="pt-BR" noProof="0" dirty="0"/>
          </a:p>
        </p:txBody>
      </p:sp>
      <p:sp>
        <p:nvSpPr>
          <p:cNvPr id="4" name="Text 1">
            <a:extLst>
              <a:ext uri="{FF2B5EF4-FFF2-40B4-BE49-F238E27FC236}">
                <a16:creationId xmlns:a16="http://schemas.microsoft.com/office/drawing/2014/main" id="{E4CE189B-BE67-FFF3-5CD9-C338C92600DB}"/>
              </a:ext>
            </a:extLst>
          </p:cNvPr>
          <p:cNvSpPr/>
          <p:nvPr/>
        </p:nvSpPr>
        <p:spPr>
          <a:xfrm>
            <a:off x="428625" y="136624"/>
            <a:ext cx="5552802" cy="307777"/>
          </a:xfrm>
          <a:prstGeom prst="rect">
            <a:avLst/>
          </a:prstGeom>
          <a:noFill/>
          <a:ln/>
        </p:spPr>
        <p:txBody>
          <a:bodyPr wrap="none" lIns="0" tIns="0" rIns="0" bIns="0" rtlCol="0" anchor="t">
            <a:spAutoFit/>
          </a:bodyPr>
          <a:lstStyle/>
          <a:p>
            <a:pPr marL="0" indent="0" algn="l">
              <a:lnSpc>
                <a:spcPts val="2400"/>
              </a:lnSpc>
              <a:buNone/>
            </a:pPr>
            <a:r>
              <a:rPr lang="en-US" sz="2000" b="1" dirty="0">
                <a:solidFill>
                  <a:srgbClr val="FFFFFF"/>
                </a:solidFill>
                <a:latin typeface="Roboto" pitchFamily="34" charset="0"/>
                <a:ea typeface="Roboto" pitchFamily="34" charset="-122"/>
                <a:cs typeface="Roboto" pitchFamily="34" charset="-120"/>
              </a:rPr>
              <a:t>PROFINET: O </a:t>
            </a:r>
            <a:r>
              <a:rPr lang="en-US" sz="2000" b="1" dirty="0" err="1">
                <a:solidFill>
                  <a:srgbClr val="FFFFFF"/>
                </a:solidFill>
                <a:latin typeface="Roboto" pitchFamily="34" charset="0"/>
                <a:ea typeface="Roboto" pitchFamily="34" charset="-122"/>
                <a:cs typeface="Roboto" pitchFamily="34" charset="-120"/>
              </a:rPr>
              <a:t>Padrão</a:t>
            </a:r>
            <a:r>
              <a:rPr lang="en-US" sz="2000" b="1" dirty="0">
                <a:solidFill>
                  <a:srgbClr val="FFFFFF"/>
                </a:solidFill>
                <a:latin typeface="Roboto" pitchFamily="34" charset="0"/>
                <a:ea typeface="Roboto" pitchFamily="34" charset="-122"/>
                <a:cs typeface="Roboto" pitchFamily="34" charset="-120"/>
              </a:rPr>
              <a:t> de </a:t>
            </a:r>
            <a:r>
              <a:rPr lang="en-US" sz="2000" b="1" dirty="0" err="1">
                <a:solidFill>
                  <a:srgbClr val="FFFFFF"/>
                </a:solidFill>
                <a:latin typeface="Roboto" pitchFamily="34" charset="0"/>
                <a:ea typeface="Roboto" pitchFamily="34" charset="-122"/>
                <a:cs typeface="Roboto" pitchFamily="34" charset="-120"/>
              </a:rPr>
              <a:t>Comunicação</a:t>
            </a:r>
            <a:r>
              <a:rPr lang="en-US" sz="2000" b="1" dirty="0">
                <a:solidFill>
                  <a:srgbClr val="FFFFFF"/>
                </a:solidFill>
                <a:latin typeface="Roboto" pitchFamily="34" charset="0"/>
                <a:ea typeface="Roboto" pitchFamily="34" charset="-122"/>
                <a:cs typeface="Roboto" pitchFamily="34" charset="-120"/>
              </a:rPr>
              <a:t> Industrial</a:t>
            </a:r>
            <a:endParaRPr lang="en-US" sz="2000" dirty="0"/>
          </a:p>
        </p:txBody>
      </p:sp>
      <p:pic>
        <p:nvPicPr>
          <p:cNvPr id="22" name="Imagem 21">
            <a:extLst>
              <a:ext uri="{FF2B5EF4-FFF2-40B4-BE49-F238E27FC236}">
                <a16:creationId xmlns:a16="http://schemas.microsoft.com/office/drawing/2014/main" id="{734048EC-5098-CB3D-DA96-88463A62939C}"/>
              </a:ext>
            </a:extLst>
          </p:cNvPr>
          <p:cNvPicPr>
            <a:picLocks noChangeAspect="1"/>
          </p:cNvPicPr>
          <p:nvPr/>
        </p:nvPicPr>
        <p:blipFill>
          <a:blip r:embed="rId4"/>
          <a:stretch>
            <a:fillRect/>
          </a:stretch>
        </p:blipFill>
        <p:spPr>
          <a:xfrm>
            <a:off x="4471424" y="1006857"/>
            <a:ext cx="395189" cy="2255494"/>
          </a:xfrm>
          <a:prstGeom prst="rect">
            <a:avLst/>
          </a:prstGeom>
        </p:spPr>
      </p:pic>
      <p:pic>
        <p:nvPicPr>
          <p:cNvPr id="8" name="Picture 13">
            <a:extLst>
              <a:ext uri="{FF2B5EF4-FFF2-40B4-BE49-F238E27FC236}">
                <a16:creationId xmlns:a16="http://schemas.microsoft.com/office/drawing/2014/main" id="{A9649683-CD23-B1D3-269A-7C53494546FB}"/>
              </a:ext>
            </a:extLst>
          </p:cNvPr>
          <p:cNvPicPr>
            <a:picLocks noChangeAspect="1"/>
          </p:cNvPicPr>
          <p:nvPr/>
        </p:nvPicPr>
        <p:blipFill>
          <a:blip r:embed="rId5"/>
          <a:stretch>
            <a:fillRect/>
          </a:stretch>
        </p:blipFill>
        <p:spPr>
          <a:xfrm>
            <a:off x="8086948" y="4619618"/>
            <a:ext cx="968262" cy="414969"/>
          </a:xfrm>
          <a:prstGeom prst="rect">
            <a:avLst/>
          </a:prstGeom>
        </p:spPr>
      </p:pic>
      <p:pic>
        <p:nvPicPr>
          <p:cNvPr id="13" name="Picture 12">
            <a:extLst>
              <a:ext uri="{FF2B5EF4-FFF2-40B4-BE49-F238E27FC236}">
                <a16:creationId xmlns:a16="http://schemas.microsoft.com/office/drawing/2014/main" id="{D3760C84-1409-CAEC-89B3-004D935C7F86}"/>
              </a:ext>
            </a:extLst>
          </p:cNvPr>
          <p:cNvPicPr>
            <a:picLocks noChangeAspect="1"/>
          </p:cNvPicPr>
          <p:nvPr/>
        </p:nvPicPr>
        <p:blipFill>
          <a:blip r:embed="rId6"/>
          <a:stretch>
            <a:fillRect/>
          </a:stretch>
        </p:blipFill>
        <p:spPr>
          <a:xfrm>
            <a:off x="1080018" y="780433"/>
            <a:ext cx="6133582" cy="3582634"/>
          </a:xfrm>
          <a:prstGeom prst="rect">
            <a:avLst/>
          </a:prstGeom>
        </p:spPr>
      </p:pic>
      <p:sp>
        <p:nvSpPr>
          <p:cNvPr id="14" name="Text 16">
            <a:extLst>
              <a:ext uri="{FF2B5EF4-FFF2-40B4-BE49-F238E27FC236}">
                <a16:creationId xmlns:a16="http://schemas.microsoft.com/office/drawing/2014/main" id="{095841C7-80A3-2202-6D6B-685351993F5E}"/>
              </a:ext>
            </a:extLst>
          </p:cNvPr>
          <p:cNvSpPr/>
          <p:nvPr/>
        </p:nvSpPr>
        <p:spPr>
          <a:xfrm>
            <a:off x="792090" y="4393421"/>
            <a:ext cx="6709438" cy="553998"/>
          </a:xfrm>
          <a:prstGeom prst="rect">
            <a:avLst/>
          </a:prstGeom>
          <a:noFill/>
          <a:ln/>
        </p:spPr>
        <p:txBody>
          <a:bodyPr wrap="square" lIns="0" tIns="0" rIns="0" bIns="0" rtlCol="0" anchor="t">
            <a:spAutoFit/>
          </a:bodyPr>
          <a:lstStyle/>
          <a:p>
            <a:pPr algn="just"/>
            <a:r>
              <a:rPr lang="pt-BR" altLang="pt-BR" sz="1200" dirty="0">
                <a:latin typeface="Trebuchet MS" panose="020B0603020202020204" pitchFamily="34" charset="0"/>
                <a:cs typeface="Calibri" panose="020F0502020204030204" pitchFamily="34" charset="0"/>
              </a:rPr>
              <a:t>Para a operação de máquinas, equipamentos e processos em praticamente todas as áreas da manufatura, são necessários elementos de controle além do fornecimento de energia. Deve ser possível iniciar, controlar, monitorar e encerrar a operação de qualquer máquina ou processo.</a:t>
            </a:r>
            <a:endParaRPr lang="pt-BR" altLang="pt-BR" sz="1200" dirty="0">
              <a:solidFill>
                <a:srgbClr val="FF0000"/>
              </a:solidFill>
              <a:latin typeface="Trebuchet MS" panose="020B0603020202020204" pitchFamily="34" charset="0"/>
              <a:cs typeface="Calibri" panose="020F0502020204030204" pitchFamily="34" charset="0"/>
            </a:endParaRPr>
          </a:p>
        </p:txBody>
      </p:sp>
    </p:spTree>
    <p:extLst>
      <p:ext uri="{BB962C8B-B14F-4D97-AF65-F5344CB8AC3E}">
        <p14:creationId xmlns:p14="http://schemas.microsoft.com/office/powerpoint/2010/main" val="13522762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85775" y="170557"/>
            <a:ext cx="4296966" cy="301823"/>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2C3E50"/>
                </a:solidFill>
                <a:latin typeface="Roboto" pitchFamily="34" charset="0"/>
                <a:ea typeface="Roboto" pitchFamily="34" charset="-122"/>
                <a:cs typeface="Roboto" pitchFamily="34" charset="-120"/>
              </a:rPr>
              <a:t>Supervisão e Interface (IHM/SCADA)</a:t>
            </a:r>
            <a:endParaRPr lang="en-US" sz="1808" dirty="0"/>
          </a:p>
        </p:txBody>
      </p:sp>
      <p:sp>
        <p:nvSpPr>
          <p:cNvPr id="4" name="Shape 1"/>
          <p:cNvSpPr/>
          <p:nvPr/>
        </p:nvSpPr>
        <p:spPr>
          <a:xfrm>
            <a:off x="428625" y="785813"/>
            <a:ext cx="4822031" cy="1000125"/>
          </a:xfrm>
          <a:prstGeom prst="rect">
            <a:avLst/>
          </a:prstGeom>
          <a:solidFill>
            <a:srgbClr val="F0F8FF"/>
          </a:solidFill>
          <a:ln w="18288">
            <a:solidFill>
              <a:srgbClr val="0066CC"/>
            </a:solidFill>
            <a:prstDash val="solid"/>
          </a:ln>
        </p:spPr>
        <p:txBody>
          <a:bodyPr/>
          <a:lstStyle/>
          <a:p>
            <a:endParaRPr lang="pt-BR"/>
          </a:p>
        </p:txBody>
      </p:sp>
      <p:sp>
        <p:nvSpPr>
          <p:cNvPr id="5" name="Text 2"/>
          <p:cNvSpPr/>
          <p:nvPr/>
        </p:nvSpPr>
        <p:spPr>
          <a:xfrm>
            <a:off x="571500" y="892969"/>
            <a:ext cx="4536281" cy="151805"/>
          </a:xfrm>
          <a:prstGeom prst="rect">
            <a:avLst/>
          </a:prstGeom>
          <a:noFill/>
          <a:ln/>
        </p:spPr>
        <p:txBody>
          <a:bodyPr wrap="none" lIns="0" tIns="0" rIns="0" bIns="0" rtlCol="0" anchor="t">
            <a:spAutoFit/>
          </a:bodyPr>
          <a:lstStyle/>
          <a:p>
            <a:pPr marL="0" indent="0" algn="l">
              <a:lnSpc>
                <a:spcPts val="1200"/>
              </a:lnSpc>
              <a:buNone/>
            </a:pPr>
            <a:r>
              <a:rPr lang="en-US" sz="885" b="1" kern="0" spc="1" dirty="0">
                <a:solidFill>
                  <a:srgbClr val="0066CC"/>
                </a:solidFill>
                <a:latin typeface="Roboto" pitchFamily="34" charset="0"/>
                <a:ea typeface="Roboto" pitchFamily="34" charset="-122"/>
                <a:cs typeface="Roboto" pitchFamily="34" charset="-120"/>
              </a:rPr>
              <a:t>IHM (INTERFACE HOMEM-MÁQUINA)</a:t>
            </a:r>
            <a:endParaRPr lang="en-US" sz="885" dirty="0"/>
          </a:p>
        </p:txBody>
      </p:sp>
      <p:sp>
        <p:nvSpPr>
          <p:cNvPr id="6" name="Text 3"/>
          <p:cNvSpPr/>
          <p:nvPr/>
        </p:nvSpPr>
        <p:spPr>
          <a:xfrm>
            <a:off x="571500" y="1116211"/>
            <a:ext cx="4536281" cy="320018"/>
          </a:xfrm>
          <a:prstGeom prst="rect">
            <a:avLst/>
          </a:prstGeom>
          <a:noFill/>
          <a:ln/>
        </p:spPr>
        <p:txBody>
          <a:bodyPr wrap="square" lIns="0" tIns="0" rIns="0" bIns="0" rtlCol="0" anchor="t">
            <a:spAutoFit/>
          </a:bodyPr>
          <a:lstStyle/>
          <a:p>
            <a:pPr marL="0" indent="0" algn="l">
              <a:lnSpc>
                <a:spcPts val="1300"/>
              </a:lnSpc>
              <a:buNone/>
            </a:pPr>
            <a:r>
              <a:rPr lang="en-US" sz="727" dirty="0">
                <a:solidFill>
                  <a:srgbClr val="34495E"/>
                </a:solidFill>
                <a:latin typeface="Roboto" pitchFamily="34" charset="0"/>
                <a:ea typeface="Roboto" pitchFamily="34" charset="-122"/>
                <a:cs typeface="Roboto" pitchFamily="34" charset="-120"/>
              </a:rPr>
              <a:t>Painel de operação </a:t>
            </a:r>
            <a:r>
              <a:rPr lang="en-US" sz="683" b="1" dirty="0">
                <a:solidFill>
                  <a:srgbClr val="2C3E50"/>
                </a:solidFill>
                <a:latin typeface="Roboto" pitchFamily="34" charset="0"/>
                <a:ea typeface="Roboto" pitchFamily="34" charset="-122"/>
                <a:cs typeface="Roboto" pitchFamily="34" charset="-120"/>
              </a:rPr>
              <a:t>local</a:t>
            </a:r>
            <a:r>
              <a:rPr lang="en-US" sz="727" dirty="0">
                <a:solidFill>
                  <a:srgbClr val="34495E"/>
                </a:solidFill>
                <a:latin typeface="Roboto" pitchFamily="34" charset="0"/>
                <a:ea typeface="Roboto" pitchFamily="34" charset="-122"/>
                <a:cs typeface="Roboto" pitchFamily="34" charset="-120"/>
              </a:rPr>
              <a:t> para visualização rápida e controle direto da máquina. Permite ao operador interagir com o CLP no </a:t>
            </a:r>
            <a:r>
              <a:rPr lang="en-US" sz="683" b="1" dirty="0">
                <a:solidFill>
                  <a:srgbClr val="2C3E50"/>
                </a:solidFill>
                <a:latin typeface="Roboto" pitchFamily="34" charset="0"/>
                <a:ea typeface="Roboto" pitchFamily="34" charset="-122"/>
                <a:cs typeface="Roboto" pitchFamily="34" charset="-120"/>
              </a:rPr>
              <a:t>chão de fábrica</a:t>
            </a:r>
            <a:r>
              <a:rPr lang="en-US" sz="727" dirty="0">
                <a:solidFill>
                  <a:srgbClr val="34495E"/>
                </a:solidFill>
                <a:latin typeface="Roboto" pitchFamily="34" charset="0"/>
                <a:ea typeface="Roboto" pitchFamily="34" charset="-122"/>
                <a:cs typeface="Roboto" pitchFamily="34" charset="-120"/>
              </a:rPr>
              <a:t>.</a:t>
            </a:r>
            <a:endParaRPr lang="en-US" sz="727" dirty="0"/>
          </a:p>
        </p:txBody>
      </p:sp>
      <p:sp>
        <p:nvSpPr>
          <p:cNvPr id="7" name="Shape 4"/>
          <p:cNvSpPr/>
          <p:nvPr/>
        </p:nvSpPr>
        <p:spPr>
          <a:xfrm>
            <a:off x="428625" y="1893094"/>
            <a:ext cx="4822031" cy="1000125"/>
          </a:xfrm>
          <a:prstGeom prst="rect">
            <a:avLst/>
          </a:prstGeom>
          <a:solidFill>
            <a:srgbClr val="F0F8FF"/>
          </a:solidFill>
          <a:ln w="18288">
            <a:solidFill>
              <a:srgbClr val="0066CC"/>
            </a:solidFill>
            <a:prstDash val="solid"/>
          </a:ln>
        </p:spPr>
        <p:txBody>
          <a:bodyPr/>
          <a:lstStyle/>
          <a:p>
            <a:endParaRPr lang="pt-BR"/>
          </a:p>
        </p:txBody>
      </p:sp>
      <p:sp>
        <p:nvSpPr>
          <p:cNvPr id="8" name="Text 5"/>
          <p:cNvSpPr/>
          <p:nvPr/>
        </p:nvSpPr>
        <p:spPr>
          <a:xfrm>
            <a:off x="571500" y="2000250"/>
            <a:ext cx="4536281" cy="151805"/>
          </a:xfrm>
          <a:prstGeom prst="rect">
            <a:avLst/>
          </a:prstGeom>
          <a:noFill/>
          <a:ln/>
        </p:spPr>
        <p:txBody>
          <a:bodyPr wrap="none" lIns="0" tIns="0" rIns="0" bIns="0" rtlCol="0" anchor="t">
            <a:spAutoFit/>
          </a:bodyPr>
          <a:lstStyle/>
          <a:p>
            <a:pPr marL="0" indent="0" algn="l">
              <a:lnSpc>
                <a:spcPts val="1200"/>
              </a:lnSpc>
              <a:buNone/>
            </a:pPr>
            <a:r>
              <a:rPr lang="en-US" sz="885" b="1" kern="0" spc="1" dirty="0">
                <a:solidFill>
                  <a:srgbClr val="0066CC"/>
                </a:solidFill>
                <a:latin typeface="Roboto" pitchFamily="34" charset="0"/>
                <a:ea typeface="Roboto" pitchFamily="34" charset="-122"/>
                <a:cs typeface="Roboto" pitchFamily="34" charset="-120"/>
              </a:rPr>
              <a:t>SISTEMA SCADA (SUPERVISÓRIO)</a:t>
            </a:r>
            <a:endParaRPr lang="en-US" sz="885" dirty="0"/>
          </a:p>
        </p:txBody>
      </p:sp>
      <p:sp>
        <p:nvSpPr>
          <p:cNvPr id="9" name="Text 6"/>
          <p:cNvSpPr/>
          <p:nvPr/>
        </p:nvSpPr>
        <p:spPr>
          <a:xfrm>
            <a:off x="571500" y="2223492"/>
            <a:ext cx="4536281" cy="320018"/>
          </a:xfrm>
          <a:prstGeom prst="rect">
            <a:avLst/>
          </a:prstGeom>
          <a:noFill/>
          <a:ln/>
        </p:spPr>
        <p:txBody>
          <a:bodyPr wrap="square" lIns="0" tIns="0" rIns="0" bIns="0" rtlCol="0" anchor="t">
            <a:spAutoFit/>
          </a:bodyPr>
          <a:lstStyle/>
          <a:p>
            <a:pPr marL="0" indent="0" algn="l">
              <a:lnSpc>
                <a:spcPts val="1300"/>
              </a:lnSpc>
              <a:buNone/>
            </a:pPr>
            <a:r>
              <a:rPr lang="en-US" sz="727" dirty="0">
                <a:solidFill>
                  <a:srgbClr val="34495E"/>
                </a:solidFill>
                <a:latin typeface="Roboto" pitchFamily="34" charset="0"/>
                <a:ea typeface="Roboto" pitchFamily="34" charset="-122"/>
                <a:cs typeface="Roboto" pitchFamily="34" charset="-120"/>
              </a:rPr>
              <a:t>Software </a:t>
            </a:r>
            <a:r>
              <a:rPr lang="en-US" sz="683" b="1" dirty="0">
                <a:solidFill>
                  <a:srgbClr val="2C3E50"/>
                </a:solidFill>
                <a:latin typeface="Roboto" pitchFamily="34" charset="0"/>
                <a:ea typeface="Roboto" pitchFamily="34" charset="-122"/>
                <a:cs typeface="Roboto" pitchFamily="34" charset="-120"/>
              </a:rPr>
              <a:t>centralizado</a:t>
            </a:r>
            <a:r>
              <a:rPr lang="en-US" sz="727" dirty="0">
                <a:solidFill>
                  <a:srgbClr val="34495E"/>
                </a:solidFill>
                <a:latin typeface="Roboto" pitchFamily="34" charset="0"/>
                <a:ea typeface="Roboto" pitchFamily="34" charset="-122"/>
                <a:cs typeface="Roboto" pitchFamily="34" charset="-120"/>
              </a:rPr>
              <a:t> para monitoramento de toda a planta industrial. Realiza a aquisição de dados, gera </a:t>
            </a:r>
            <a:r>
              <a:rPr lang="en-US" sz="683" b="1" dirty="0">
                <a:solidFill>
                  <a:srgbClr val="2C3E50"/>
                </a:solidFill>
                <a:latin typeface="Roboto" pitchFamily="34" charset="0"/>
                <a:ea typeface="Roboto" pitchFamily="34" charset="-122"/>
                <a:cs typeface="Roboto" pitchFamily="34" charset="-120"/>
              </a:rPr>
              <a:t>históricos</a:t>
            </a:r>
            <a:r>
              <a:rPr lang="en-US" sz="727" dirty="0">
                <a:solidFill>
                  <a:srgbClr val="34495E"/>
                </a:solidFill>
                <a:latin typeface="Roboto" pitchFamily="34" charset="0"/>
                <a:ea typeface="Roboto" pitchFamily="34" charset="-122"/>
                <a:cs typeface="Roboto" pitchFamily="34" charset="-120"/>
              </a:rPr>
              <a:t> e gerencia </a:t>
            </a:r>
            <a:r>
              <a:rPr lang="en-US" sz="683" b="1" dirty="0">
                <a:solidFill>
                  <a:srgbClr val="2C3E50"/>
                </a:solidFill>
                <a:latin typeface="Roboto" pitchFamily="34" charset="0"/>
                <a:ea typeface="Roboto" pitchFamily="34" charset="-122"/>
                <a:cs typeface="Roboto" pitchFamily="34" charset="-120"/>
              </a:rPr>
              <a:t>alarmes</a:t>
            </a:r>
            <a:r>
              <a:rPr lang="en-US" sz="727" dirty="0">
                <a:solidFill>
                  <a:srgbClr val="34495E"/>
                </a:solidFill>
                <a:latin typeface="Roboto" pitchFamily="34" charset="0"/>
                <a:ea typeface="Roboto" pitchFamily="34" charset="-122"/>
                <a:cs typeface="Roboto" pitchFamily="34" charset="-120"/>
              </a:rPr>
              <a:t> complexos.</a:t>
            </a:r>
            <a:endParaRPr lang="en-US" sz="727" dirty="0"/>
          </a:p>
        </p:txBody>
      </p:sp>
      <p:sp>
        <p:nvSpPr>
          <p:cNvPr id="10" name="Shape 7"/>
          <p:cNvSpPr/>
          <p:nvPr/>
        </p:nvSpPr>
        <p:spPr>
          <a:xfrm>
            <a:off x="428625" y="3000375"/>
            <a:ext cx="4822031" cy="1000125"/>
          </a:xfrm>
          <a:prstGeom prst="rect">
            <a:avLst/>
          </a:prstGeom>
          <a:solidFill>
            <a:srgbClr val="F0F8FF"/>
          </a:solidFill>
          <a:ln w="18288">
            <a:solidFill>
              <a:srgbClr val="0066CC"/>
            </a:solidFill>
            <a:prstDash val="solid"/>
          </a:ln>
        </p:spPr>
        <p:txBody>
          <a:bodyPr/>
          <a:lstStyle/>
          <a:p>
            <a:endParaRPr lang="pt-BR"/>
          </a:p>
        </p:txBody>
      </p:sp>
      <p:sp>
        <p:nvSpPr>
          <p:cNvPr id="11" name="Text 8"/>
          <p:cNvSpPr/>
          <p:nvPr/>
        </p:nvSpPr>
        <p:spPr>
          <a:xfrm>
            <a:off x="571500" y="3107531"/>
            <a:ext cx="4536281" cy="151805"/>
          </a:xfrm>
          <a:prstGeom prst="rect">
            <a:avLst/>
          </a:prstGeom>
          <a:noFill/>
          <a:ln/>
        </p:spPr>
        <p:txBody>
          <a:bodyPr wrap="none" lIns="0" tIns="0" rIns="0" bIns="0" rtlCol="0" anchor="t">
            <a:spAutoFit/>
          </a:bodyPr>
          <a:lstStyle/>
          <a:p>
            <a:pPr marL="0" indent="0" algn="l">
              <a:lnSpc>
                <a:spcPts val="1200"/>
              </a:lnSpc>
              <a:buNone/>
            </a:pPr>
            <a:r>
              <a:rPr lang="en-US" sz="885" b="1" kern="0" spc="1" dirty="0">
                <a:solidFill>
                  <a:srgbClr val="0066CC"/>
                </a:solidFill>
                <a:latin typeface="Roboto" pitchFamily="34" charset="0"/>
                <a:ea typeface="Roboto" pitchFamily="34" charset="-122"/>
                <a:cs typeface="Roboto" pitchFamily="34" charset="-120"/>
              </a:rPr>
              <a:t>MONITORAMENTO E CONTROLE</a:t>
            </a:r>
            <a:endParaRPr lang="en-US" sz="885" dirty="0"/>
          </a:p>
        </p:txBody>
      </p:sp>
      <p:sp>
        <p:nvSpPr>
          <p:cNvPr id="12" name="Text 9"/>
          <p:cNvSpPr/>
          <p:nvPr/>
        </p:nvSpPr>
        <p:spPr>
          <a:xfrm>
            <a:off x="571500" y="3330773"/>
            <a:ext cx="4536281" cy="320018"/>
          </a:xfrm>
          <a:prstGeom prst="rect">
            <a:avLst/>
          </a:prstGeom>
          <a:noFill/>
          <a:ln/>
        </p:spPr>
        <p:txBody>
          <a:bodyPr wrap="square" lIns="0" tIns="0" rIns="0" bIns="0" rtlCol="0" anchor="t">
            <a:spAutoFit/>
          </a:bodyPr>
          <a:lstStyle/>
          <a:p>
            <a:pPr marL="0" indent="0" algn="l">
              <a:lnSpc>
                <a:spcPts val="1300"/>
              </a:lnSpc>
              <a:buNone/>
            </a:pPr>
            <a:r>
              <a:rPr lang="en-US" sz="727" dirty="0">
                <a:solidFill>
                  <a:srgbClr val="34495E"/>
                </a:solidFill>
                <a:latin typeface="Roboto" pitchFamily="34" charset="0"/>
                <a:ea typeface="Roboto" pitchFamily="34" charset="-122"/>
                <a:cs typeface="Roboto" pitchFamily="34" charset="-120"/>
              </a:rPr>
              <a:t>Visualização em </a:t>
            </a:r>
            <a:r>
              <a:rPr lang="en-US" sz="683" b="1" dirty="0">
                <a:solidFill>
                  <a:srgbClr val="2C3E50"/>
                </a:solidFill>
                <a:latin typeface="Roboto" pitchFamily="34" charset="0"/>
                <a:ea typeface="Roboto" pitchFamily="34" charset="-122"/>
                <a:cs typeface="Roboto" pitchFamily="34" charset="-120"/>
              </a:rPr>
              <a:t>tempo real</a:t>
            </a:r>
            <a:r>
              <a:rPr lang="en-US" sz="727" dirty="0">
                <a:solidFill>
                  <a:srgbClr val="34495E"/>
                </a:solidFill>
                <a:latin typeface="Roboto" pitchFamily="34" charset="0"/>
                <a:ea typeface="Roboto" pitchFamily="34" charset="-122"/>
                <a:cs typeface="Roboto" pitchFamily="34" charset="-120"/>
              </a:rPr>
              <a:t> de variáveis do processo (Nível, Pressão, Status). Permite o ajuste de </a:t>
            </a:r>
            <a:r>
              <a:rPr lang="en-US" sz="683" b="1" dirty="0">
                <a:solidFill>
                  <a:srgbClr val="2C3E50"/>
                </a:solidFill>
                <a:latin typeface="Roboto" pitchFamily="34" charset="0"/>
                <a:ea typeface="Roboto" pitchFamily="34" charset="-122"/>
                <a:cs typeface="Roboto" pitchFamily="34" charset="-120"/>
              </a:rPr>
              <a:t>setpoints</a:t>
            </a:r>
            <a:r>
              <a:rPr lang="en-US" sz="727" dirty="0">
                <a:solidFill>
                  <a:srgbClr val="34495E"/>
                </a:solidFill>
                <a:latin typeface="Roboto" pitchFamily="34" charset="0"/>
                <a:ea typeface="Roboto" pitchFamily="34" charset="-122"/>
                <a:cs typeface="Roboto" pitchFamily="34" charset="-120"/>
              </a:rPr>
              <a:t> e comandos remotos de forma segura.</a:t>
            </a:r>
            <a:endParaRPr lang="en-US" sz="727" dirty="0"/>
          </a:p>
        </p:txBody>
      </p:sp>
      <p:sp>
        <p:nvSpPr>
          <p:cNvPr id="13" name="Shape 10"/>
          <p:cNvSpPr/>
          <p:nvPr/>
        </p:nvSpPr>
        <p:spPr>
          <a:xfrm>
            <a:off x="5500688" y="785813"/>
            <a:ext cx="3214688" cy="2500313"/>
          </a:xfrm>
          <a:prstGeom prst="rect">
            <a:avLst/>
          </a:prstGeom>
          <a:solidFill>
            <a:srgbClr val="F8F9FA"/>
          </a:solidFill>
          <a:ln w="18288">
            <a:solidFill>
              <a:srgbClr val="0066CC"/>
            </a:solidFill>
            <a:prstDash val="solid"/>
          </a:ln>
        </p:spPr>
        <p:txBody>
          <a:bodyPr/>
          <a:lstStyle/>
          <a:p>
            <a:endParaRPr lang="pt-BR"/>
          </a:p>
        </p:txBody>
      </p:sp>
      <p:pic>
        <p:nvPicPr>
          <p:cNvPr id="14" name="Image 1" descr="preencoded.png"/>
          <p:cNvPicPr>
            <a:picLocks noChangeAspect="1"/>
          </p:cNvPicPr>
          <p:nvPr/>
        </p:nvPicPr>
        <p:blipFill>
          <a:blip r:embed="rId4"/>
          <a:stretch>
            <a:fillRect/>
          </a:stretch>
        </p:blipFill>
        <p:spPr>
          <a:xfrm>
            <a:off x="5500688" y="785813"/>
            <a:ext cx="3214688" cy="2500313"/>
          </a:xfrm>
          <a:prstGeom prst="rect">
            <a:avLst/>
          </a:prstGeom>
        </p:spPr>
      </p:pic>
      <p:sp>
        <p:nvSpPr>
          <p:cNvPr id="15" name="Text 11"/>
          <p:cNvSpPr/>
          <p:nvPr/>
        </p:nvSpPr>
        <p:spPr>
          <a:xfrm>
            <a:off x="5500688" y="3371850"/>
            <a:ext cx="3214688" cy="260021"/>
          </a:xfrm>
          <a:prstGeom prst="rect">
            <a:avLst/>
          </a:prstGeom>
          <a:noFill/>
          <a:ln/>
        </p:spPr>
        <p:txBody>
          <a:bodyPr wrap="square" lIns="0" tIns="0" rIns="0" bIns="0" rtlCol="0" anchor="t">
            <a:spAutoFit/>
          </a:bodyPr>
          <a:lstStyle/>
          <a:p>
            <a:pPr marL="0" indent="0" algn="ctr">
              <a:lnSpc>
                <a:spcPts val="1000"/>
              </a:lnSpc>
              <a:buNone/>
            </a:pPr>
            <a:r>
              <a:rPr lang="en-US" sz="634" b="1" dirty="0">
                <a:solidFill>
                  <a:srgbClr val="0066CC"/>
                </a:solidFill>
                <a:latin typeface="Roboto" pitchFamily="34" charset="0"/>
                <a:ea typeface="Roboto" pitchFamily="34" charset="-122"/>
                <a:cs typeface="Roboto" pitchFamily="34" charset="-120"/>
              </a:rPr>
              <a:t>Integração: Sinais de campo (4-20mA) processados pelo CLP e enviados ao Supervisório</a:t>
            </a:r>
            <a:endParaRPr lang="en-US" sz="634" dirty="0"/>
          </a:p>
        </p:txBody>
      </p:sp>
      <p:sp>
        <p:nvSpPr>
          <p:cNvPr id="16" name="Shape 12"/>
          <p:cNvSpPr/>
          <p:nvPr/>
        </p:nvSpPr>
        <p:spPr>
          <a:xfrm>
            <a:off x="5500688" y="3774746"/>
            <a:ext cx="3214688" cy="759023"/>
          </a:xfrm>
          <a:prstGeom prst="rect">
            <a:avLst/>
          </a:prstGeom>
          <a:solidFill>
            <a:srgbClr val="FFF5ED"/>
          </a:solidFill>
          <a:ln w="18288">
            <a:solidFill>
              <a:srgbClr val="FF6600"/>
            </a:solidFill>
            <a:prstDash val="solid"/>
          </a:ln>
        </p:spPr>
        <p:txBody>
          <a:bodyPr/>
          <a:lstStyle/>
          <a:p>
            <a:endParaRPr lang="pt-BR"/>
          </a:p>
        </p:txBody>
      </p:sp>
      <p:sp>
        <p:nvSpPr>
          <p:cNvPr id="17" name="Text 13"/>
          <p:cNvSpPr/>
          <p:nvPr/>
        </p:nvSpPr>
        <p:spPr>
          <a:xfrm>
            <a:off x="5643563" y="3881903"/>
            <a:ext cx="2928938" cy="133945"/>
          </a:xfrm>
          <a:prstGeom prst="rect">
            <a:avLst/>
          </a:prstGeom>
          <a:noFill/>
          <a:ln/>
        </p:spPr>
        <p:txBody>
          <a:bodyPr wrap="none" lIns="0" tIns="0" rIns="0" bIns="0" rtlCol="0" anchor="t">
            <a:spAutoFit/>
          </a:bodyPr>
          <a:lstStyle/>
          <a:p>
            <a:pPr marL="0" indent="0" algn="l">
              <a:lnSpc>
                <a:spcPts val="1100"/>
              </a:lnSpc>
              <a:buNone/>
            </a:pPr>
            <a:r>
              <a:rPr lang="en-US" sz="784" b="1" kern="0" spc="1" dirty="0">
                <a:solidFill>
                  <a:srgbClr val="FF6600"/>
                </a:solidFill>
                <a:latin typeface="Roboto" pitchFamily="34" charset="0"/>
                <a:ea typeface="Roboto" pitchFamily="34" charset="-122"/>
                <a:cs typeface="Roboto" pitchFamily="34" charset="-120"/>
              </a:rPr>
              <a:t>INTEROPERABILIDADE VERTICAL</a:t>
            </a:r>
            <a:endParaRPr lang="en-US" sz="784" dirty="0"/>
          </a:p>
        </p:txBody>
      </p:sp>
      <p:sp>
        <p:nvSpPr>
          <p:cNvPr id="18" name="Text 14"/>
          <p:cNvSpPr/>
          <p:nvPr/>
        </p:nvSpPr>
        <p:spPr>
          <a:xfrm>
            <a:off x="5643563" y="4072998"/>
            <a:ext cx="2928938" cy="417909"/>
          </a:xfrm>
          <a:prstGeom prst="rect">
            <a:avLst/>
          </a:prstGeom>
          <a:noFill/>
          <a:ln/>
        </p:spPr>
        <p:txBody>
          <a:bodyPr wrap="square" lIns="0" tIns="0" rIns="0" bIns="0" rtlCol="0" anchor="t">
            <a:spAutoFit/>
          </a:bodyPr>
          <a:lstStyle/>
          <a:p>
            <a:pPr marL="0" indent="0" algn="l">
              <a:lnSpc>
                <a:spcPts val="1100"/>
              </a:lnSpc>
              <a:buNone/>
            </a:pPr>
            <a:r>
              <a:rPr lang="en-US" sz="674" dirty="0">
                <a:solidFill>
                  <a:srgbClr val="2C3E50"/>
                </a:solidFill>
                <a:latin typeface="Roboto" pitchFamily="34" charset="0"/>
                <a:ea typeface="Roboto" pitchFamily="34" charset="-122"/>
                <a:cs typeface="Roboto" pitchFamily="34" charset="-120"/>
              </a:rPr>
              <a:t>A comunicação eficiente entre o CLP e o Supervisório garante que as decisões operacionais sejam baseadas em </a:t>
            </a:r>
            <a:r>
              <a:rPr lang="en-US" sz="634" b="1" dirty="0">
                <a:solidFill>
                  <a:srgbClr val="2C3E50"/>
                </a:solidFill>
                <a:latin typeface="Roboto" pitchFamily="34" charset="0"/>
                <a:ea typeface="Roboto" pitchFamily="34" charset="-122"/>
                <a:cs typeface="Roboto" pitchFamily="34" charset="-120"/>
              </a:rPr>
              <a:t>dados reais e atualizados</a:t>
            </a:r>
            <a:r>
              <a:rPr lang="en-US" sz="674" dirty="0">
                <a:solidFill>
                  <a:srgbClr val="2C3E50"/>
                </a:solidFill>
                <a:latin typeface="Roboto" pitchFamily="34" charset="0"/>
                <a:ea typeface="Roboto" pitchFamily="34" charset="-122"/>
                <a:cs typeface="Roboto" pitchFamily="34" charset="-120"/>
              </a:rPr>
              <a:t> do processo.</a:t>
            </a:r>
            <a:endParaRPr lang="en-US" sz="674"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642938"/>
          </a:xfrm>
          <a:prstGeom prst="rect">
            <a:avLst/>
          </a:prstGeom>
          <a:solidFill>
            <a:srgbClr val="004A99"/>
          </a:solidFill>
          <a:ln/>
        </p:spPr>
        <p:txBody>
          <a:bodyPr/>
          <a:lstStyle/>
          <a:p>
            <a:endParaRPr lang="pt-BR"/>
          </a:p>
        </p:txBody>
      </p:sp>
      <p:sp>
        <p:nvSpPr>
          <p:cNvPr id="4" name="Text 1"/>
          <p:cNvSpPr/>
          <p:nvPr/>
        </p:nvSpPr>
        <p:spPr>
          <a:xfrm>
            <a:off x="428625" y="170557"/>
            <a:ext cx="3073598" cy="301823"/>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FFFFFF"/>
                </a:solidFill>
                <a:latin typeface="Roboto" pitchFamily="34" charset="0"/>
                <a:ea typeface="Roboto" pitchFamily="34" charset="-122"/>
                <a:cs typeface="Roboto" pitchFamily="34" charset="-120"/>
              </a:rPr>
              <a:t>Referências Bibliográficas</a:t>
            </a:r>
            <a:endParaRPr lang="en-US" sz="1808" dirty="0"/>
          </a:p>
        </p:txBody>
      </p:sp>
      <p:pic>
        <p:nvPicPr>
          <p:cNvPr id="5" name="Image 1" descr="preencoded.png"/>
          <p:cNvPicPr>
            <a:picLocks noChangeAspect="1"/>
          </p:cNvPicPr>
          <p:nvPr/>
        </p:nvPicPr>
        <p:blipFill>
          <a:blip r:embed="rId4"/>
          <a:stretch>
            <a:fillRect/>
          </a:stretch>
        </p:blipFill>
        <p:spPr>
          <a:xfrm>
            <a:off x="428625" y="928688"/>
            <a:ext cx="157163" cy="171450"/>
          </a:xfrm>
          <a:prstGeom prst="rect">
            <a:avLst/>
          </a:prstGeom>
        </p:spPr>
      </p:pic>
      <p:sp>
        <p:nvSpPr>
          <p:cNvPr id="6" name="Text 2"/>
          <p:cNvSpPr/>
          <p:nvPr/>
        </p:nvSpPr>
        <p:spPr>
          <a:xfrm>
            <a:off x="692944" y="930473"/>
            <a:ext cx="1394817" cy="167878"/>
          </a:xfrm>
          <a:prstGeom prst="rect">
            <a:avLst/>
          </a:prstGeom>
          <a:noFill/>
          <a:ln/>
        </p:spPr>
        <p:txBody>
          <a:bodyPr wrap="none" lIns="0" tIns="0" rIns="0" bIns="0" rtlCol="0" anchor="t">
            <a:spAutoFit/>
          </a:bodyPr>
          <a:lstStyle/>
          <a:p>
            <a:pPr marL="0" indent="0" algn="l">
              <a:lnSpc>
                <a:spcPts val="1400"/>
              </a:lnSpc>
              <a:buNone/>
            </a:pPr>
            <a:r>
              <a:rPr lang="en-US" sz="987" b="1" kern="0" spc="1" dirty="0">
                <a:solidFill>
                  <a:srgbClr val="0066CC"/>
                </a:solidFill>
                <a:latin typeface="Roboto" pitchFamily="34" charset="0"/>
                <a:ea typeface="Roboto" pitchFamily="34" charset="-122"/>
                <a:cs typeface="Roboto" pitchFamily="34" charset="-120"/>
              </a:rPr>
              <a:t>LIVROS E MANUAIS</a:t>
            </a:r>
            <a:endParaRPr lang="en-US" sz="987" dirty="0"/>
          </a:p>
        </p:txBody>
      </p:sp>
      <p:sp>
        <p:nvSpPr>
          <p:cNvPr id="7" name="Text 3"/>
          <p:cNvSpPr/>
          <p:nvPr/>
        </p:nvSpPr>
        <p:spPr>
          <a:xfrm>
            <a:off x="428625" y="1243013"/>
            <a:ext cx="4000500" cy="342900"/>
          </a:xfrm>
          <a:prstGeom prst="rect">
            <a:avLst/>
          </a:prstGeom>
          <a:noFill/>
          <a:ln/>
        </p:spPr>
        <p:txBody>
          <a:bodyPr wrap="square" lIns="170053" tIns="0" rIns="0" bIns="0" rtlCol="0" anchor="t">
            <a:spAutoFit/>
          </a:bodyPr>
          <a:lstStyle/>
          <a:p>
            <a:pPr marL="0" indent="0" algn="l">
              <a:lnSpc>
                <a:spcPts val="1400"/>
              </a:lnSpc>
              <a:buNone/>
            </a:pPr>
            <a:r>
              <a:rPr lang="en-US" sz="734" b="1" dirty="0">
                <a:solidFill>
                  <a:srgbClr val="2C3E50"/>
                </a:solidFill>
                <a:latin typeface="Roboto" pitchFamily="34" charset="0"/>
                <a:ea typeface="Roboto" pitchFamily="34" charset="-122"/>
                <a:cs typeface="Roboto" pitchFamily="34" charset="-120"/>
              </a:rPr>
              <a:t>SIEMENS AG.</a:t>
            </a:r>
            <a:r>
              <a:rPr lang="en-US" sz="780" dirty="0">
                <a:solidFill>
                  <a:srgbClr val="34495E"/>
                </a:solidFill>
                <a:latin typeface="Roboto" pitchFamily="34" charset="0"/>
                <a:ea typeface="Roboto" pitchFamily="34" charset="-122"/>
                <a:cs typeface="Roboto" pitchFamily="34" charset="-120"/>
              </a:rPr>
              <a:t> SIMATIC S7-1200 Automation System: System Manual. Nuremberg, 2022.</a:t>
            </a:r>
            <a:endParaRPr lang="en-US" sz="734" dirty="0"/>
          </a:p>
        </p:txBody>
      </p:sp>
      <p:sp>
        <p:nvSpPr>
          <p:cNvPr id="8" name="Text 4"/>
          <p:cNvSpPr/>
          <p:nvPr/>
        </p:nvSpPr>
        <p:spPr>
          <a:xfrm>
            <a:off x="428625" y="1693069"/>
            <a:ext cx="4000500" cy="342900"/>
          </a:xfrm>
          <a:prstGeom prst="rect">
            <a:avLst/>
          </a:prstGeom>
          <a:noFill/>
          <a:ln/>
        </p:spPr>
        <p:txBody>
          <a:bodyPr wrap="square" lIns="170053" tIns="0" rIns="0" bIns="0" rtlCol="0" anchor="t">
            <a:spAutoFit/>
          </a:bodyPr>
          <a:lstStyle/>
          <a:p>
            <a:pPr marL="0" indent="0" algn="l">
              <a:lnSpc>
                <a:spcPts val="1400"/>
              </a:lnSpc>
              <a:buNone/>
            </a:pPr>
            <a:r>
              <a:rPr lang="en-US" sz="734" b="1" dirty="0">
                <a:solidFill>
                  <a:srgbClr val="2C3E50"/>
                </a:solidFill>
                <a:latin typeface="Roboto" pitchFamily="34" charset="0"/>
                <a:ea typeface="Roboto" pitchFamily="34" charset="-122"/>
                <a:cs typeface="Roboto" pitchFamily="34" charset="-120"/>
              </a:rPr>
              <a:t>FRANCHI, Claiton M.</a:t>
            </a:r>
            <a:r>
              <a:rPr lang="en-US" sz="780" dirty="0">
                <a:solidFill>
                  <a:srgbClr val="34495E"/>
                </a:solidFill>
                <a:latin typeface="Roboto" pitchFamily="34" charset="0"/>
                <a:ea typeface="Roboto" pitchFamily="34" charset="-122"/>
                <a:cs typeface="Roboto" pitchFamily="34" charset="-120"/>
              </a:rPr>
              <a:t> Controladores Lógicos Programáveis: Sistemas de Automação. São Paulo: Érica, 2018.</a:t>
            </a:r>
            <a:endParaRPr lang="en-US" sz="734" dirty="0"/>
          </a:p>
        </p:txBody>
      </p:sp>
      <p:sp>
        <p:nvSpPr>
          <p:cNvPr id="9" name="Text 5"/>
          <p:cNvSpPr/>
          <p:nvPr/>
        </p:nvSpPr>
        <p:spPr>
          <a:xfrm>
            <a:off x="428625" y="2143125"/>
            <a:ext cx="4000500" cy="342900"/>
          </a:xfrm>
          <a:prstGeom prst="rect">
            <a:avLst/>
          </a:prstGeom>
          <a:noFill/>
          <a:ln/>
        </p:spPr>
        <p:txBody>
          <a:bodyPr wrap="square" lIns="170053" tIns="0" rIns="0" bIns="0" rtlCol="0" anchor="t">
            <a:spAutoFit/>
          </a:bodyPr>
          <a:lstStyle/>
          <a:p>
            <a:pPr marL="0" indent="0" algn="l">
              <a:lnSpc>
                <a:spcPts val="1400"/>
              </a:lnSpc>
              <a:buNone/>
            </a:pPr>
            <a:r>
              <a:rPr lang="en-US" sz="734" b="1" dirty="0">
                <a:solidFill>
                  <a:srgbClr val="2C3E50"/>
                </a:solidFill>
                <a:latin typeface="Roboto" pitchFamily="34" charset="0"/>
                <a:ea typeface="Roboto" pitchFamily="34" charset="-122"/>
                <a:cs typeface="Roboto" pitchFamily="34" charset="-120"/>
              </a:rPr>
              <a:t>MORAES, Cícero C.; CASTRUCCI, Plínio L.</a:t>
            </a:r>
            <a:r>
              <a:rPr lang="en-US" sz="780" dirty="0">
                <a:solidFill>
                  <a:srgbClr val="34495E"/>
                </a:solidFill>
                <a:latin typeface="Roboto" pitchFamily="34" charset="0"/>
                <a:ea typeface="Roboto" pitchFamily="34" charset="-122"/>
                <a:cs typeface="Roboto" pitchFamily="34" charset="-120"/>
              </a:rPr>
              <a:t> Engenharia de Automação Industrial. Rio de Janeiro: LTC, 2007.</a:t>
            </a:r>
            <a:endParaRPr lang="en-US" sz="734" dirty="0"/>
          </a:p>
        </p:txBody>
      </p:sp>
      <p:sp>
        <p:nvSpPr>
          <p:cNvPr id="10" name="Text 6"/>
          <p:cNvSpPr/>
          <p:nvPr/>
        </p:nvSpPr>
        <p:spPr>
          <a:xfrm>
            <a:off x="428625" y="1243013"/>
            <a:ext cx="39291" cy="171450"/>
          </a:xfrm>
          <a:prstGeom prst="rect">
            <a:avLst/>
          </a:prstGeom>
          <a:noFill/>
          <a:ln/>
        </p:spPr>
        <p:txBody>
          <a:bodyPr wrap="none" lIns="0" tIns="0" rIns="0" bIns="0" rtlCol="0" anchor="t">
            <a:spAutoFit/>
          </a:bodyPr>
          <a:lstStyle/>
          <a:p>
            <a:pPr marL="0" indent="0" algn="l">
              <a:lnSpc>
                <a:spcPts val="1400"/>
              </a:lnSpc>
              <a:buNone/>
            </a:pPr>
            <a:r>
              <a:rPr lang="en-US" sz="734" b="1" dirty="0">
                <a:solidFill>
                  <a:srgbClr val="0066CC"/>
                </a:solidFill>
                <a:latin typeface="Roboto" pitchFamily="34" charset="0"/>
                <a:ea typeface="Roboto" pitchFamily="34" charset="-122"/>
                <a:cs typeface="Roboto" pitchFamily="34" charset="-120"/>
              </a:rPr>
              <a:t>•</a:t>
            </a:r>
            <a:endParaRPr lang="en-US" sz="734" dirty="0"/>
          </a:p>
        </p:txBody>
      </p:sp>
      <p:sp>
        <p:nvSpPr>
          <p:cNvPr id="11" name="Text 7"/>
          <p:cNvSpPr/>
          <p:nvPr/>
        </p:nvSpPr>
        <p:spPr>
          <a:xfrm>
            <a:off x="428625" y="1693069"/>
            <a:ext cx="39291" cy="171450"/>
          </a:xfrm>
          <a:prstGeom prst="rect">
            <a:avLst/>
          </a:prstGeom>
          <a:noFill/>
          <a:ln/>
        </p:spPr>
        <p:txBody>
          <a:bodyPr wrap="none" lIns="0" tIns="0" rIns="0" bIns="0" rtlCol="0" anchor="t">
            <a:spAutoFit/>
          </a:bodyPr>
          <a:lstStyle/>
          <a:p>
            <a:pPr marL="0" indent="0" algn="l">
              <a:lnSpc>
                <a:spcPts val="1400"/>
              </a:lnSpc>
              <a:buNone/>
            </a:pPr>
            <a:r>
              <a:rPr lang="en-US" sz="734" b="1" dirty="0">
                <a:solidFill>
                  <a:srgbClr val="0066CC"/>
                </a:solidFill>
                <a:latin typeface="Roboto" pitchFamily="34" charset="0"/>
                <a:ea typeface="Roboto" pitchFamily="34" charset="-122"/>
                <a:cs typeface="Roboto" pitchFamily="34" charset="-120"/>
              </a:rPr>
              <a:t>•</a:t>
            </a:r>
            <a:endParaRPr lang="en-US" sz="734" dirty="0"/>
          </a:p>
        </p:txBody>
      </p:sp>
      <p:sp>
        <p:nvSpPr>
          <p:cNvPr id="12" name="Text 8"/>
          <p:cNvSpPr/>
          <p:nvPr/>
        </p:nvSpPr>
        <p:spPr>
          <a:xfrm>
            <a:off x="428625" y="2143125"/>
            <a:ext cx="39291" cy="171450"/>
          </a:xfrm>
          <a:prstGeom prst="rect">
            <a:avLst/>
          </a:prstGeom>
          <a:noFill/>
          <a:ln/>
        </p:spPr>
        <p:txBody>
          <a:bodyPr wrap="none" lIns="0" tIns="0" rIns="0" bIns="0" rtlCol="0" anchor="t">
            <a:spAutoFit/>
          </a:bodyPr>
          <a:lstStyle/>
          <a:p>
            <a:pPr marL="0" indent="0" algn="l">
              <a:lnSpc>
                <a:spcPts val="1400"/>
              </a:lnSpc>
              <a:buNone/>
            </a:pPr>
            <a:r>
              <a:rPr lang="en-US" sz="734" b="1" dirty="0">
                <a:solidFill>
                  <a:srgbClr val="0066CC"/>
                </a:solidFill>
                <a:latin typeface="Roboto" pitchFamily="34" charset="0"/>
                <a:ea typeface="Roboto" pitchFamily="34" charset="-122"/>
                <a:cs typeface="Roboto" pitchFamily="34" charset="-120"/>
              </a:rPr>
              <a:t>•</a:t>
            </a:r>
            <a:endParaRPr lang="en-US" sz="734" dirty="0"/>
          </a:p>
        </p:txBody>
      </p:sp>
      <p:pic>
        <p:nvPicPr>
          <p:cNvPr id="13" name="Image 2" descr="preencoded.png"/>
          <p:cNvPicPr>
            <a:picLocks noChangeAspect="1"/>
          </p:cNvPicPr>
          <p:nvPr/>
        </p:nvPicPr>
        <p:blipFill>
          <a:blip r:embed="rId5"/>
          <a:stretch>
            <a:fillRect/>
          </a:stretch>
        </p:blipFill>
        <p:spPr>
          <a:xfrm>
            <a:off x="4714875" y="928688"/>
            <a:ext cx="135731" cy="171450"/>
          </a:xfrm>
          <a:prstGeom prst="rect">
            <a:avLst/>
          </a:prstGeom>
        </p:spPr>
      </p:pic>
      <p:sp>
        <p:nvSpPr>
          <p:cNvPr id="14" name="Text 9"/>
          <p:cNvSpPr/>
          <p:nvPr/>
        </p:nvSpPr>
        <p:spPr>
          <a:xfrm>
            <a:off x="4957763" y="930473"/>
            <a:ext cx="1798439" cy="167878"/>
          </a:xfrm>
          <a:prstGeom prst="rect">
            <a:avLst/>
          </a:prstGeom>
          <a:noFill/>
          <a:ln/>
        </p:spPr>
        <p:txBody>
          <a:bodyPr wrap="none" lIns="0" tIns="0" rIns="0" bIns="0" rtlCol="0" anchor="t">
            <a:spAutoFit/>
          </a:bodyPr>
          <a:lstStyle/>
          <a:p>
            <a:pPr marL="0" indent="0" algn="l">
              <a:lnSpc>
                <a:spcPts val="1400"/>
              </a:lnSpc>
              <a:buNone/>
            </a:pPr>
            <a:r>
              <a:rPr lang="en-US" sz="987" b="1" kern="0" spc="1" dirty="0">
                <a:solidFill>
                  <a:srgbClr val="0066CC"/>
                </a:solidFill>
                <a:latin typeface="Roboto" pitchFamily="34" charset="0"/>
                <a:ea typeface="Roboto" pitchFamily="34" charset="-122"/>
                <a:cs typeface="Roboto" pitchFamily="34" charset="-120"/>
              </a:rPr>
              <a:t>NORMAS E PROTOCOLOS</a:t>
            </a:r>
            <a:endParaRPr lang="en-US" sz="987" dirty="0"/>
          </a:p>
        </p:txBody>
      </p:sp>
      <p:sp>
        <p:nvSpPr>
          <p:cNvPr id="15" name="Text 10"/>
          <p:cNvSpPr/>
          <p:nvPr/>
        </p:nvSpPr>
        <p:spPr>
          <a:xfrm>
            <a:off x="4714875" y="1243013"/>
            <a:ext cx="4000500" cy="342900"/>
          </a:xfrm>
          <a:prstGeom prst="rect">
            <a:avLst/>
          </a:prstGeom>
          <a:noFill/>
          <a:ln/>
        </p:spPr>
        <p:txBody>
          <a:bodyPr wrap="square" lIns="170053" tIns="0" rIns="0" bIns="0" rtlCol="0" anchor="t">
            <a:spAutoFit/>
          </a:bodyPr>
          <a:lstStyle/>
          <a:p>
            <a:pPr marL="0" indent="0" algn="l">
              <a:lnSpc>
                <a:spcPts val="1400"/>
              </a:lnSpc>
              <a:buNone/>
            </a:pPr>
            <a:r>
              <a:rPr lang="en-US" sz="734" b="1" dirty="0">
                <a:solidFill>
                  <a:srgbClr val="2C3E50"/>
                </a:solidFill>
                <a:latin typeface="Roboto" pitchFamily="34" charset="0"/>
                <a:ea typeface="Roboto" pitchFamily="34" charset="-122"/>
                <a:cs typeface="Roboto" pitchFamily="34" charset="-120"/>
              </a:rPr>
              <a:t>ISA 5.1.</a:t>
            </a:r>
            <a:r>
              <a:rPr lang="en-US" sz="780" dirty="0">
                <a:solidFill>
                  <a:srgbClr val="34495E"/>
                </a:solidFill>
                <a:latin typeface="Roboto" pitchFamily="34" charset="0"/>
                <a:ea typeface="Roboto" pitchFamily="34" charset="-122"/>
                <a:cs typeface="Roboto" pitchFamily="34" charset="-120"/>
              </a:rPr>
              <a:t> Instrumentation Symbols and Identification. International Society of Automation.</a:t>
            </a:r>
            <a:endParaRPr lang="en-US" sz="734" dirty="0"/>
          </a:p>
        </p:txBody>
      </p:sp>
      <p:sp>
        <p:nvSpPr>
          <p:cNvPr id="16" name="Text 11"/>
          <p:cNvSpPr/>
          <p:nvPr/>
        </p:nvSpPr>
        <p:spPr>
          <a:xfrm>
            <a:off x="4714875" y="1693069"/>
            <a:ext cx="4000500" cy="342900"/>
          </a:xfrm>
          <a:prstGeom prst="rect">
            <a:avLst/>
          </a:prstGeom>
          <a:noFill/>
          <a:ln/>
        </p:spPr>
        <p:txBody>
          <a:bodyPr wrap="square" lIns="170053" tIns="0" rIns="0" bIns="0" rtlCol="0" anchor="t">
            <a:spAutoFit/>
          </a:bodyPr>
          <a:lstStyle/>
          <a:p>
            <a:pPr marL="0" indent="0" algn="l">
              <a:lnSpc>
                <a:spcPts val="1400"/>
              </a:lnSpc>
              <a:buNone/>
            </a:pPr>
            <a:r>
              <a:rPr lang="en-US" sz="734" b="1" dirty="0">
                <a:solidFill>
                  <a:srgbClr val="2C3E50"/>
                </a:solidFill>
                <a:latin typeface="Roboto" pitchFamily="34" charset="0"/>
                <a:ea typeface="Roboto" pitchFamily="34" charset="-122"/>
                <a:cs typeface="Roboto" pitchFamily="34" charset="-120"/>
              </a:rPr>
              <a:t>PROFINET International (PI).</a:t>
            </a:r>
            <a:r>
              <a:rPr lang="en-US" sz="780" dirty="0">
                <a:solidFill>
                  <a:srgbClr val="34495E"/>
                </a:solidFill>
                <a:latin typeface="Roboto" pitchFamily="34" charset="0"/>
                <a:ea typeface="Roboto" pitchFamily="34" charset="-122"/>
                <a:cs typeface="Roboto" pitchFamily="34" charset="-120"/>
              </a:rPr>
              <a:t> PROFINET Technology and Application: System Description.</a:t>
            </a:r>
            <a:endParaRPr lang="en-US" sz="734" dirty="0"/>
          </a:p>
        </p:txBody>
      </p:sp>
      <p:sp>
        <p:nvSpPr>
          <p:cNvPr id="17" name="Text 12"/>
          <p:cNvSpPr/>
          <p:nvPr/>
        </p:nvSpPr>
        <p:spPr>
          <a:xfrm>
            <a:off x="4714875" y="2143125"/>
            <a:ext cx="4000500" cy="171450"/>
          </a:xfrm>
          <a:prstGeom prst="rect">
            <a:avLst/>
          </a:prstGeom>
          <a:noFill/>
          <a:ln/>
        </p:spPr>
        <p:txBody>
          <a:bodyPr wrap="none" lIns="170053" tIns="0" rIns="0" bIns="0" rtlCol="0" anchor="t">
            <a:spAutoFit/>
          </a:bodyPr>
          <a:lstStyle/>
          <a:p>
            <a:pPr marL="0" indent="0" algn="l">
              <a:lnSpc>
                <a:spcPts val="1400"/>
              </a:lnSpc>
              <a:buNone/>
            </a:pPr>
            <a:r>
              <a:rPr lang="en-US" sz="734" b="1" dirty="0">
                <a:solidFill>
                  <a:srgbClr val="2C3E50"/>
                </a:solidFill>
                <a:latin typeface="Roboto" pitchFamily="34" charset="0"/>
                <a:ea typeface="Roboto" pitchFamily="34" charset="-122"/>
                <a:cs typeface="Roboto" pitchFamily="34" charset="-120"/>
              </a:rPr>
              <a:t>IEC 61131-3.</a:t>
            </a:r>
            <a:r>
              <a:rPr lang="en-US" sz="780" dirty="0">
                <a:solidFill>
                  <a:srgbClr val="34495E"/>
                </a:solidFill>
                <a:latin typeface="Roboto" pitchFamily="34" charset="0"/>
                <a:ea typeface="Roboto" pitchFamily="34" charset="-122"/>
                <a:cs typeface="Roboto" pitchFamily="34" charset="-120"/>
              </a:rPr>
              <a:t> Programmable Controllers - Part 3: Programming Languages.</a:t>
            </a:r>
            <a:endParaRPr lang="en-US" sz="734" dirty="0"/>
          </a:p>
        </p:txBody>
      </p:sp>
      <p:sp>
        <p:nvSpPr>
          <p:cNvPr id="18" name="Shape 13"/>
          <p:cNvSpPr/>
          <p:nvPr/>
        </p:nvSpPr>
        <p:spPr>
          <a:xfrm>
            <a:off x="428625" y="4611291"/>
            <a:ext cx="8286750" cy="246459"/>
          </a:xfrm>
          <a:prstGeom prst="rect">
            <a:avLst/>
          </a:prstGeom>
          <a:solidFill>
            <a:srgbClr val="F8F9FA"/>
          </a:solidFill>
          <a:ln/>
        </p:spPr>
        <p:txBody>
          <a:bodyPr/>
          <a:lstStyle/>
          <a:p>
            <a:endParaRPr lang="pt-BR"/>
          </a:p>
        </p:txBody>
      </p:sp>
      <p:sp>
        <p:nvSpPr>
          <p:cNvPr id="19" name="Shape 14"/>
          <p:cNvSpPr/>
          <p:nvPr/>
        </p:nvSpPr>
        <p:spPr>
          <a:xfrm>
            <a:off x="428625" y="4611291"/>
            <a:ext cx="8286750" cy="21431"/>
          </a:xfrm>
          <a:prstGeom prst="rect">
            <a:avLst/>
          </a:prstGeom>
          <a:solidFill>
            <a:srgbClr val="FF6600"/>
          </a:solidFill>
          <a:ln/>
        </p:spPr>
        <p:txBody>
          <a:bodyPr/>
          <a:lstStyle/>
          <a:p>
            <a:endParaRPr lang="pt-BR"/>
          </a:p>
        </p:txBody>
      </p:sp>
      <p:sp>
        <p:nvSpPr>
          <p:cNvPr id="20" name="Text 15"/>
          <p:cNvSpPr/>
          <p:nvPr/>
        </p:nvSpPr>
        <p:spPr>
          <a:xfrm>
            <a:off x="428625" y="4611291"/>
            <a:ext cx="8286750" cy="246459"/>
          </a:xfrm>
          <a:prstGeom prst="rect">
            <a:avLst/>
          </a:prstGeom>
          <a:noFill/>
          <a:ln/>
        </p:spPr>
        <p:txBody>
          <a:bodyPr wrap="square" lIns="170053" tIns="127508" rIns="170053" bIns="0" rtlCol="0" anchor="t">
            <a:spAutoFit/>
          </a:bodyPr>
          <a:lstStyle/>
          <a:p>
            <a:pPr marL="0" indent="0" algn="ctr">
              <a:lnSpc>
                <a:spcPts val="900"/>
              </a:lnSpc>
              <a:buNone/>
            </a:pPr>
            <a:r>
              <a:rPr lang="en-US" sz="727" i="1" dirty="0">
                <a:solidFill>
                  <a:srgbClr val="2C3E50"/>
                </a:solidFill>
                <a:latin typeface="Roboto" pitchFamily="34" charset="0"/>
                <a:ea typeface="Roboto" pitchFamily="34" charset="-122"/>
                <a:cs typeface="Roboto" pitchFamily="34" charset="-120"/>
              </a:rPr>
              <a:t>"A integração de sistemas é a base para a eficiência na indústria moderna."</a:t>
            </a:r>
            <a:endParaRPr lang="en-US" sz="727" dirty="0"/>
          </a:p>
        </p:txBody>
      </p:sp>
      <p:sp>
        <p:nvSpPr>
          <p:cNvPr id="21" name="Text 16"/>
          <p:cNvSpPr/>
          <p:nvPr/>
        </p:nvSpPr>
        <p:spPr>
          <a:xfrm>
            <a:off x="4714875" y="1243013"/>
            <a:ext cx="39291" cy="171450"/>
          </a:xfrm>
          <a:prstGeom prst="rect">
            <a:avLst/>
          </a:prstGeom>
          <a:noFill/>
          <a:ln/>
        </p:spPr>
        <p:txBody>
          <a:bodyPr wrap="none" lIns="0" tIns="0" rIns="0" bIns="0" rtlCol="0" anchor="t">
            <a:spAutoFit/>
          </a:bodyPr>
          <a:lstStyle/>
          <a:p>
            <a:pPr marL="0" indent="0" algn="l">
              <a:lnSpc>
                <a:spcPts val="1400"/>
              </a:lnSpc>
              <a:buNone/>
            </a:pPr>
            <a:r>
              <a:rPr lang="en-US" sz="734" b="1" dirty="0">
                <a:solidFill>
                  <a:srgbClr val="0066CC"/>
                </a:solidFill>
                <a:latin typeface="Roboto" pitchFamily="34" charset="0"/>
                <a:ea typeface="Roboto" pitchFamily="34" charset="-122"/>
                <a:cs typeface="Roboto" pitchFamily="34" charset="-120"/>
              </a:rPr>
              <a:t>•</a:t>
            </a:r>
            <a:endParaRPr lang="en-US" sz="734" dirty="0"/>
          </a:p>
        </p:txBody>
      </p:sp>
      <p:sp>
        <p:nvSpPr>
          <p:cNvPr id="22" name="Text 17"/>
          <p:cNvSpPr/>
          <p:nvPr/>
        </p:nvSpPr>
        <p:spPr>
          <a:xfrm>
            <a:off x="4714875" y="1693069"/>
            <a:ext cx="39291" cy="171450"/>
          </a:xfrm>
          <a:prstGeom prst="rect">
            <a:avLst/>
          </a:prstGeom>
          <a:noFill/>
          <a:ln/>
        </p:spPr>
        <p:txBody>
          <a:bodyPr wrap="none" lIns="0" tIns="0" rIns="0" bIns="0" rtlCol="0" anchor="t">
            <a:spAutoFit/>
          </a:bodyPr>
          <a:lstStyle/>
          <a:p>
            <a:pPr marL="0" indent="0" algn="l">
              <a:lnSpc>
                <a:spcPts val="1400"/>
              </a:lnSpc>
              <a:buNone/>
            </a:pPr>
            <a:r>
              <a:rPr lang="en-US" sz="734" b="1" dirty="0">
                <a:solidFill>
                  <a:srgbClr val="0066CC"/>
                </a:solidFill>
                <a:latin typeface="Roboto" pitchFamily="34" charset="0"/>
                <a:ea typeface="Roboto" pitchFamily="34" charset="-122"/>
                <a:cs typeface="Roboto" pitchFamily="34" charset="-120"/>
              </a:rPr>
              <a:t>•</a:t>
            </a:r>
            <a:endParaRPr lang="en-US" sz="734" dirty="0"/>
          </a:p>
        </p:txBody>
      </p:sp>
      <p:sp>
        <p:nvSpPr>
          <p:cNvPr id="23" name="Text 18"/>
          <p:cNvSpPr/>
          <p:nvPr/>
        </p:nvSpPr>
        <p:spPr>
          <a:xfrm>
            <a:off x="4714875" y="2143125"/>
            <a:ext cx="39291" cy="171450"/>
          </a:xfrm>
          <a:prstGeom prst="rect">
            <a:avLst/>
          </a:prstGeom>
          <a:noFill/>
          <a:ln/>
        </p:spPr>
        <p:txBody>
          <a:bodyPr wrap="none" lIns="0" tIns="0" rIns="0" bIns="0" rtlCol="0" anchor="t">
            <a:spAutoFit/>
          </a:bodyPr>
          <a:lstStyle/>
          <a:p>
            <a:pPr marL="0" indent="0" algn="l">
              <a:lnSpc>
                <a:spcPts val="1400"/>
              </a:lnSpc>
              <a:buNone/>
            </a:pPr>
            <a:r>
              <a:rPr lang="en-US" sz="734" b="1" dirty="0">
                <a:solidFill>
                  <a:srgbClr val="0066CC"/>
                </a:solidFill>
                <a:latin typeface="Roboto" pitchFamily="34" charset="0"/>
                <a:ea typeface="Roboto" pitchFamily="34" charset="-122"/>
                <a:cs typeface="Roboto" pitchFamily="34" charset="-120"/>
              </a:rPr>
              <a:t>•</a:t>
            </a:r>
            <a:endParaRPr lang="en-US" sz="734" dirty="0"/>
          </a:p>
        </p:txBody>
      </p:sp>
      <p:sp>
        <p:nvSpPr>
          <p:cNvPr id="24" name="Shape 17">
            <a:extLst>
              <a:ext uri="{FF2B5EF4-FFF2-40B4-BE49-F238E27FC236}">
                <a16:creationId xmlns:a16="http://schemas.microsoft.com/office/drawing/2014/main" id="{DDEFC227-3400-C6DF-9060-7F7E063644DC}"/>
              </a:ext>
            </a:extLst>
          </p:cNvPr>
          <p:cNvSpPr/>
          <p:nvPr/>
        </p:nvSpPr>
        <p:spPr>
          <a:xfrm>
            <a:off x="428625" y="2805680"/>
            <a:ext cx="5223867" cy="571500"/>
          </a:xfrm>
          <a:prstGeom prst="rect">
            <a:avLst/>
          </a:prstGeom>
          <a:solidFill>
            <a:srgbClr val="FFF5ED"/>
          </a:solidFill>
          <a:ln w="18288">
            <a:solidFill>
              <a:srgbClr val="FF6600"/>
            </a:solidFill>
            <a:prstDash val="solid"/>
          </a:ln>
        </p:spPr>
        <p:txBody>
          <a:bodyPr/>
          <a:lstStyle/>
          <a:p>
            <a:endParaRPr lang="pt-BR"/>
          </a:p>
        </p:txBody>
      </p:sp>
      <p:pic>
        <p:nvPicPr>
          <p:cNvPr id="25" name="Image 2" descr="preencoded.png">
            <a:extLst>
              <a:ext uri="{FF2B5EF4-FFF2-40B4-BE49-F238E27FC236}">
                <a16:creationId xmlns:a16="http://schemas.microsoft.com/office/drawing/2014/main" id="{038597E1-E673-41D4-7796-18545FDDFD60}"/>
              </a:ext>
            </a:extLst>
          </p:cNvPr>
          <p:cNvPicPr>
            <a:picLocks noChangeAspect="1"/>
          </p:cNvPicPr>
          <p:nvPr/>
        </p:nvPicPr>
        <p:blipFill>
          <a:blip r:embed="rId6"/>
          <a:stretch>
            <a:fillRect/>
          </a:stretch>
        </p:blipFill>
        <p:spPr>
          <a:xfrm>
            <a:off x="571500" y="3023564"/>
            <a:ext cx="285750" cy="228600"/>
          </a:xfrm>
          <a:prstGeom prst="rect">
            <a:avLst/>
          </a:prstGeom>
        </p:spPr>
      </p:pic>
      <p:sp>
        <p:nvSpPr>
          <p:cNvPr id="26" name="Text 18">
            <a:extLst>
              <a:ext uri="{FF2B5EF4-FFF2-40B4-BE49-F238E27FC236}">
                <a16:creationId xmlns:a16="http://schemas.microsoft.com/office/drawing/2014/main" id="{8089E735-A0E8-9C15-E7B3-CA8C601A7039}"/>
              </a:ext>
            </a:extLst>
          </p:cNvPr>
          <p:cNvSpPr/>
          <p:nvPr/>
        </p:nvSpPr>
        <p:spPr>
          <a:xfrm>
            <a:off x="1000125" y="3069106"/>
            <a:ext cx="3120033" cy="151805"/>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2C3E50"/>
                </a:solidFill>
                <a:latin typeface="Roboto" pitchFamily="34" charset="0"/>
                <a:ea typeface="Roboto" pitchFamily="34" charset="-122"/>
                <a:cs typeface="Roboto" pitchFamily="34" charset="-120"/>
              </a:rPr>
              <a:t>Dúvidas? Espaço aberto para perguntas e discussões.</a:t>
            </a:r>
            <a:endParaRPr lang="en-US" sz="885" dirty="0"/>
          </a:p>
        </p:txBody>
      </p:sp>
      <p:sp>
        <p:nvSpPr>
          <p:cNvPr id="27" name="Shape 21">
            <a:extLst>
              <a:ext uri="{FF2B5EF4-FFF2-40B4-BE49-F238E27FC236}">
                <a16:creationId xmlns:a16="http://schemas.microsoft.com/office/drawing/2014/main" id="{C250123C-3FE8-AFBC-1614-3492EFC4CAFC}"/>
              </a:ext>
            </a:extLst>
          </p:cNvPr>
          <p:cNvSpPr/>
          <p:nvPr/>
        </p:nvSpPr>
        <p:spPr>
          <a:xfrm>
            <a:off x="5902523" y="3859048"/>
            <a:ext cx="2812852" cy="714375"/>
          </a:xfrm>
          <a:prstGeom prst="rect">
            <a:avLst/>
          </a:prstGeom>
          <a:solidFill>
            <a:srgbClr val="0066CC"/>
          </a:solidFill>
          <a:ln/>
        </p:spPr>
        <p:txBody>
          <a:bodyPr/>
          <a:lstStyle/>
          <a:p>
            <a:endParaRPr lang="pt-BR"/>
          </a:p>
        </p:txBody>
      </p:sp>
      <p:sp>
        <p:nvSpPr>
          <p:cNvPr id="28" name="Text 22">
            <a:extLst>
              <a:ext uri="{FF2B5EF4-FFF2-40B4-BE49-F238E27FC236}">
                <a16:creationId xmlns:a16="http://schemas.microsoft.com/office/drawing/2014/main" id="{A5D6388E-ABCD-F319-0213-74E3727BADB5}"/>
              </a:ext>
            </a:extLst>
          </p:cNvPr>
          <p:cNvSpPr/>
          <p:nvPr/>
        </p:nvSpPr>
        <p:spPr>
          <a:xfrm>
            <a:off x="6638330" y="4063538"/>
            <a:ext cx="1341239" cy="151805"/>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FFFFFF"/>
                </a:solidFill>
                <a:latin typeface="Roboto" pitchFamily="34" charset="0"/>
                <a:ea typeface="Roboto" pitchFamily="34" charset="-122"/>
                <a:cs typeface="Roboto" pitchFamily="34" charset="-120"/>
              </a:rPr>
              <a:t>Obrigado pela atenção!</a:t>
            </a:r>
            <a:endParaRPr lang="en-US" sz="885" dirty="0"/>
          </a:p>
        </p:txBody>
      </p:sp>
      <p:sp>
        <p:nvSpPr>
          <p:cNvPr id="29" name="Text 23">
            <a:extLst>
              <a:ext uri="{FF2B5EF4-FFF2-40B4-BE49-F238E27FC236}">
                <a16:creationId xmlns:a16="http://schemas.microsoft.com/office/drawing/2014/main" id="{041902C4-5E12-0B65-289E-C0DF9255C492}"/>
              </a:ext>
            </a:extLst>
          </p:cNvPr>
          <p:cNvSpPr/>
          <p:nvPr/>
        </p:nvSpPr>
        <p:spPr>
          <a:xfrm>
            <a:off x="6476702" y="4272493"/>
            <a:ext cx="1664494" cy="203597"/>
          </a:xfrm>
          <a:prstGeom prst="rect">
            <a:avLst/>
          </a:prstGeom>
          <a:noFill/>
          <a:ln/>
        </p:spPr>
        <p:txBody>
          <a:bodyPr wrap="square" lIns="0" tIns="0" rIns="0" bIns="0" rtlCol="0" anchor="t">
            <a:spAutoFit/>
          </a:bodyPr>
          <a:lstStyle/>
          <a:p>
            <a:pPr marL="0" indent="0" algn="ctr">
              <a:lnSpc>
                <a:spcPts val="800"/>
              </a:lnSpc>
              <a:buNone/>
            </a:pPr>
            <a:r>
              <a:rPr lang="en-US" sz="621" dirty="0">
                <a:solidFill>
                  <a:srgbClr val="E0E0E0"/>
                </a:solidFill>
                <a:latin typeface="Roboto" pitchFamily="34" charset="0"/>
                <a:ea typeface="Roboto" pitchFamily="34" charset="-122"/>
                <a:cs typeface="Roboto" pitchFamily="34" charset="-120"/>
              </a:rPr>
              <a:t>Raphael Medeiros - Engenheiro Eletrônico
Avaliação Técnica de Produto - Firjan SENAI</a:t>
            </a:r>
            <a:endParaRPr lang="en-US" sz="621"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Shape 0">
            <a:extLst>
              <a:ext uri="{FF2B5EF4-FFF2-40B4-BE49-F238E27FC236}">
                <a16:creationId xmlns:a16="http://schemas.microsoft.com/office/drawing/2014/main" id="{67EF18EA-38DA-448B-CD02-C33B575B88D0}"/>
              </a:ext>
            </a:extLst>
          </p:cNvPr>
          <p:cNvSpPr/>
          <p:nvPr/>
        </p:nvSpPr>
        <p:spPr>
          <a:xfrm>
            <a:off x="12370" y="126945"/>
            <a:ext cx="9144000" cy="5143500"/>
          </a:xfrm>
          <a:prstGeom prst="rect">
            <a:avLst/>
          </a:prstGeom>
          <a:solidFill>
            <a:srgbClr val="778697"/>
          </a:solidFill>
          <a:ln/>
        </p:spPr>
        <p:txBody>
          <a:bodyPr/>
          <a:lstStyle/>
          <a:p>
            <a:endParaRPr lang="pt-BR" noProof="0" dirty="0"/>
          </a:p>
        </p:txBody>
      </p:sp>
      <p:sp>
        <p:nvSpPr>
          <p:cNvPr id="3" name="Shape 0"/>
          <p:cNvSpPr/>
          <p:nvPr/>
        </p:nvSpPr>
        <p:spPr>
          <a:xfrm>
            <a:off x="0" y="0"/>
            <a:ext cx="9144000" cy="642938"/>
          </a:xfrm>
          <a:prstGeom prst="rect">
            <a:avLst/>
          </a:prstGeom>
          <a:solidFill>
            <a:srgbClr val="004A99"/>
          </a:solidFill>
          <a:ln/>
        </p:spPr>
        <p:txBody>
          <a:bodyPr/>
          <a:lstStyle/>
          <a:p>
            <a:endParaRPr lang="pt-BR"/>
          </a:p>
        </p:txBody>
      </p:sp>
      <p:sp>
        <p:nvSpPr>
          <p:cNvPr id="4" name="Text 1"/>
          <p:cNvSpPr/>
          <p:nvPr/>
        </p:nvSpPr>
        <p:spPr>
          <a:xfrm>
            <a:off x="428625" y="170557"/>
            <a:ext cx="5927905" cy="291362"/>
          </a:xfrm>
          <a:prstGeom prst="rect">
            <a:avLst/>
          </a:prstGeom>
          <a:noFill/>
          <a:ln/>
        </p:spPr>
        <p:txBody>
          <a:bodyPr wrap="none" lIns="0" tIns="0" rIns="0" bIns="0" rtlCol="0" anchor="t">
            <a:spAutoFit/>
          </a:bodyPr>
          <a:lstStyle/>
          <a:p>
            <a:pPr marL="0" indent="0" algn="l">
              <a:lnSpc>
                <a:spcPts val="2400"/>
              </a:lnSpc>
              <a:buNone/>
            </a:pPr>
            <a:r>
              <a:rPr lang="en-US" sz="1808" b="1" dirty="0" err="1">
                <a:solidFill>
                  <a:srgbClr val="FFFFFF"/>
                </a:solidFill>
                <a:latin typeface="Roboto" pitchFamily="34" charset="0"/>
                <a:ea typeface="Roboto" pitchFamily="34" charset="-122"/>
                <a:cs typeface="Roboto" pitchFamily="34" charset="-120"/>
              </a:rPr>
              <a:t>Demonstração</a:t>
            </a:r>
            <a:r>
              <a:rPr lang="en-US" sz="1808" b="1" dirty="0">
                <a:solidFill>
                  <a:srgbClr val="FFFFFF"/>
                </a:solidFill>
                <a:latin typeface="Roboto" pitchFamily="34" charset="0"/>
                <a:ea typeface="Roboto" pitchFamily="34" charset="-122"/>
                <a:cs typeface="Roboto" pitchFamily="34" charset="-120"/>
              </a:rPr>
              <a:t>: </a:t>
            </a:r>
            <a:r>
              <a:rPr lang="en-US" sz="1808" b="1" dirty="0" err="1">
                <a:solidFill>
                  <a:srgbClr val="FFFFFF"/>
                </a:solidFill>
                <a:latin typeface="Roboto" pitchFamily="34" charset="0"/>
                <a:ea typeface="Roboto" pitchFamily="34" charset="-122"/>
                <a:cs typeface="Roboto" pitchFamily="34" charset="-120"/>
              </a:rPr>
              <a:t>Projeto</a:t>
            </a:r>
            <a:r>
              <a:rPr lang="en-US" sz="1808" b="1" dirty="0">
                <a:solidFill>
                  <a:srgbClr val="FFFFFF"/>
                </a:solidFill>
                <a:latin typeface="Roboto" pitchFamily="34" charset="0"/>
                <a:ea typeface="Roboto" pitchFamily="34" charset="-122"/>
                <a:cs typeface="Roboto" pitchFamily="34" charset="-120"/>
              </a:rPr>
              <a:t> </a:t>
            </a:r>
            <a:r>
              <a:rPr lang="en-US" sz="1808" b="1" dirty="0" err="1">
                <a:solidFill>
                  <a:srgbClr val="FFFFFF"/>
                </a:solidFill>
                <a:latin typeface="Roboto" pitchFamily="34" charset="0"/>
                <a:ea typeface="Roboto" pitchFamily="34" charset="-122"/>
                <a:cs typeface="Roboto" pitchFamily="34" charset="-120"/>
              </a:rPr>
              <a:t>Estação</a:t>
            </a:r>
            <a:r>
              <a:rPr lang="en-US" sz="1808" b="1" dirty="0">
                <a:solidFill>
                  <a:srgbClr val="FFFFFF"/>
                </a:solidFill>
                <a:latin typeface="Roboto" pitchFamily="34" charset="0"/>
                <a:ea typeface="Roboto" pitchFamily="34" charset="-122"/>
                <a:cs typeface="Roboto" pitchFamily="34" charset="-120"/>
              </a:rPr>
              <a:t> de </a:t>
            </a:r>
            <a:r>
              <a:rPr lang="en-US" sz="1808" b="1" dirty="0" err="1">
                <a:solidFill>
                  <a:srgbClr val="FFFFFF"/>
                </a:solidFill>
                <a:latin typeface="Roboto" pitchFamily="34" charset="0"/>
                <a:ea typeface="Roboto" pitchFamily="34" charset="-122"/>
                <a:cs typeface="Roboto" pitchFamily="34" charset="-120"/>
              </a:rPr>
              <a:t>Envase</a:t>
            </a:r>
            <a:r>
              <a:rPr lang="en-US" sz="1808" b="1" dirty="0">
                <a:solidFill>
                  <a:srgbClr val="FFFFFF"/>
                </a:solidFill>
                <a:latin typeface="Roboto" pitchFamily="34" charset="0"/>
                <a:ea typeface="Roboto" pitchFamily="34" charset="-122"/>
                <a:cs typeface="Roboto" pitchFamily="34" charset="-120"/>
              </a:rPr>
              <a:t> </a:t>
            </a:r>
            <a:r>
              <a:rPr lang="en-US" sz="1808" b="1" dirty="0" err="1">
                <a:solidFill>
                  <a:srgbClr val="FFFFFF"/>
                </a:solidFill>
                <a:latin typeface="Roboto" pitchFamily="34" charset="0"/>
                <a:ea typeface="Roboto" pitchFamily="34" charset="-122"/>
                <a:cs typeface="Roboto" pitchFamily="34" charset="-120"/>
              </a:rPr>
              <a:t>Automatizada</a:t>
            </a:r>
            <a:r>
              <a:rPr lang="en-US" sz="1808" b="1" dirty="0">
                <a:solidFill>
                  <a:srgbClr val="FFFFFF"/>
                </a:solidFill>
                <a:latin typeface="Roboto" pitchFamily="34" charset="0"/>
                <a:ea typeface="Roboto" pitchFamily="34" charset="-122"/>
                <a:cs typeface="Roboto" pitchFamily="34" charset="-120"/>
              </a:rPr>
              <a:t> </a:t>
            </a:r>
            <a:endParaRPr lang="en-US" sz="1808" dirty="0"/>
          </a:p>
        </p:txBody>
      </p:sp>
      <p:pic>
        <p:nvPicPr>
          <p:cNvPr id="31" name="Imagem 30">
            <a:extLst>
              <a:ext uri="{FF2B5EF4-FFF2-40B4-BE49-F238E27FC236}">
                <a16:creationId xmlns:a16="http://schemas.microsoft.com/office/drawing/2014/main" id="{031621D1-8C09-9E4A-B2C9-5A2A85EA1519}"/>
              </a:ext>
            </a:extLst>
          </p:cNvPr>
          <p:cNvPicPr>
            <a:picLocks noChangeAspect="1"/>
          </p:cNvPicPr>
          <p:nvPr/>
        </p:nvPicPr>
        <p:blipFill rotWithShape="1">
          <a:blip r:embed="rId3"/>
          <a:srcRect r="563" b="1389"/>
          <a:stretch/>
        </p:blipFill>
        <p:spPr>
          <a:xfrm>
            <a:off x="2044492" y="902411"/>
            <a:ext cx="5026572" cy="3717208"/>
          </a:xfrm>
          <a:prstGeom prst="rect">
            <a:avLst/>
          </a:prstGeom>
        </p:spPr>
      </p:pic>
      <p:pic>
        <p:nvPicPr>
          <p:cNvPr id="38" name="Picture 1" descr="LOGO_SENAI_BRANCO.png">
            <a:extLst>
              <a:ext uri="{FF2B5EF4-FFF2-40B4-BE49-F238E27FC236}">
                <a16:creationId xmlns:a16="http://schemas.microsoft.com/office/drawing/2014/main" id="{9F101098-C62F-A899-DAAE-3749440FA3A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699664" y="4483844"/>
            <a:ext cx="1227601" cy="532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D822B-BE0E-8DFF-54A4-FE3371582F73}"/>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B782B585-E48B-5B84-D9A6-FBDCECC06E11}"/>
              </a:ext>
            </a:extLst>
          </p:cNvPr>
          <p:cNvSpPr/>
          <p:nvPr/>
        </p:nvSpPr>
        <p:spPr>
          <a:xfrm>
            <a:off x="0" y="0"/>
            <a:ext cx="9144000" cy="5143500"/>
          </a:xfrm>
          <a:prstGeom prst="rect">
            <a:avLst/>
          </a:prstGeom>
          <a:solidFill>
            <a:srgbClr val="004A99"/>
          </a:solidFill>
          <a:ln/>
        </p:spPr>
        <p:txBody>
          <a:bodyPr/>
          <a:lstStyle/>
          <a:p>
            <a:endParaRPr lang="pt-BR" noProof="0" dirty="0"/>
          </a:p>
        </p:txBody>
      </p:sp>
      <p:pic>
        <p:nvPicPr>
          <p:cNvPr id="52" name="Picture 1" descr="LOGO_SENAI_BRANCO.png">
            <a:extLst>
              <a:ext uri="{FF2B5EF4-FFF2-40B4-BE49-F238E27FC236}">
                <a16:creationId xmlns:a16="http://schemas.microsoft.com/office/drawing/2014/main" id="{034EDD64-02DF-CC25-A90B-C3A79DEC03A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24287" y="1986917"/>
            <a:ext cx="2695426" cy="1169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62198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3106</TotalTime>
  <Words>2145</Words>
  <Application>Microsoft Office PowerPoint</Application>
  <PresentationFormat>Apresentação na tela (16:9)</PresentationFormat>
  <Paragraphs>278</Paragraphs>
  <Slides>38</Slides>
  <Notes>30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38</vt:i4>
      </vt:variant>
    </vt:vector>
  </HeadingPairs>
  <TitlesOfParts>
    <vt:vector size="45" baseType="lpstr">
      <vt:lpstr>Agency FB</vt:lpstr>
      <vt:lpstr>Arial</vt:lpstr>
      <vt:lpstr>Calibri Light</vt:lpstr>
      <vt:lpstr>MetaPlusLF-Regular</vt:lpstr>
      <vt:lpstr>Roboto</vt:lpstr>
      <vt:lpstr>Trebuchet MS</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RAPHAEL SANTOS MEDEIROS</cp:lastModifiedBy>
  <cp:revision>16</cp:revision>
  <dcterms:created xsi:type="dcterms:W3CDTF">2026-03-24T17:12:33Z</dcterms:created>
  <dcterms:modified xsi:type="dcterms:W3CDTF">2026-09-30T12:50:49Z</dcterms:modified>
</cp:coreProperties>
</file>